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0" d="100"/>
          <a:sy n="150"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0707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3159" y="514350"/>
            <a:ext cx="6000750" cy="2228851"/>
          </a:xfrm>
        </p:spPr>
        <p:txBody>
          <a:bodyPr anchor="b">
            <a:normAutofit/>
          </a:bodyPr>
          <a:lstStyle>
            <a:lvl1pPr algn="l">
              <a:defRPr sz="3600">
                <a:effectLst/>
              </a:defRPr>
            </a:lvl1pPr>
          </a:lstStyle>
          <a:p>
            <a:r>
              <a:rPr lang="en-US"/>
              <a:t>Click to edit Master title style</a:t>
            </a:r>
            <a:endParaRPr lang="en-US" dirty="0"/>
          </a:p>
        </p:txBody>
      </p:sp>
      <p:sp>
        <p:nvSpPr>
          <p:cNvPr id="3" name="Subtitle 2"/>
          <p:cNvSpPr>
            <a:spLocks noGrp="1"/>
          </p:cNvSpPr>
          <p:nvPr>
            <p:ph type="subTitle" idx="1"/>
          </p:nvPr>
        </p:nvSpPr>
        <p:spPr>
          <a:xfrm>
            <a:off x="513159" y="2882900"/>
            <a:ext cx="4800600" cy="1460500"/>
          </a:xfrm>
        </p:spPr>
        <p:txBody>
          <a:bodyPr anchor="t">
            <a:normAutofit/>
          </a:bodyPr>
          <a:lstStyle>
            <a:lvl1pPr marL="0" indent="0" algn="l">
              <a:buNone/>
              <a:defRPr sz="1575">
                <a:solidFill>
                  <a:schemeClr val="bg2">
                    <a:lumMod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6171009" y="6350"/>
            <a:ext cx="2857500" cy="28575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4581128" y="68659"/>
            <a:ext cx="4560491" cy="456049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5426869" y="171450"/>
            <a:ext cx="3714750" cy="371475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5501878" y="24209"/>
            <a:ext cx="3639742" cy="3639742"/>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5884070" y="457201"/>
            <a:ext cx="3257549" cy="325754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1968420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209638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3159" y="1504950"/>
            <a:ext cx="6400801" cy="1711200"/>
          </a:xfrm>
        </p:spPr>
        <p:txBody>
          <a:bodyPr anchor="b">
            <a:normAutofit/>
          </a:bodyPr>
          <a:lstStyle>
            <a:lvl1pPr algn="l">
              <a:defRPr sz="2700" b="0" cap="all"/>
            </a:lvl1pPr>
          </a:lstStyle>
          <a:p>
            <a:r>
              <a:rPr lang="en-US"/>
              <a:t>Click to edit Master title style</a:t>
            </a:r>
            <a:endParaRPr lang="en-US" dirty="0"/>
          </a:p>
        </p:txBody>
      </p:sp>
      <p:sp>
        <p:nvSpPr>
          <p:cNvPr id="3" name="Text Placeholder 2"/>
          <p:cNvSpPr>
            <a:spLocks noGrp="1"/>
          </p:cNvSpPr>
          <p:nvPr>
            <p:ph type="body" idx="1"/>
          </p:nvPr>
        </p:nvSpPr>
        <p:spPr>
          <a:xfrm>
            <a:off x="513160" y="3371850"/>
            <a:ext cx="6400800" cy="112395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891002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3159" y="514351"/>
            <a:ext cx="3703241" cy="271145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56100" y="514351"/>
            <a:ext cx="3700859" cy="271145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7119071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29061" y="514350"/>
            <a:ext cx="3487340" cy="432197"/>
          </a:xfrm>
        </p:spPr>
        <p:txBody>
          <a:bodyPr anchor="b">
            <a:no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13159" y="952897"/>
            <a:ext cx="3703241" cy="2272904"/>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9299" y="514350"/>
            <a:ext cx="3498851" cy="432197"/>
          </a:xfrm>
        </p:spPr>
        <p:txBody>
          <a:bodyPr anchor="b">
            <a:no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354909" y="946546"/>
            <a:ext cx="3696891" cy="2272904"/>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1037667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2796171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7802475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13759" y="514350"/>
            <a:ext cx="2743200" cy="1028700"/>
          </a:xfrm>
        </p:spPr>
        <p:txBody>
          <a:bodyPr anchor="b">
            <a:normAutofit/>
          </a:bodyPr>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513159" y="514350"/>
            <a:ext cx="4457701" cy="398145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13759" y="1657350"/>
            <a:ext cx="2743200" cy="1568450"/>
          </a:xfrm>
        </p:spPr>
        <p:txBody>
          <a:bodyPr anchor="t">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8886893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42109" y="1085850"/>
            <a:ext cx="4514850" cy="857250"/>
          </a:xfrm>
        </p:spPr>
        <p:txBody>
          <a:bodyPr anchor="b">
            <a:normAutofit/>
          </a:bodyPr>
          <a:lstStyle>
            <a:lvl1pPr algn="l">
              <a:defRPr sz="21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1759" y="685800"/>
            <a:ext cx="2460731" cy="3429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3542109" y="2082800"/>
            <a:ext cx="4516041" cy="1536700"/>
          </a:xfrm>
        </p:spPr>
        <p:txBody>
          <a:bodyPr anchor="t">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006966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514350" y="400050"/>
            <a:ext cx="8114109" cy="234315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16" name="Text Placeholder 9"/>
          <p:cNvSpPr>
            <a:spLocks noGrp="1"/>
          </p:cNvSpPr>
          <p:nvPr>
            <p:ph type="body" sz="quarter" idx="14"/>
          </p:nvPr>
        </p:nvSpPr>
        <p:spPr>
          <a:xfrm>
            <a:off x="685801" y="2882900"/>
            <a:ext cx="6228158" cy="342900"/>
          </a:xfrm>
        </p:spPr>
        <p:txBody>
          <a:bodyPr anchor="t">
            <a:normAutofit/>
          </a:bodyPr>
          <a:lstStyle>
            <a:lvl1pPr marL="0" indent="0">
              <a:buFontTx/>
              <a:buNone/>
              <a:defRPr sz="12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4/26/2026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0163796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13160" y="514350"/>
            <a:ext cx="7543800" cy="2057400"/>
          </a:xfrm>
        </p:spPr>
        <p:txBody>
          <a:bodyPr anchor="ctr">
            <a:normAutofit/>
          </a:bodyPr>
          <a:lstStyle>
            <a:lvl1pPr algn="l">
              <a:defRPr sz="2400" b="0" cap="all"/>
            </a:lvl1pPr>
          </a:lstStyle>
          <a:p>
            <a:r>
              <a:rPr lang="en-US"/>
              <a:t>Click to edit Master title style</a:t>
            </a:r>
            <a:endParaRPr lang="en-US" dirty="0"/>
          </a:p>
        </p:txBody>
      </p:sp>
      <p:sp>
        <p:nvSpPr>
          <p:cNvPr id="3" name="Text Placeholder 2"/>
          <p:cNvSpPr>
            <a:spLocks noGrp="1"/>
          </p:cNvSpPr>
          <p:nvPr>
            <p:ph type="body" idx="1"/>
          </p:nvPr>
        </p:nvSpPr>
        <p:spPr>
          <a:xfrm>
            <a:off x="513159" y="3086100"/>
            <a:ext cx="6401991" cy="1409700"/>
          </a:xfrm>
        </p:spPr>
        <p:txBody>
          <a:bodyPr anchor="ctr">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7093174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9" y="514350"/>
            <a:ext cx="6858001" cy="2057400"/>
          </a:xfrm>
        </p:spPr>
        <p:txBody>
          <a:bodyPr anchor="ctr">
            <a:normAutofit/>
          </a:bodyPr>
          <a:lstStyle>
            <a:lvl1pPr algn="l">
              <a:defRPr sz="24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84659" y="2571750"/>
            <a:ext cx="6400800" cy="285750"/>
          </a:xfrm>
        </p:spPr>
        <p:txBody>
          <a:bodyPr anchor="ctr"/>
          <a:lstStyle>
            <a:lvl1pPr marL="0" indent="0">
              <a:buFontTx/>
              <a:buNone/>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13160" y="3225801"/>
            <a:ext cx="6400800" cy="1263649"/>
          </a:xfrm>
        </p:spPr>
        <p:txBody>
          <a:bodyPr anchor="ctr">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398859" y="609167"/>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5" name="TextBox 14"/>
          <p:cNvSpPr txBox="1"/>
          <p:nvPr/>
        </p:nvSpPr>
        <p:spPr>
          <a:xfrm>
            <a:off x="7714059" y="2076451"/>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spTree>
    <p:extLst>
      <p:ext uri="{BB962C8B-B14F-4D97-AF65-F5344CB8AC3E}">
        <p14:creationId xmlns:p14="http://schemas.microsoft.com/office/powerpoint/2010/main" val="414225544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13159" y="2571750"/>
            <a:ext cx="6400800" cy="1273050"/>
          </a:xfrm>
        </p:spPr>
        <p:txBody>
          <a:bodyPr anchor="b">
            <a:normAutofit/>
          </a:bodyPr>
          <a:lstStyle>
            <a:lvl1pPr algn="l">
              <a:defRPr sz="2400" b="0" cap="all"/>
            </a:lvl1pPr>
          </a:lstStyle>
          <a:p>
            <a:r>
              <a:rPr lang="en-US"/>
              <a:t>Click to edit Master title style</a:t>
            </a:r>
            <a:endParaRPr lang="en-US" dirty="0"/>
          </a:p>
        </p:txBody>
      </p:sp>
      <p:sp>
        <p:nvSpPr>
          <p:cNvPr id="3" name="Text Placeholder 2"/>
          <p:cNvSpPr>
            <a:spLocks noGrp="1"/>
          </p:cNvSpPr>
          <p:nvPr>
            <p:ph type="body" idx="1"/>
          </p:nvPr>
        </p:nvSpPr>
        <p:spPr>
          <a:xfrm>
            <a:off x="513158" y="3849736"/>
            <a:ext cx="6401993" cy="645300"/>
          </a:xfrm>
        </p:spPr>
        <p:txBody>
          <a:bodyPr anchor="t">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1498892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60" y="514350"/>
            <a:ext cx="6858000" cy="2057400"/>
          </a:xfrm>
        </p:spPr>
        <p:txBody>
          <a:bodyPr anchor="ctr">
            <a:normAutofit/>
          </a:bodyPr>
          <a:lstStyle>
            <a:lvl1pPr algn="l">
              <a:defRPr sz="24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513159" y="2946400"/>
            <a:ext cx="6400801" cy="787400"/>
          </a:xfrm>
        </p:spPr>
        <p:txBody>
          <a:bodyPr vert="horz" lIns="91440" tIns="45720" rIns="91440" bIns="45720" rtlCol="0" anchor="b">
            <a:normAutofit/>
          </a:bodyPr>
          <a:lstStyle>
            <a:lvl1pPr>
              <a:buNone/>
              <a:defRPr lang="en-US" sz="18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13159" y="3733800"/>
            <a:ext cx="6400801" cy="76200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398859" y="609167"/>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2" name="TextBox 11"/>
          <p:cNvSpPr txBox="1"/>
          <p:nvPr/>
        </p:nvSpPr>
        <p:spPr>
          <a:xfrm>
            <a:off x="7714059" y="2076451"/>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spTree>
    <p:extLst>
      <p:ext uri="{BB962C8B-B14F-4D97-AF65-F5344CB8AC3E}">
        <p14:creationId xmlns:p14="http://schemas.microsoft.com/office/powerpoint/2010/main" val="373034128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3160" y="514350"/>
            <a:ext cx="7543800" cy="20574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513159" y="2946401"/>
            <a:ext cx="6400800" cy="628650"/>
          </a:xfrm>
        </p:spPr>
        <p:txBody>
          <a:bodyPr vert="horz" lIns="91440" tIns="45720" rIns="91440" bIns="45720" rtlCol="0" anchor="b">
            <a:normAutofit/>
          </a:bodyPr>
          <a:lstStyle>
            <a:lvl1pPr>
              <a:buNone/>
              <a:defRPr lang="en-US" sz="18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13159" y="3575049"/>
            <a:ext cx="6400801" cy="92075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2651118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1348974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3909" y="514350"/>
            <a:ext cx="1543050" cy="3429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4350" y="514350"/>
            <a:ext cx="5867400" cy="398145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29603823"/>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8660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6905227" y="2222500"/>
            <a:ext cx="2236394" cy="2406650"/>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513159" y="3365499"/>
            <a:ext cx="6400800" cy="11303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3159" y="514351"/>
            <a:ext cx="6400800" cy="271145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28309" y="4629150"/>
            <a:ext cx="1200150" cy="273844"/>
          </a:xfrm>
          <a:prstGeom prst="rect">
            <a:avLst/>
          </a:prstGeom>
        </p:spPr>
        <p:txBody>
          <a:bodyPr vert="horz" lIns="91440" tIns="45720" rIns="91440" bIns="45720" rtlCol="0" anchor="t"/>
          <a:lstStyle>
            <a:lvl1pPr algn="r">
              <a:defRPr sz="750" b="0" i="0">
                <a:solidFill>
                  <a:schemeClr val="bg2">
                    <a:lumMod val="50000"/>
                  </a:schemeClr>
                </a:solidFill>
                <a:effectLst/>
                <a:latin typeface="+mn-lt"/>
              </a:defRPr>
            </a:lvl1pPr>
          </a:lstStyle>
          <a:p>
            <a:fld id="{B61BEF0D-F0BB-DE4B-95CE-6DB70DBA9567}" type="datetimeFigureOut">
              <a:rPr lang="en-US" dirty="0"/>
              <a:pPr/>
              <a:t>4/26/2026</a:t>
            </a:fld>
            <a:endParaRPr lang="en-US" dirty="0"/>
          </a:p>
        </p:txBody>
      </p:sp>
      <p:sp>
        <p:nvSpPr>
          <p:cNvPr id="5" name="Footer Placeholder 4"/>
          <p:cNvSpPr>
            <a:spLocks noGrp="1"/>
          </p:cNvSpPr>
          <p:nvPr>
            <p:ph type="ftr" sz="quarter" idx="3"/>
          </p:nvPr>
        </p:nvSpPr>
        <p:spPr>
          <a:xfrm>
            <a:off x="513159" y="4629150"/>
            <a:ext cx="5657850" cy="273844"/>
          </a:xfrm>
          <a:prstGeom prst="rect">
            <a:avLst/>
          </a:prstGeom>
        </p:spPr>
        <p:txBody>
          <a:bodyPr vert="horz" lIns="91440" tIns="45720" rIns="91440" bIns="45720" rtlCol="0" anchor="t"/>
          <a:lstStyle>
            <a:lvl1pPr algn="l">
              <a:defRPr sz="75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7772400" y="4183857"/>
            <a:ext cx="856684" cy="502444"/>
          </a:xfrm>
          <a:prstGeom prst="rect">
            <a:avLst/>
          </a:prstGeom>
        </p:spPr>
        <p:txBody>
          <a:bodyPr vert="horz" lIns="91440" tIns="45720" rIns="91440" bIns="45720" rtlCol="0" anchor="b"/>
          <a:lstStyle>
            <a:lvl1pPr algn="r">
              <a:defRPr sz="2400" b="0" i="0">
                <a:solidFill>
                  <a:schemeClr val="bg2">
                    <a:lumMod val="50000"/>
                  </a:schemeClr>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28667488"/>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Lst>
  <p:hf sldNum="0" hdr="0" ftr="0" dt="0"/>
  <p:txStyles>
    <p:titleStyle>
      <a:lvl1pPr algn="l" defTabSz="342900" rtl="0" eaLnBrk="1" latinLnBrk="0" hangingPunct="1">
        <a:spcBef>
          <a:spcPct val="0"/>
        </a:spcBef>
        <a:buNone/>
        <a:defRPr sz="27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500" kern="1200" cap="none">
          <a:solidFill>
            <a:schemeClr val="bg2">
              <a:lumMod val="75000"/>
            </a:schemeClr>
          </a:solidFill>
          <a:effectLst/>
          <a:latin typeface="+mn-lt"/>
          <a:ea typeface="+mn-ea"/>
          <a:cs typeface="+mn-cs"/>
        </a:defRPr>
      </a:lvl1pPr>
      <a:lvl2pPr marL="5572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350" kern="1200" cap="none">
          <a:solidFill>
            <a:schemeClr val="bg2">
              <a:lumMod val="75000"/>
            </a:schemeClr>
          </a:solidFill>
          <a:effectLst/>
          <a:latin typeface="+mn-lt"/>
          <a:ea typeface="+mn-ea"/>
          <a:cs typeface="+mn-cs"/>
        </a:defRPr>
      </a:lvl2pPr>
      <a:lvl3pPr marL="9001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200" kern="1200" cap="none">
          <a:solidFill>
            <a:schemeClr val="bg2">
              <a:lumMod val="75000"/>
            </a:schemeClr>
          </a:solidFill>
          <a:effectLst/>
          <a:latin typeface="+mn-lt"/>
          <a:ea typeface="+mn-ea"/>
          <a:cs typeface="+mn-cs"/>
        </a:defRPr>
      </a:lvl3pPr>
      <a:lvl4pPr marL="1157288" indent="-128588"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4pPr>
      <a:lvl5pPr marL="1500188" indent="-128588"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C1A"/>
        </a:solidFill>
        <a:effectLst/>
      </p:bgPr>
    </p:bg>
    <p:spTree>
      <p:nvGrpSpPr>
        <p:cNvPr id="1" name=""/>
        <p:cNvGrpSpPr/>
        <p:nvPr/>
      </p:nvGrpSpPr>
      <p:grpSpPr>
        <a:xfrm>
          <a:off x="0" y="0"/>
          <a:ext cx="0" cy="0"/>
          <a:chOff x="0" y="0"/>
          <a:chExt cx="0" cy="0"/>
        </a:xfrm>
      </p:grpSpPr>
      <p:sp>
        <p:nvSpPr>
          <p:cNvPr id="2" name="Text 0"/>
          <p:cNvSpPr/>
          <p:nvPr/>
        </p:nvSpPr>
        <p:spPr>
          <a:xfrm>
            <a:off x="457200" y="777240"/>
            <a:ext cx="8229600" cy="1188720"/>
          </a:xfrm>
          <a:prstGeom prst="rect">
            <a:avLst/>
          </a:prstGeom>
          <a:noFill/>
          <a:ln/>
        </p:spPr>
        <p:txBody>
          <a:bodyPr wrap="square"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IT Student Management System</a:t>
            </a:r>
            <a:endParaRPr lang="en-US" sz="3800" dirty="0"/>
          </a:p>
        </p:txBody>
      </p:sp>
      <p:sp>
        <p:nvSpPr>
          <p:cNvPr id="3" name="Shape 1"/>
          <p:cNvSpPr/>
          <p:nvPr/>
        </p:nvSpPr>
        <p:spPr>
          <a:xfrm>
            <a:off x="2286000" y="2121408"/>
            <a:ext cx="4572000" cy="54864"/>
          </a:xfrm>
          <a:prstGeom prst="rect">
            <a:avLst/>
          </a:prstGeom>
          <a:solidFill>
            <a:srgbClr val="2E7D32"/>
          </a:solidFill>
          <a:ln w="12700">
            <a:solidFill>
              <a:srgbClr val="2E7D32"/>
            </a:solidFill>
            <a:prstDash val="solid"/>
          </a:ln>
        </p:spPr>
      </p:sp>
      <p:sp>
        <p:nvSpPr>
          <p:cNvPr id="4" name="Text 2"/>
          <p:cNvSpPr/>
          <p:nvPr/>
        </p:nvSpPr>
        <p:spPr>
          <a:xfrm>
            <a:off x="457200" y="2267712"/>
            <a:ext cx="8229600" cy="411480"/>
          </a:xfrm>
          <a:prstGeom prst="rect">
            <a:avLst/>
          </a:prstGeom>
          <a:noFill/>
          <a:ln/>
        </p:spPr>
        <p:txBody>
          <a:bodyPr wrap="square" rtlCol="0" anchor="ctr"/>
          <a:lstStyle/>
          <a:p>
            <a:pPr marL="0" indent="0" algn="ctr">
              <a:buNone/>
            </a:pPr>
            <a:r>
              <a:rPr lang="en-US" sz="1700" i="1" dirty="0">
                <a:solidFill>
                  <a:srgbClr val="A5D6A7"/>
                </a:solidFill>
                <a:latin typeface="Calibri" pitchFamily="34" charset="0"/>
                <a:ea typeface="Calibri" pitchFamily="34" charset="-122"/>
                <a:cs typeface="Calibri" pitchFamily="34" charset="-120"/>
              </a:rPr>
              <a:t>Final Project Presentation</a:t>
            </a:r>
            <a:endParaRPr lang="en-US" sz="1700" dirty="0"/>
          </a:p>
        </p:txBody>
      </p:sp>
      <p:sp>
        <p:nvSpPr>
          <p:cNvPr id="5" name="Text 3"/>
          <p:cNvSpPr/>
          <p:nvPr/>
        </p:nvSpPr>
        <p:spPr>
          <a:xfrm>
            <a:off x="2560320" y="2907792"/>
            <a:ext cx="1371600" cy="274320"/>
          </a:xfrm>
          <a:prstGeom prst="rect">
            <a:avLst/>
          </a:prstGeom>
          <a:noFill/>
          <a:ln/>
        </p:spPr>
        <p:txBody>
          <a:bodyPr wrap="square" lIns="0" tIns="0" rIns="0" bIns="0" rtlCol="0" anchor="ctr"/>
          <a:lstStyle/>
          <a:p>
            <a:pPr marL="0" indent="0" algn="r">
              <a:buNone/>
            </a:pPr>
            <a:r>
              <a:rPr lang="en-US" sz="1200" b="1" dirty="0">
                <a:solidFill>
                  <a:srgbClr val="A5D6A7"/>
                </a:solidFill>
                <a:latin typeface="Calibri" pitchFamily="34" charset="0"/>
                <a:ea typeface="Calibri" pitchFamily="34" charset="-122"/>
                <a:cs typeface="Calibri" pitchFamily="34" charset="-120"/>
              </a:rPr>
              <a:t>Student:</a:t>
            </a:r>
            <a:endParaRPr lang="en-US" sz="1200" dirty="0"/>
          </a:p>
        </p:txBody>
      </p:sp>
      <p:sp>
        <p:nvSpPr>
          <p:cNvPr id="6" name="Text 4"/>
          <p:cNvSpPr/>
          <p:nvPr/>
        </p:nvSpPr>
        <p:spPr>
          <a:xfrm>
            <a:off x="4023360" y="2907792"/>
            <a:ext cx="4389120" cy="2743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Avishek Pandey</a:t>
            </a:r>
            <a:endParaRPr lang="en-US" sz="1200" dirty="0"/>
          </a:p>
        </p:txBody>
      </p:sp>
      <p:sp>
        <p:nvSpPr>
          <p:cNvPr id="7" name="Text 5"/>
          <p:cNvSpPr/>
          <p:nvPr/>
        </p:nvSpPr>
        <p:spPr>
          <a:xfrm>
            <a:off x="2560320" y="3227832"/>
            <a:ext cx="1371600" cy="274320"/>
          </a:xfrm>
          <a:prstGeom prst="rect">
            <a:avLst/>
          </a:prstGeom>
          <a:noFill/>
          <a:ln/>
        </p:spPr>
        <p:txBody>
          <a:bodyPr wrap="square" lIns="0" tIns="0" rIns="0" bIns="0" rtlCol="0" anchor="ctr"/>
          <a:lstStyle/>
          <a:p>
            <a:pPr marL="0" indent="0" algn="r">
              <a:buNone/>
            </a:pPr>
            <a:r>
              <a:rPr lang="en-US" sz="1200" b="1" dirty="0">
                <a:solidFill>
                  <a:srgbClr val="A5D6A7"/>
                </a:solidFill>
                <a:latin typeface="Calibri" pitchFamily="34" charset="0"/>
                <a:ea typeface="Calibri" pitchFamily="34" charset="-122"/>
                <a:cs typeface="Calibri" pitchFamily="34" charset="-120"/>
              </a:rPr>
              <a:t>Course:</a:t>
            </a:r>
            <a:endParaRPr lang="en-US" sz="1200" dirty="0"/>
          </a:p>
        </p:txBody>
      </p:sp>
      <p:sp>
        <p:nvSpPr>
          <p:cNvPr id="8" name="Text 6"/>
          <p:cNvSpPr/>
          <p:nvPr/>
        </p:nvSpPr>
        <p:spPr>
          <a:xfrm>
            <a:off x="4023360" y="3227832"/>
            <a:ext cx="4389120" cy="2743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IT Project Management</a:t>
            </a:r>
            <a:endParaRPr lang="en-US" sz="1200" dirty="0"/>
          </a:p>
        </p:txBody>
      </p:sp>
      <p:sp>
        <p:nvSpPr>
          <p:cNvPr id="9" name="Text 7"/>
          <p:cNvSpPr/>
          <p:nvPr/>
        </p:nvSpPr>
        <p:spPr>
          <a:xfrm>
            <a:off x="2560320" y="3547872"/>
            <a:ext cx="1371600" cy="274320"/>
          </a:xfrm>
          <a:prstGeom prst="rect">
            <a:avLst/>
          </a:prstGeom>
          <a:noFill/>
          <a:ln/>
        </p:spPr>
        <p:txBody>
          <a:bodyPr wrap="square" lIns="0" tIns="0" rIns="0" bIns="0" rtlCol="0" anchor="ctr"/>
          <a:lstStyle/>
          <a:p>
            <a:pPr marL="0" indent="0" algn="r">
              <a:buNone/>
            </a:pPr>
            <a:r>
              <a:rPr lang="en-US" sz="1200" b="1" dirty="0">
                <a:solidFill>
                  <a:srgbClr val="A5D6A7"/>
                </a:solidFill>
                <a:latin typeface="Calibri" pitchFamily="34" charset="0"/>
                <a:ea typeface="Calibri" pitchFamily="34" charset="-122"/>
                <a:cs typeface="Calibri" pitchFamily="34" charset="-120"/>
              </a:rPr>
              <a:t>Supervisor:</a:t>
            </a:r>
            <a:endParaRPr lang="en-US" sz="1200" dirty="0"/>
          </a:p>
        </p:txBody>
      </p:sp>
      <p:sp>
        <p:nvSpPr>
          <p:cNvPr id="10" name="Text 8"/>
          <p:cNvSpPr/>
          <p:nvPr/>
        </p:nvSpPr>
        <p:spPr>
          <a:xfrm>
            <a:off x="4023360" y="3547872"/>
            <a:ext cx="4389120" cy="2743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Prof. Deevya Seengal</a:t>
            </a:r>
            <a:endParaRPr lang="en-US" sz="1200" dirty="0"/>
          </a:p>
        </p:txBody>
      </p:sp>
      <p:sp>
        <p:nvSpPr>
          <p:cNvPr id="11" name="Text 9"/>
          <p:cNvSpPr/>
          <p:nvPr/>
        </p:nvSpPr>
        <p:spPr>
          <a:xfrm>
            <a:off x="2560320" y="3867912"/>
            <a:ext cx="1371600" cy="274320"/>
          </a:xfrm>
          <a:prstGeom prst="rect">
            <a:avLst/>
          </a:prstGeom>
          <a:noFill/>
          <a:ln/>
        </p:spPr>
        <p:txBody>
          <a:bodyPr wrap="square" lIns="0" tIns="0" rIns="0" bIns="0" rtlCol="0" anchor="ctr"/>
          <a:lstStyle/>
          <a:p>
            <a:pPr marL="0" indent="0" algn="r">
              <a:buNone/>
            </a:pPr>
            <a:r>
              <a:rPr lang="en-US" sz="1200" b="1" dirty="0">
                <a:solidFill>
                  <a:srgbClr val="A5D6A7"/>
                </a:solidFill>
                <a:latin typeface="Calibri" pitchFamily="34" charset="0"/>
                <a:ea typeface="Calibri" pitchFamily="34" charset="-122"/>
                <a:cs typeface="Calibri" pitchFamily="34" charset="-120"/>
              </a:rPr>
              <a:t>Methodology:</a:t>
            </a:r>
            <a:endParaRPr lang="en-US" sz="1200" dirty="0"/>
          </a:p>
        </p:txBody>
      </p:sp>
      <p:sp>
        <p:nvSpPr>
          <p:cNvPr id="12" name="Text 10"/>
          <p:cNvSpPr/>
          <p:nvPr/>
        </p:nvSpPr>
        <p:spPr>
          <a:xfrm>
            <a:off x="4023360" y="3867912"/>
            <a:ext cx="4389120" cy="2743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Agile – Scrum   |   Duration: 13 Weeks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C1A"/>
          </a:solidFill>
          <a:ln w="12700">
            <a:solidFill>
              <a:srgbClr val="1A3C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Presentation Outline</a:t>
            </a:r>
            <a:endParaRPr lang="en-US" sz="2400" dirty="0"/>
          </a:p>
        </p:txBody>
      </p:sp>
      <p:sp>
        <p:nvSpPr>
          <p:cNvPr id="4" name="Shape 2"/>
          <p:cNvSpPr/>
          <p:nvPr/>
        </p:nvSpPr>
        <p:spPr>
          <a:xfrm>
            <a:off x="365760" y="1005840"/>
            <a:ext cx="347472" cy="457200"/>
          </a:xfrm>
          <a:prstGeom prst="rect">
            <a:avLst/>
          </a:prstGeom>
          <a:solidFill>
            <a:srgbClr val="2E7D32"/>
          </a:solidFill>
          <a:ln w="12700">
            <a:solidFill>
              <a:srgbClr val="2E7D32"/>
            </a:solidFill>
            <a:prstDash val="solid"/>
          </a:ln>
        </p:spPr>
      </p:sp>
      <p:sp>
        <p:nvSpPr>
          <p:cNvPr id="5" name="Text 3"/>
          <p:cNvSpPr/>
          <p:nvPr/>
        </p:nvSpPr>
        <p:spPr>
          <a:xfrm>
            <a:off x="365760" y="1005840"/>
            <a:ext cx="347472"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86384" y="1024128"/>
            <a:ext cx="3749040" cy="228600"/>
          </a:xfrm>
          <a:prstGeom prst="rect">
            <a:avLst/>
          </a:prstGeom>
          <a:noFill/>
          <a:ln/>
        </p:spPr>
        <p:txBody>
          <a:bodyPr wrap="square" lIns="0" tIns="0" rIns="0" bIns="0" rtlCol="0" anchor="ctr"/>
          <a:lstStyle/>
          <a:p>
            <a:pPr marL="0" indent="0">
              <a:buNone/>
            </a:pPr>
            <a:r>
              <a:rPr lang="en-US" sz="1200" b="1" dirty="0">
                <a:solidFill>
                  <a:srgbClr val="1A3C1A"/>
                </a:solidFill>
                <a:latin typeface="Calibri" pitchFamily="34" charset="0"/>
                <a:ea typeface="Calibri" pitchFamily="34" charset="-122"/>
                <a:cs typeface="Calibri" pitchFamily="34" charset="-120"/>
              </a:rPr>
              <a:t>Introduction</a:t>
            </a:r>
            <a:endParaRPr lang="en-US" sz="1200" dirty="0"/>
          </a:p>
        </p:txBody>
      </p:sp>
      <p:sp>
        <p:nvSpPr>
          <p:cNvPr id="7" name="Text 5"/>
          <p:cNvSpPr/>
          <p:nvPr/>
        </p:nvSpPr>
        <p:spPr>
          <a:xfrm>
            <a:off x="786384" y="1252728"/>
            <a:ext cx="3749040" cy="182880"/>
          </a:xfrm>
          <a:prstGeom prst="rect">
            <a:avLst/>
          </a:prstGeom>
          <a:noFill/>
          <a:ln/>
        </p:spPr>
        <p:txBody>
          <a:bodyPr wrap="square" lIns="0" tIns="0" rIns="0" bIns="0" rtlCol="0" anchor="ctr"/>
          <a:lstStyle/>
          <a:p>
            <a:pPr marL="0" indent="0">
              <a:buNone/>
            </a:pPr>
            <a:r>
              <a:rPr lang="en-US" sz="1000" dirty="0">
                <a:solidFill>
                  <a:srgbClr val="546E7A"/>
                </a:solidFill>
                <a:latin typeface="Calibri" pitchFamily="34" charset="0"/>
                <a:ea typeface="Calibri" pitchFamily="34" charset="-122"/>
                <a:cs typeface="Calibri" pitchFamily="34" charset="-120"/>
              </a:rPr>
              <a:t>About me, the project, and the system overview</a:t>
            </a:r>
            <a:endParaRPr lang="en-US" sz="1000" dirty="0"/>
          </a:p>
        </p:txBody>
      </p:sp>
      <p:sp>
        <p:nvSpPr>
          <p:cNvPr id="8" name="Shape 6"/>
          <p:cNvSpPr/>
          <p:nvPr/>
        </p:nvSpPr>
        <p:spPr>
          <a:xfrm>
            <a:off x="365760" y="1773936"/>
            <a:ext cx="347472" cy="457200"/>
          </a:xfrm>
          <a:prstGeom prst="rect">
            <a:avLst/>
          </a:prstGeom>
          <a:solidFill>
            <a:srgbClr val="2E7D32"/>
          </a:solidFill>
          <a:ln w="12700">
            <a:solidFill>
              <a:srgbClr val="2E7D32"/>
            </a:solidFill>
            <a:prstDash val="solid"/>
          </a:ln>
        </p:spPr>
      </p:sp>
      <p:sp>
        <p:nvSpPr>
          <p:cNvPr id="9" name="Text 7"/>
          <p:cNvSpPr/>
          <p:nvPr/>
        </p:nvSpPr>
        <p:spPr>
          <a:xfrm>
            <a:off x="365760" y="1773936"/>
            <a:ext cx="347472"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786384" y="1792224"/>
            <a:ext cx="3749040" cy="228600"/>
          </a:xfrm>
          <a:prstGeom prst="rect">
            <a:avLst/>
          </a:prstGeom>
          <a:noFill/>
          <a:ln/>
        </p:spPr>
        <p:txBody>
          <a:bodyPr wrap="square" lIns="0" tIns="0" rIns="0" bIns="0" rtlCol="0" anchor="ctr"/>
          <a:lstStyle/>
          <a:p>
            <a:pPr marL="0" indent="0">
              <a:buNone/>
            </a:pPr>
            <a:r>
              <a:rPr lang="en-US" sz="1200" b="1" dirty="0">
                <a:solidFill>
                  <a:srgbClr val="1A3C1A"/>
                </a:solidFill>
                <a:latin typeface="Calibri" pitchFamily="34" charset="0"/>
                <a:ea typeface="Calibri" pitchFamily="34" charset="-122"/>
                <a:cs typeface="Calibri" pitchFamily="34" charset="-120"/>
              </a:rPr>
              <a:t>Problem Statement</a:t>
            </a:r>
            <a:endParaRPr lang="en-US" sz="1200" dirty="0"/>
          </a:p>
        </p:txBody>
      </p:sp>
      <p:sp>
        <p:nvSpPr>
          <p:cNvPr id="11" name="Text 9"/>
          <p:cNvSpPr/>
          <p:nvPr/>
        </p:nvSpPr>
        <p:spPr>
          <a:xfrm>
            <a:off x="786384" y="2020824"/>
            <a:ext cx="3749040" cy="182880"/>
          </a:xfrm>
          <a:prstGeom prst="rect">
            <a:avLst/>
          </a:prstGeom>
          <a:noFill/>
          <a:ln/>
        </p:spPr>
        <p:txBody>
          <a:bodyPr wrap="square" lIns="0" tIns="0" rIns="0" bIns="0" rtlCol="0" anchor="ctr"/>
          <a:lstStyle/>
          <a:p>
            <a:pPr marL="0" indent="0">
              <a:buNone/>
            </a:pPr>
            <a:r>
              <a:rPr lang="en-US" sz="1000" dirty="0">
                <a:solidFill>
                  <a:srgbClr val="546E7A"/>
                </a:solidFill>
                <a:latin typeface="Calibri" pitchFamily="34" charset="0"/>
                <a:ea typeface="Calibri" pitchFamily="34" charset="-122"/>
                <a:cs typeface="Calibri" pitchFamily="34" charset="-120"/>
              </a:rPr>
              <a:t>The problem this system was built to solve</a:t>
            </a:r>
            <a:endParaRPr lang="en-US" sz="1000" dirty="0"/>
          </a:p>
        </p:txBody>
      </p:sp>
      <p:sp>
        <p:nvSpPr>
          <p:cNvPr id="12" name="Shape 10"/>
          <p:cNvSpPr/>
          <p:nvPr/>
        </p:nvSpPr>
        <p:spPr>
          <a:xfrm>
            <a:off x="365760" y="2542032"/>
            <a:ext cx="347472" cy="457200"/>
          </a:xfrm>
          <a:prstGeom prst="rect">
            <a:avLst/>
          </a:prstGeom>
          <a:solidFill>
            <a:srgbClr val="2E7D32"/>
          </a:solidFill>
          <a:ln w="12700">
            <a:solidFill>
              <a:srgbClr val="2E7D32"/>
            </a:solidFill>
            <a:prstDash val="solid"/>
          </a:ln>
        </p:spPr>
      </p:sp>
      <p:sp>
        <p:nvSpPr>
          <p:cNvPr id="13" name="Text 11"/>
          <p:cNvSpPr/>
          <p:nvPr/>
        </p:nvSpPr>
        <p:spPr>
          <a:xfrm>
            <a:off x="365760" y="2542032"/>
            <a:ext cx="347472"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786384" y="2560320"/>
            <a:ext cx="3749040" cy="228600"/>
          </a:xfrm>
          <a:prstGeom prst="rect">
            <a:avLst/>
          </a:prstGeom>
          <a:noFill/>
          <a:ln/>
        </p:spPr>
        <p:txBody>
          <a:bodyPr wrap="square" lIns="0" tIns="0" rIns="0" bIns="0" rtlCol="0" anchor="ctr"/>
          <a:lstStyle/>
          <a:p>
            <a:pPr marL="0" indent="0">
              <a:buNone/>
            </a:pPr>
            <a:r>
              <a:rPr lang="en-US" sz="1200" b="1" dirty="0">
                <a:solidFill>
                  <a:srgbClr val="1A3C1A"/>
                </a:solidFill>
                <a:latin typeface="Calibri" pitchFamily="34" charset="0"/>
                <a:ea typeface="Calibri" pitchFamily="34" charset="-122"/>
                <a:cs typeface="Calibri" pitchFamily="34" charset="-120"/>
              </a:rPr>
              <a:t>Background Information</a:t>
            </a:r>
            <a:endParaRPr lang="en-US" sz="1200" dirty="0"/>
          </a:p>
        </p:txBody>
      </p:sp>
      <p:sp>
        <p:nvSpPr>
          <p:cNvPr id="15" name="Text 13"/>
          <p:cNvSpPr/>
          <p:nvPr/>
        </p:nvSpPr>
        <p:spPr>
          <a:xfrm>
            <a:off x="786384" y="2788920"/>
            <a:ext cx="3749040" cy="182880"/>
          </a:xfrm>
          <a:prstGeom prst="rect">
            <a:avLst/>
          </a:prstGeom>
          <a:noFill/>
          <a:ln/>
        </p:spPr>
        <p:txBody>
          <a:bodyPr wrap="square" lIns="0" tIns="0" rIns="0" bIns="0" rtlCol="0" anchor="ctr"/>
          <a:lstStyle/>
          <a:p>
            <a:pPr marL="0" indent="0">
              <a:buNone/>
            </a:pPr>
            <a:r>
              <a:rPr lang="en-US" sz="1000" dirty="0">
                <a:solidFill>
                  <a:srgbClr val="546E7A"/>
                </a:solidFill>
                <a:latin typeface="Calibri" pitchFamily="34" charset="0"/>
                <a:ea typeface="Calibri" pitchFamily="34" charset="-122"/>
                <a:cs typeface="Calibri" pitchFamily="34" charset="-120"/>
              </a:rPr>
              <a:t>Context, target users, personas, and technology</a:t>
            </a:r>
            <a:endParaRPr lang="en-US" sz="1000" dirty="0"/>
          </a:p>
        </p:txBody>
      </p:sp>
      <p:sp>
        <p:nvSpPr>
          <p:cNvPr id="16" name="Shape 14"/>
          <p:cNvSpPr/>
          <p:nvPr/>
        </p:nvSpPr>
        <p:spPr>
          <a:xfrm>
            <a:off x="365760" y="3310128"/>
            <a:ext cx="347472" cy="457200"/>
          </a:xfrm>
          <a:prstGeom prst="rect">
            <a:avLst/>
          </a:prstGeom>
          <a:solidFill>
            <a:srgbClr val="2E7D32"/>
          </a:solidFill>
          <a:ln w="12700">
            <a:solidFill>
              <a:srgbClr val="2E7D32"/>
            </a:solidFill>
            <a:prstDash val="solid"/>
          </a:ln>
        </p:spPr>
      </p:sp>
      <p:sp>
        <p:nvSpPr>
          <p:cNvPr id="17" name="Text 15"/>
          <p:cNvSpPr/>
          <p:nvPr/>
        </p:nvSpPr>
        <p:spPr>
          <a:xfrm>
            <a:off x="365760" y="3310128"/>
            <a:ext cx="347472"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786384" y="3328416"/>
            <a:ext cx="3749040" cy="228600"/>
          </a:xfrm>
          <a:prstGeom prst="rect">
            <a:avLst/>
          </a:prstGeom>
          <a:noFill/>
          <a:ln/>
        </p:spPr>
        <p:txBody>
          <a:bodyPr wrap="square" lIns="0" tIns="0" rIns="0" bIns="0" rtlCol="0" anchor="ctr"/>
          <a:lstStyle/>
          <a:p>
            <a:pPr marL="0" indent="0">
              <a:buNone/>
            </a:pPr>
            <a:r>
              <a:rPr lang="en-US" sz="1200" b="1" dirty="0">
                <a:solidFill>
                  <a:srgbClr val="1A3C1A"/>
                </a:solidFill>
                <a:latin typeface="Calibri" pitchFamily="34" charset="0"/>
                <a:ea typeface="Calibri" pitchFamily="34" charset="-122"/>
                <a:cs typeface="Calibri" pitchFamily="34" charset="-120"/>
              </a:rPr>
              <a:t>Issues Encountered</a:t>
            </a:r>
            <a:endParaRPr lang="en-US" sz="1200" dirty="0"/>
          </a:p>
        </p:txBody>
      </p:sp>
      <p:sp>
        <p:nvSpPr>
          <p:cNvPr id="19" name="Text 17"/>
          <p:cNvSpPr/>
          <p:nvPr/>
        </p:nvSpPr>
        <p:spPr>
          <a:xfrm>
            <a:off x="786384" y="3557016"/>
            <a:ext cx="3749040" cy="182880"/>
          </a:xfrm>
          <a:prstGeom prst="rect">
            <a:avLst/>
          </a:prstGeom>
          <a:noFill/>
          <a:ln/>
        </p:spPr>
        <p:txBody>
          <a:bodyPr wrap="square" lIns="0" tIns="0" rIns="0" bIns="0" rtlCol="0" anchor="ctr"/>
          <a:lstStyle/>
          <a:p>
            <a:pPr marL="0" indent="0">
              <a:buNone/>
            </a:pPr>
            <a:r>
              <a:rPr lang="en-US" sz="1000" dirty="0">
                <a:solidFill>
                  <a:srgbClr val="546E7A"/>
                </a:solidFill>
                <a:latin typeface="Calibri" pitchFamily="34" charset="0"/>
                <a:ea typeface="Calibri" pitchFamily="34" charset="-122"/>
                <a:cs typeface="Calibri" pitchFamily="34" charset="-120"/>
              </a:rPr>
              <a:t>Challenges faced during development</a:t>
            </a:r>
            <a:endParaRPr lang="en-US" sz="1000" dirty="0"/>
          </a:p>
        </p:txBody>
      </p:sp>
      <p:sp>
        <p:nvSpPr>
          <p:cNvPr id="20" name="Shape 18"/>
          <p:cNvSpPr/>
          <p:nvPr/>
        </p:nvSpPr>
        <p:spPr>
          <a:xfrm>
            <a:off x="365760" y="4078224"/>
            <a:ext cx="347472" cy="457200"/>
          </a:xfrm>
          <a:prstGeom prst="rect">
            <a:avLst/>
          </a:prstGeom>
          <a:solidFill>
            <a:srgbClr val="2E7D32"/>
          </a:solidFill>
          <a:ln w="12700">
            <a:solidFill>
              <a:srgbClr val="2E7D32"/>
            </a:solidFill>
            <a:prstDash val="solid"/>
          </a:ln>
        </p:spPr>
      </p:sp>
      <p:sp>
        <p:nvSpPr>
          <p:cNvPr id="21" name="Text 19"/>
          <p:cNvSpPr/>
          <p:nvPr/>
        </p:nvSpPr>
        <p:spPr>
          <a:xfrm>
            <a:off x="365760" y="4078224"/>
            <a:ext cx="347472"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786384" y="4096512"/>
            <a:ext cx="3749040" cy="228600"/>
          </a:xfrm>
          <a:prstGeom prst="rect">
            <a:avLst/>
          </a:prstGeom>
          <a:noFill/>
          <a:ln/>
        </p:spPr>
        <p:txBody>
          <a:bodyPr wrap="square" lIns="0" tIns="0" rIns="0" bIns="0" rtlCol="0" anchor="ctr"/>
          <a:lstStyle/>
          <a:p>
            <a:pPr marL="0" indent="0">
              <a:buNone/>
            </a:pPr>
            <a:r>
              <a:rPr lang="en-US" sz="1200" b="1" dirty="0">
                <a:solidFill>
                  <a:srgbClr val="1A3C1A"/>
                </a:solidFill>
                <a:latin typeface="Calibri" pitchFamily="34" charset="0"/>
                <a:ea typeface="Calibri" pitchFamily="34" charset="-122"/>
                <a:cs typeface="Calibri" pitchFamily="34" charset="-120"/>
              </a:rPr>
              <a:t>Proposed Solutions</a:t>
            </a:r>
            <a:endParaRPr lang="en-US" sz="1200" dirty="0"/>
          </a:p>
        </p:txBody>
      </p:sp>
      <p:sp>
        <p:nvSpPr>
          <p:cNvPr id="23" name="Text 21"/>
          <p:cNvSpPr/>
          <p:nvPr/>
        </p:nvSpPr>
        <p:spPr>
          <a:xfrm>
            <a:off x="786384" y="4325112"/>
            <a:ext cx="3749040" cy="182880"/>
          </a:xfrm>
          <a:prstGeom prst="rect">
            <a:avLst/>
          </a:prstGeom>
          <a:noFill/>
          <a:ln/>
        </p:spPr>
        <p:txBody>
          <a:bodyPr wrap="square" lIns="0" tIns="0" rIns="0" bIns="0" rtlCol="0" anchor="ctr"/>
          <a:lstStyle/>
          <a:p>
            <a:pPr marL="0" indent="0">
              <a:buNone/>
            </a:pPr>
            <a:r>
              <a:rPr lang="en-US" sz="1000" dirty="0">
                <a:solidFill>
                  <a:srgbClr val="546E7A"/>
                </a:solidFill>
                <a:latin typeface="Calibri" pitchFamily="34" charset="0"/>
                <a:ea typeface="Calibri" pitchFamily="34" charset="-122"/>
                <a:cs typeface="Calibri" pitchFamily="34" charset="-120"/>
              </a:rPr>
              <a:t>How each challenge was addressed</a:t>
            </a:r>
            <a:endParaRPr lang="en-US" sz="1000" dirty="0"/>
          </a:p>
        </p:txBody>
      </p:sp>
      <p:sp>
        <p:nvSpPr>
          <p:cNvPr id="24" name="Shape 22"/>
          <p:cNvSpPr/>
          <p:nvPr/>
        </p:nvSpPr>
        <p:spPr>
          <a:xfrm>
            <a:off x="4754880" y="1005840"/>
            <a:ext cx="347472" cy="457200"/>
          </a:xfrm>
          <a:prstGeom prst="rect">
            <a:avLst/>
          </a:prstGeom>
          <a:solidFill>
            <a:srgbClr val="2E7D32"/>
          </a:solidFill>
          <a:ln w="12700">
            <a:solidFill>
              <a:srgbClr val="2E7D32"/>
            </a:solidFill>
            <a:prstDash val="solid"/>
          </a:ln>
        </p:spPr>
      </p:sp>
      <p:sp>
        <p:nvSpPr>
          <p:cNvPr id="25" name="Text 23"/>
          <p:cNvSpPr/>
          <p:nvPr/>
        </p:nvSpPr>
        <p:spPr>
          <a:xfrm>
            <a:off x="4754880" y="1005840"/>
            <a:ext cx="347472"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6" name="Text 24"/>
          <p:cNvSpPr/>
          <p:nvPr/>
        </p:nvSpPr>
        <p:spPr>
          <a:xfrm>
            <a:off x="5175504" y="1024128"/>
            <a:ext cx="3749040" cy="228600"/>
          </a:xfrm>
          <a:prstGeom prst="rect">
            <a:avLst/>
          </a:prstGeom>
          <a:noFill/>
          <a:ln/>
        </p:spPr>
        <p:txBody>
          <a:bodyPr wrap="square" lIns="0" tIns="0" rIns="0" bIns="0" rtlCol="0" anchor="ctr"/>
          <a:lstStyle/>
          <a:p>
            <a:pPr marL="0" indent="0">
              <a:buNone/>
            </a:pPr>
            <a:r>
              <a:rPr lang="en-US" sz="1200" b="1" dirty="0">
                <a:solidFill>
                  <a:srgbClr val="1A3C1A"/>
                </a:solidFill>
                <a:latin typeface="Calibri" pitchFamily="34" charset="0"/>
                <a:ea typeface="Calibri" pitchFamily="34" charset="-122"/>
                <a:cs typeface="Calibri" pitchFamily="34" charset="-120"/>
              </a:rPr>
              <a:t>Solution Implementation</a:t>
            </a:r>
            <a:endParaRPr lang="en-US" sz="1200" dirty="0"/>
          </a:p>
        </p:txBody>
      </p:sp>
      <p:sp>
        <p:nvSpPr>
          <p:cNvPr id="27" name="Text 25"/>
          <p:cNvSpPr/>
          <p:nvPr/>
        </p:nvSpPr>
        <p:spPr>
          <a:xfrm>
            <a:off x="5175504" y="1252728"/>
            <a:ext cx="3749040" cy="182880"/>
          </a:xfrm>
          <a:prstGeom prst="rect">
            <a:avLst/>
          </a:prstGeom>
          <a:noFill/>
          <a:ln/>
        </p:spPr>
        <p:txBody>
          <a:bodyPr wrap="square" lIns="0" tIns="0" rIns="0" bIns="0" rtlCol="0" anchor="ctr"/>
          <a:lstStyle/>
          <a:p>
            <a:pPr marL="0" indent="0">
              <a:buNone/>
            </a:pPr>
            <a:r>
              <a:rPr lang="en-US" sz="1000" dirty="0">
                <a:solidFill>
                  <a:srgbClr val="546E7A"/>
                </a:solidFill>
                <a:latin typeface="Calibri" pitchFamily="34" charset="0"/>
                <a:ea typeface="Calibri" pitchFamily="34" charset="-122"/>
                <a:cs typeface="Calibri" pitchFamily="34" charset="-120"/>
              </a:rPr>
              <a:t>Modules, methodology, timeline, budget, and testing</a:t>
            </a:r>
            <a:endParaRPr lang="en-US" sz="1000" dirty="0"/>
          </a:p>
        </p:txBody>
      </p:sp>
      <p:sp>
        <p:nvSpPr>
          <p:cNvPr id="28" name="Shape 26"/>
          <p:cNvSpPr/>
          <p:nvPr/>
        </p:nvSpPr>
        <p:spPr>
          <a:xfrm>
            <a:off x="4754880" y="1773936"/>
            <a:ext cx="347472" cy="457200"/>
          </a:xfrm>
          <a:prstGeom prst="rect">
            <a:avLst/>
          </a:prstGeom>
          <a:solidFill>
            <a:srgbClr val="2E7D32"/>
          </a:solidFill>
          <a:ln w="12700">
            <a:solidFill>
              <a:srgbClr val="2E7D32"/>
            </a:solidFill>
            <a:prstDash val="solid"/>
          </a:ln>
        </p:spPr>
      </p:sp>
      <p:sp>
        <p:nvSpPr>
          <p:cNvPr id="29" name="Text 27"/>
          <p:cNvSpPr/>
          <p:nvPr/>
        </p:nvSpPr>
        <p:spPr>
          <a:xfrm>
            <a:off x="4754880" y="1773936"/>
            <a:ext cx="347472"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0" name="Text 28"/>
          <p:cNvSpPr/>
          <p:nvPr/>
        </p:nvSpPr>
        <p:spPr>
          <a:xfrm>
            <a:off x="5175504" y="1792224"/>
            <a:ext cx="3749040" cy="228600"/>
          </a:xfrm>
          <a:prstGeom prst="rect">
            <a:avLst/>
          </a:prstGeom>
          <a:noFill/>
          <a:ln/>
        </p:spPr>
        <p:txBody>
          <a:bodyPr wrap="square" lIns="0" tIns="0" rIns="0" bIns="0" rtlCol="0" anchor="ctr"/>
          <a:lstStyle/>
          <a:p>
            <a:pPr marL="0" indent="0">
              <a:buNone/>
            </a:pPr>
            <a:r>
              <a:rPr lang="en-US" sz="1200" b="1" dirty="0">
                <a:solidFill>
                  <a:srgbClr val="1A3C1A"/>
                </a:solidFill>
                <a:latin typeface="Calibri" pitchFamily="34" charset="0"/>
                <a:ea typeface="Calibri" pitchFamily="34" charset="-122"/>
                <a:cs typeface="Calibri" pitchFamily="34" charset="-120"/>
              </a:rPr>
              <a:t>Further Development</a:t>
            </a:r>
            <a:endParaRPr lang="en-US" sz="1200" dirty="0"/>
          </a:p>
        </p:txBody>
      </p:sp>
      <p:sp>
        <p:nvSpPr>
          <p:cNvPr id="31" name="Text 29"/>
          <p:cNvSpPr/>
          <p:nvPr/>
        </p:nvSpPr>
        <p:spPr>
          <a:xfrm>
            <a:off x="5175504" y="2020824"/>
            <a:ext cx="3749040" cy="182880"/>
          </a:xfrm>
          <a:prstGeom prst="rect">
            <a:avLst/>
          </a:prstGeom>
          <a:noFill/>
          <a:ln/>
        </p:spPr>
        <p:txBody>
          <a:bodyPr wrap="square" lIns="0" tIns="0" rIns="0" bIns="0" rtlCol="0" anchor="ctr"/>
          <a:lstStyle/>
          <a:p>
            <a:pPr marL="0" indent="0">
              <a:buNone/>
            </a:pPr>
            <a:r>
              <a:rPr lang="en-US" sz="1000" dirty="0">
                <a:solidFill>
                  <a:srgbClr val="546E7A"/>
                </a:solidFill>
                <a:latin typeface="Calibri" pitchFamily="34" charset="0"/>
                <a:ea typeface="Calibri" pitchFamily="34" charset="-122"/>
                <a:cs typeface="Calibri" pitchFamily="34" charset="-120"/>
              </a:rPr>
              <a:t>What would be improved with more time</a:t>
            </a:r>
            <a:endParaRPr lang="en-US" sz="1000" dirty="0"/>
          </a:p>
        </p:txBody>
      </p:sp>
      <p:sp>
        <p:nvSpPr>
          <p:cNvPr id="32" name="Shape 30"/>
          <p:cNvSpPr/>
          <p:nvPr/>
        </p:nvSpPr>
        <p:spPr>
          <a:xfrm>
            <a:off x="4754880" y="2542032"/>
            <a:ext cx="347472" cy="457200"/>
          </a:xfrm>
          <a:prstGeom prst="rect">
            <a:avLst/>
          </a:prstGeom>
          <a:solidFill>
            <a:srgbClr val="2E7D32"/>
          </a:solidFill>
          <a:ln w="12700">
            <a:solidFill>
              <a:srgbClr val="2E7D32"/>
            </a:solidFill>
            <a:prstDash val="solid"/>
          </a:ln>
        </p:spPr>
      </p:sp>
      <p:sp>
        <p:nvSpPr>
          <p:cNvPr id="33" name="Text 31"/>
          <p:cNvSpPr/>
          <p:nvPr/>
        </p:nvSpPr>
        <p:spPr>
          <a:xfrm>
            <a:off x="4754880" y="2542032"/>
            <a:ext cx="347472"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4" name="Text 32"/>
          <p:cNvSpPr/>
          <p:nvPr/>
        </p:nvSpPr>
        <p:spPr>
          <a:xfrm>
            <a:off x="5175504" y="2560320"/>
            <a:ext cx="3749040" cy="228600"/>
          </a:xfrm>
          <a:prstGeom prst="rect">
            <a:avLst/>
          </a:prstGeom>
          <a:noFill/>
          <a:ln/>
        </p:spPr>
        <p:txBody>
          <a:bodyPr wrap="square" lIns="0" tIns="0" rIns="0" bIns="0" rtlCol="0" anchor="ctr"/>
          <a:lstStyle/>
          <a:p>
            <a:pPr marL="0" indent="0">
              <a:buNone/>
            </a:pPr>
            <a:r>
              <a:rPr lang="en-US" sz="1200" b="1" dirty="0">
                <a:solidFill>
                  <a:srgbClr val="1A3C1A"/>
                </a:solidFill>
                <a:latin typeface="Calibri" pitchFamily="34" charset="0"/>
                <a:ea typeface="Calibri" pitchFamily="34" charset="-122"/>
                <a:cs typeface="Calibri" pitchFamily="34" charset="-120"/>
              </a:rPr>
              <a:t>Conclusion</a:t>
            </a:r>
            <a:endParaRPr lang="en-US" sz="1200" dirty="0"/>
          </a:p>
        </p:txBody>
      </p:sp>
      <p:sp>
        <p:nvSpPr>
          <p:cNvPr id="35" name="Text 33"/>
          <p:cNvSpPr/>
          <p:nvPr/>
        </p:nvSpPr>
        <p:spPr>
          <a:xfrm>
            <a:off x="5175504" y="2788920"/>
            <a:ext cx="3749040" cy="182880"/>
          </a:xfrm>
          <a:prstGeom prst="rect">
            <a:avLst/>
          </a:prstGeom>
          <a:noFill/>
          <a:ln/>
        </p:spPr>
        <p:txBody>
          <a:bodyPr wrap="square" lIns="0" tIns="0" rIns="0" bIns="0" rtlCol="0" anchor="ctr"/>
          <a:lstStyle/>
          <a:p>
            <a:pPr marL="0" indent="0">
              <a:buNone/>
            </a:pPr>
            <a:r>
              <a:rPr lang="en-US" sz="1000" dirty="0">
                <a:solidFill>
                  <a:srgbClr val="546E7A"/>
                </a:solidFill>
                <a:latin typeface="Calibri" pitchFamily="34" charset="0"/>
                <a:ea typeface="Calibri" pitchFamily="34" charset="-122"/>
                <a:cs typeface="Calibri" pitchFamily="34" charset="-120"/>
              </a:rPr>
              <a:t>Key takeaways and final summary</a:t>
            </a:r>
            <a:endParaRPr lang="en-US" sz="1000" dirty="0"/>
          </a:p>
        </p:txBody>
      </p:sp>
      <p:sp>
        <p:nvSpPr>
          <p:cNvPr id="36" name="Shape 34"/>
          <p:cNvSpPr/>
          <p:nvPr/>
        </p:nvSpPr>
        <p:spPr>
          <a:xfrm>
            <a:off x="4754880" y="3310128"/>
            <a:ext cx="347472" cy="457200"/>
          </a:xfrm>
          <a:prstGeom prst="rect">
            <a:avLst/>
          </a:prstGeom>
          <a:solidFill>
            <a:srgbClr val="2E7D32"/>
          </a:solidFill>
          <a:ln w="12700">
            <a:solidFill>
              <a:srgbClr val="2E7D32"/>
            </a:solidFill>
            <a:prstDash val="solid"/>
          </a:ln>
        </p:spPr>
      </p:sp>
      <p:sp>
        <p:nvSpPr>
          <p:cNvPr id="37" name="Text 35"/>
          <p:cNvSpPr/>
          <p:nvPr/>
        </p:nvSpPr>
        <p:spPr>
          <a:xfrm>
            <a:off x="4754880" y="3310128"/>
            <a:ext cx="347472"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8" name="Text 36"/>
          <p:cNvSpPr/>
          <p:nvPr/>
        </p:nvSpPr>
        <p:spPr>
          <a:xfrm>
            <a:off x="5175504" y="3328416"/>
            <a:ext cx="3749040" cy="228600"/>
          </a:xfrm>
          <a:prstGeom prst="rect">
            <a:avLst/>
          </a:prstGeom>
          <a:noFill/>
          <a:ln/>
        </p:spPr>
        <p:txBody>
          <a:bodyPr wrap="square" lIns="0" tIns="0" rIns="0" bIns="0" rtlCol="0" anchor="ctr"/>
          <a:lstStyle/>
          <a:p>
            <a:pPr marL="0" indent="0">
              <a:buNone/>
            </a:pPr>
            <a:r>
              <a:rPr lang="en-US" sz="1200" b="1" dirty="0">
                <a:solidFill>
                  <a:srgbClr val="1A3C1A"/>
                </a:solidFill>
                <a:latin typeface="Calibri" pitchFamily="34" charset="0"/>
                <a:ea typeface="Calibri" pitchFamily="34" charset="-122"/>
                <a:cs typeface="Calibri" pitchFamily="34" charset="-120"/>
              </a:rPr>
              <a:t>Questions &amp; Discussion</a:t>
            </a:r>
            <a:endParaRPr lang="en-US" sz="1200" dirty="0"/>
          </a:p>
        </p:txBody>
      </p:sp>
      <p:sp>
        <p:nvSpPr>
          <p:cNvPr id="39" name="Text 37"/>
          <p:cNvSpPr/>
          <p:nvPr/>
        </p:nvSpPr>
        <p:spPr>
          <a:xfrm>
            <a:off x="5175504" y="3557016"/>
            <a:ext cx="3749040" cy="182880"/>
          </a:xfrm>
          <a:prstGeom prst="rect">
            <a:avLst/>
          </a:prstGeom>
          <a:noFill/>
          <a:ln/>
        </p:spPr>
        <p:txBody>
          <a:bodyPr wrap="square" lIns="0" tIns="0" rIns="0" bIns="0" rtlCol="0" anchor="ctr"/>
          <a:lstStyle/>
          <a:p>
            <a:pPr marL="0" indent="0">
              <a:buNone/>
            </a:pPr>
            <a:r>
              <a:rPr lang="en-US" sz="1000" dirty="0">
                <a:solidFill>
                  <a:srgbClr val="546E7A"/>
                </a:solidFill>
                <a:latin typeface="Calibri" pitchFamily="34" charset="0"/>
                <a:ea typeface="Calibri" pitchFamily="34" charset="-122"/>
                <a:cs typeface="Calibri" pitchFamily="34" charset="-120"/>
              </a:rPr>
              <a:t>Open floor for questions</a:t>
            </a:r>
            <a:endParaRPr lang="en-US" sz="1000" dirty="0"/>
          </a:p>
        </p:txBody>
      </p:sp>
      <p:sp>
        <p:nvSpPr>
          <p:cNvPr id="40" name="Text 38"/>
          <p:cNvSpPr/>
          <p:nvPr/>
        </p:nvSpPr>
        <p:spPr>
          <a:xfrm>
            <a:off x="365760" y="4892040"/>
            <a:ext cx="8412480" cy="201168"/>
          </a:xfrm>
          <a:prstGeom prst="rect">
            <a:avLst/>
          </a:prstGeom>
          <a:noFill/>
          <a:ln/>
        </p:spPr>
        <p:txBody>
          <a:bodyPr wrap="square" lIns="0" tIns="0" rIns="0" bIns="0" rtlCol="0" anchor="ctr"/>
          <a:lstStyle/>
          <a:p>
            <a:pPr marL="0" indent="0" algn="r">
              <a:buNone/>
            </a:pPr>
            <a:r>
              <a:rPr lang="en-US" sz="900" i="1" dirty="0">
                <a:solidFill>
                  <a:srgbClr val="AAAAAA"/>
                </a:solidFill>
                <a:latin typeface="Calibri" pitchFamily="34" charset="0"/>
                <a:ea typeface="Calibri" pitchFamily="34" charset="-122"/>
                <a:cs typeface="Calibri" pitchFamily="34" charset="-120"/>
              </a:rPr>
              <a:t>Avishek Pandey  |  IT Project Management  |  IT Student Management System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C1A"/>
          </a:solidFill>
          <a:ln w="12700">
            <a:solidFill>
              <a:srgbClr val="1A3C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Section 1  |  Introduction</a:t>
            </a:r>
            <a:endParaRPr lang="en-US" sz="2400" dirty="0"/>
          </a:p>
        </p:txBody>
      </p:sp>
      <p:sp>
        <p:nvSpPr>
          <p:cNvPr id="4" name="Text 2"/>
          <p:cNvSpPr/>
          <p:nvPr/>
        </p:nvSpPr>
        <p:spPr>
          <a:xfrm>
            <a:off x="365760" y="914400"/>
            <a:ext cx="3931920" cy="274320"/>
          </a:xfrm>
          <a:prstGeom prst="rect">
            <a:avLst/>
          </a:prstGeom>
          <a:noFill/>
          <a:ln/>
        </p:spPr>
        <p:txBody>
          <a:bodyPr wrap="square" lIns="0" tIns="0" rIns="0" bIns="0" rtlCol="0" anchor="ctr"/>
          <a:lstStyle/>
          <a:p>
            <a:pPr marL="0" indent="0">
              <a:buNone/>
            </a:pPr>
            <a:r>
              <a:rPr lang="en-US" sz="1400" b="1" dirty="0">
                <a:solidFill>
                  <a:srgbClr val="1A3C1A"/>
                </a:solidFill>
                <a:latin typeface="Calibri" pitchFamily="34" charset="0"/>
                <a:ea typeface="Calibri" pitchFamily="34" charset="-122"/>
                <a:cs typeface="Calibri" pitchFamily="34" charset="-120"/>
              </a:rPr>
              <a:t>About Me</a:t>
            </a:r>
            <a:endParaRPr lang="en-US" sz="1400" dirty="0"/>
          </a:p>
        </p:txBody>
      </p:sp>
      <p:sp>
        <p:nvSpPr>
          <p:cNvPr id="5" name="Shape 3"/>
          <p:cNvSpPr/>
          <p:nvPr/>
        </p:nvSpPr>
        <p:spPr>
          <a:xfrm>
            <a:off x="365760" y="1261872"/>
            <a:ext cx="1371600" cy="402336"/>
          </a:xfrm>
          <a:prstGeom prst="rect">
            <a:avLst/>
          </a:prstGeom>
          <a:solidFill>
            <a:srgbClr val="1A3C1A"/>
          </a:solidFill>
          <a:ln w="12700">
            <a:solidFill>
              <a:srgbClr val="1A3C1A"/>
            </a:solidFill>
            <a:prstDash val="solid"/>
          </a:ln>
        </p:spPr>
      </p:sp>
      <p:sp>
        <p:nvSpPr>
          <p:cNvPr id="6" name="Text 4"/>
          <p:cNvSpPr/>
          <p:nvPr/>
        </p:nvSpPr>
        <p:spPr>
          <a:xfrm>
            <a:off x="365760" y="1261872"/>
            <a:ext cx="137160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Name</a:t>
            </a:r>
            <a:endParaRPr lang="en-US" sz="1100" dirty="0"/>
          </a:p>
        </p:txBody>
      </p:sp>
      <p:sp>
        <p:nvSpPr>
          <p:cNvPr id="7" name="Shape 5"/>
          <p:cNvSpPr/>
          <p:nvPr/>
        </p:nvSpPr>
        <p:spPr>
          <a:xfrm>
            <a:off x="1737360" y="1261872"/>
            <a:ext cx="2468880" cy="402336"/>
          </a:xfrm>
          <a:prstGeom prst="rect">
            <a:avLst/>
          </a:prstGeom>
          <a:solidFill>
            <a:srgbClr val="E8F5E9"/>
          </a:solidFill>
          <a:ln w="6350">
            <a:solidFill>
              <a:srgbClr val="C8E6C9"/>
            </a:solidFill>
            <a:prstDash val="solid"/>
          </a:ln>
        </p:spPr>
      </p:sp>
      <p:sp>
        <p:nvSpPr>
          <p:cNvPr id="8" name="Text 6"/>
          <p:cNvSpPr/>
          <p:nvPr/>
        </p:nvSpPr>
        <p:spPr>
          <a:xfrm>
            <a:off x="1828800" y="1261872"/>
            <a:ext cx="2286000" cy="402336"/>
          </a:xfrm>
          <a:prstGeom prst="rect">
            <a:avLst/>
          </a:prstGeom>
          <a:noFill/>
          <a:ln/>
        </p:spPr>
        <p:txBody>
          <a:bodyPr wrap="square" lIns="0" tIns="0" rIns="0" bIns="0" rtlCol="0" anchor="ctr"/>
          <a:lstStyle/>
          <a:p>
            <a:pPr marL="0" indent="0">
              <a:buNone/>
            </a:pPr>
            <a:r>
              <a:rPr lang="en-US" sz="1100" dirty="0">
                <a:solidFill>
                  <a:srgbClr val="212121"/>
                </a:solidFill>
                <a:latin typeface="Calibri" pitchFamily="34" charset="0"/>
                <a:ea typeface="Calibri" pitchFamily="34" charset="-122"/>
                <a:cs typeface="Calibri" pitchFamily="34" charset="-120"/>
              </a:rPr>
              <a:t>Avishek Pandey</a:t>
            </a:r>
            <a:endParaRPr lang="en-US" sz="1100" dirty="0"/>
          </a:p>
        </p:txBody>
      </p:sp>
      <p:sp>
        <p:nvSpPr>
          <p:cNvPr id="9" name="Shape 7"/>
          <p:cNvSpPr/>
          <p:nvPr/>
        </p:nvSpPr>
        <p:spPr>
          <a:xfrm>
            <a:off x="365760" y="1737360"/>
            <a:ext cx="1371600" cy="402336"/>
          </a:xfrm>
          <a:prstGeom prst="rect">
            <a:avLst/>
          </a:prstGeom>
          <a:solidFill>
            <a:srgbClr val="1A3C1A"/>
          </a:solidFill>
          <a:ln w="12700">
            <a:solidFill>
              <a:srgbClr val="1A3C1A"/>
            </a:solidFill>
            <a:prstDash val="solid"/>
          </a:ln>
        </p:spPr>
      </p:sp>
      <p:sp>
        <p:nvSpPr>
          <p:cNvPr id="10" name="Text 8"/>
          <p:cNvSpPr/>
          <p:nvPr/>
        </p:nvSpPr>
        <p:spPr>
          <a:xfrm>
            <a:off x="365760" y="1737360"/>
            <a:ext cx="137160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Course</a:t>
            </a:r>
            <a:endParaRPr lang="en-US" sz="1100" dirty="0"/>
          </a:p>
        </p:txBody>
      </p:sp>
      <p:sp>
        <p:nvSpPr>
          <p:cNvPr id="11" name="Shape 9"/>
          <p:cNvSpPr/>
          <p:nvPr/>
        </p:nvSpPr>
        <p:spPr>
          <a:xfrm>
            <a:off x="1737360" y="1737360"/>
            <a:ext cx="2468880" cy="402336"/>
          </a:xfrm>
          <a:prstGeom prst="rect">
            <a:avLst/>
          </a:prstGeom>
          <a:solidFill>
            <a:srgbClr val="E8F5E9"/>
          </a:solidFill>
          <a:ln w="6350">
            <a:solidFill>
              <a:srgbClr val="C8E6C9"/>
            </a:solidFill>
            <a:prstDash val="solid"/>
          </a:ln>
        </p:spPr>
      </p:sp>
      <p:sp>
        <p:nvSpPr>
          <p:cNvPr id="12" name="Text 10"/>
          <p:cNvSpPr/>
          <p:nvPr/>
        </p:nvSpPr>
        <p:spPr>
          <a:xfrm>
            <a:off x="1828800" y="1737360"/>
            <a:ext cx="2286000" cy="402336"/>
          </a:xfrm>
          <a:prstGeom prst="rect">
            <a:avLst/>
          </a:prstGeom>
          <a:noFill/>
          <a:ln/>
        </p:spPr>
        <p:txBody>
          <a:bodyPr wrap="square" lIns="0" tIns="0" rIns="0" bIns="0" rtlCol="0" anchor="ctr"/>
          <a:lstStyle/>
          <a:p>
            <a:pPr marL="0" indent="0">
              <a:buNone/>
            </a:pPr>
            <a:r>
              <a:rPr lang="en-US" sz="1100" dirty="0">
                <a:solidFill>
                  <a:srgbClr val="212121"/>
                </a:solidFill>
                <a:latin typeface="Calibri" pitchFamily="34" charset="0"/>
                <a:ea typeface="Calibri" pitchFamily="34" charset="-122"/>
                <a:cs typeface="Calibri" pitchFamily="34" charset="-120"/>
              </a:rPr>
              <a:t>IT Project Management</a:t>
            </a:r>
            <a:endParaRPr lang="en-US" sz="1100" dirty="0"/>
          </a:p>
        </p:txBody>
      </p:sp>
      <p:sp>
        <p:nvSpPr>
          <p:cNvPr id="13" name="Shape 11"/>
          <p:cNvSpPr/>
          <p:nvPr/>
        </p:nvSpPr>
        <p:spPr>
          <a:xfrm>
            <a:off x="365760" y="2212848"/>
            <a:ext cx="1371600" cy="402336"/>
          </a:xfrm>
          <a:prstGeom prst="rect">
            <a:avLst/>
          </a:prstGeom>
          <a:solidFill>
            <a:srgbClr val="1A3C1A"/>
          </a:solidFill>
          <a:ln w="12700">
            <a:solidFill>
              <a:srgbClr val="1A3C1A"/>
            </a:solidFill>
            <a:prstDash val="solid"/>
          </a:ln>
        </p:spPr>
      </p:sp>
      <p:sp>
        <p:nvSpPr>
          <p:cNvPr id="14" name="Text 12"/>
          <p:cNvSpPr/>
          <p:nvPr/>
        </p:nvSpPr>
        <p:spPr>
          <a:xfrm>
            <a:off x="365760" y="2212848"/>
            <a:ext cx="137160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Supervisor</a:t>
            </a:r>
            <a:endParaRPr lang="en-US" sz="1100" dirty="0"/>
          </a:p>
        </p:txBody>
      </p:sp>
      <p:sp>
        <p:nvSpPr>
          <p:cNvPr id="15" name="Shape 13"/>
          <p:cNvSpPr/>
          <p:nvPr/>
        </p:nvSpPr>
        <p:spPr>
          <a:xfrm>
            <a:off x="1737360" y="2212848"/>
            <a:ext cx="2468880" cy="402336"/>
          </a:xfrm>
          <a:prstGeom prst="rect">
            <a:avLst/>
          </a:prstGeom>
          <a:solidFill>
            <a:srgbClr val="E8F5E9"/>
          </a:solidFill>
          <a:ln w="6350">
            <a:solidFill>
              <a:srgbClr val="C8E6C9"/>
            </a:solidFill>
            <a:prstDash val="solid"/>
          </a:ln>
        </p:spPr>
      </p:sp>
      <p:sp>
        <p:nvSpPr>
          <p:cNvPr id="16" name="Text 14"/>
          <p:cNvSpPr/>
          <p:nvPr/>
        </p:nvSpPr>
        <p:spPr>
          <a:xfrm>
            <a:off x="1828800" y="2212848"/>
            <a:ext cx="2286000" cy="402336"/>
          </a:xfrm>
          <a:prstGeom prst="rect">
            <a:avLst/>
          </a:prstGeom>
          <a:noFill/>
          <a:ln/>
        </p:spPr>
        <p:txBody>
          <a:bodyPr wrap="square" lIns="0" tIns="0" rIns="0" bIns="0" rtlCol="0" anchor="ctr"/>
          <a:lstStyle/>
          <a:p>
            <a:pPr marL="0" indent="0">
              <a:buNone/>
            </a:pPr>
            <a:r>
              <a:rPr lang="en-US" sz="1100" dirty="0">
                <a:solidFill>
                  <a:srgbClr val="212121"/>
                </a:solidFill>
                <a:latin typeface="Calibri" pitchFamily="34" charset="0"/>
                <a:ea typeface="Calibri" pitchFamily="34" charset="-122"/>
                <a:cs typeface="Calibri" pitchFamily="34" charset="-120"/>
              </a:rPr>
              <a:t>Prof. Deevya Seengal</a:t>
            </a:r>
            <a:endParaRPr lang="en-US" sz="1100" dirty="0"/>
          </a:p>
        </p:txBody>
      </p:sp>
      <p:sp>
        <p:nvSpPr>
          <p:cNvPr id="17" name="Shape 15"/>
          <p:cNvSpPr/>
          <p:nvPr/>
        </p:nvSpPr>
        <p:spPr>
          <a:xfrm>
            <a:off x="365760" y="2688336"/>
            <a:ext cx="1371600" cy="402336"/>
          </a:xfrm>
          <a:prstGeom prst="rect">
            <a:avLst/>
          </a:prstGeom>
          <a:solidFill>
            <a:srgbClr val="1A3C1A"/>
          </a:solidFill>
          <a:ln w="12700">
            <a:solidFill>
              <a:srgbClr val="1A3C1A"/>
            </a:solidFill>
            <a:prstDash val="solid"/>
          </a:ln>
        </p:spPr>
      </p:sp>
      <p:sp>
        <p:nvSpPr>
          <p:cNvPr id="18" name="Text 16"/>
          <p:cNvSpPr/>
          <p:nvPr/>
        </p:nvSpPr>
        <p:spPr>
          <a:xfrm>
            <a:off x="365760" y="2688336"/>
            <a:ext cx="137160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Duration</a:t>
            </a:r>
            <a:endParaRPr lang="en-US" sz="1100" dirty="0"/>
          </a:p>
        </p:txBody>
      </p:sp>
      <p:sp>
        <p:nvSpPr>
          <p:cNvPr id="19" name="Shape 17"/>
          <p:cNvSpPr/>
          <p:nvPr/>
        </p:nvSpPr>
        <p:spPr>
          <a:xfrm>
            <a:off x="1737360" y="2688336"/>
            <a:ext cx="2468880" cy="402336"/>
          </a:xfrm>
          <a:prstGeom prst="rect">
            <a:avLst/>
          </a:prstGeom>
          <a:solidFill>
            <a:srgbClr val="E8F5E9"/>
          </a:solidFill>
          <a:ln w="6350">
            <a:solidFill>
              <a:srgbClr val="C8E6C9"/>
            </a:solidFill>
            <a:prstDash val="solid"/>
          </a:ln>
        </p:spPr>
      </p:sp>
      <p:sp>
        <p:nvSpPr>
          <p:cNvPr id="20" name="Text 18"/>
          <p:cNvSpPr/>
          <p:nvPr/>
        </p:nvSpPr>
        <p:spPr>
          <a:xfrm>
            <a:off x="1828800" y="2688336"/>
            <a:ext cx="2286000" cy="402336"/>
          </a:xfrm>
          <a:prstGeom prst="rect">
            <a:avLst/>
          </a:prstGeom>
          <a:noFill/>
          <a:ln/>
        </p:spPr>
        <p:txBody>
          <a:bodyPr wrap="square" lIns="0" tIns="0" rIns="0" bIns="0" rtlCol="0" anchor="ctr"/>
          <a:lstStyle/>
          <a:p>
            <a:pPr marL="0" indent="0">
              <a:buNone/>
            </a:pPr>
            <a:r>
              <a:rPr lang="en-US" sz="1100" dirty="0">
                <a:solidFill>
                  <a:srgbClr val="212121"/>
                </a:solidFill>
                <a:latin typeface="Calibri" pitchFamily="34" charset="0"/>
                <a:ea typeface="Calibri" pitchFamily="34" charset="-122"/>
                <a:cs typeface="Calibri" pitchFamily="34" charset="-120"/>
              </a:rPr>
              <a:t>13 Weeks</a:t>
            </a:r>
            <a:endParaRPr lang="en-US" sz="1100" dirty="0"/>
          </a:p>
        </p:txBody>
      </p:sp>
      <p:sp>
        <p:nvSpPr>
          <p:cNvPr id="21" name="Shape 19"/>
          <p:cNvSpPr/>
          <p:nvPr/>
        </p:nvSpPr>
        <p:spPr>
          <a:xfrm>
            <a:off x="365760" y="3163824"/>
            <a:ext cx="1371600" cy="402336"/>
          </a:xfrm>
          <a:prstGeom prst="rect">
            <a:avLst/>
          </a:prstGeom>
          <a:solidFill>
            <a:srgbClr val="1A3C1A"/>
          </a:solidFill>
          <a:ln w="12700">
            <a:solidFill>
              <a:srgbClr val="1A3C1A"/>
            </a:solidFill>
            <a:prstDash val="solid"/>
          </a:ln>
        </p:spPr>
      </p:sp>
      <p:sp>
        <p:nvSpPr>
          <p:cNvPr id="22" name="Text 20"/>
          <p:cNvSpPr/>
          <p:nvPr/>
        </p:nvSpPr>
        <p:spPr>
          <a:xfrm>
            <a:off x="365760" y="3163824"/>
            <a:ext cx="137160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p>
        </p:txBody>
      </p:sp>
      <p:sp>
        <p:nvSpPr>
          <p:cNvPr id="23" name="Shape 21"/>
          <p:cNvSpPr/>
          <p:nvPr/>
        </p:nvSpPr>
        <p:spPr>
          <a:xfrm>
            <a:off x="1737360" y="3163824"/>
            <a:ext cx="2468880" cy="402336"/>
          </a:xfrm>
          <a:prstGeom prst="rect">
            <a:avLst/>
          </a:prstGeom>
          <a:solidFill>
            <a:srgbClr val="E8F5E9"/>
          </a:solidFill>
          <a:ln w="6350">
            <a:solidFill>
              <a:srgbClr val="C8E6C9"/>
            </a:solidFill>
            <a:prstDash val="solid"/>
          </a:ln>
        </p:spPr>
      </p:sp>
      <p:sp>
        <p:nvSpPr>
          <p:cNvPr id="24" name="Text 22"/>
          <p:cNvSpPr/>
          <p:nvPr/>
        </p:nvSpPr>
        <p:spPr>
          <a:xfrm>
            <a:off x="1828800" y="3163824"/>
            <a:ext cx="2286000" cy="402336"/>
          </a:xfrm>
          <a:prstGeom prst="rect">
            <a:avLst/>
          </a:prstGeom>
          <a:noFill/>
          <a:ln/>
        </p:spPr>
        <p:txBody>
          <a:bodyPr wrap="square" lIns="0" tIns="0" rIns="0" bIns="0" rtlCol="0" anchor="ctr"/>
          <a:lstStyle/>
          <a:p>
            <a:pPr marL="0" indent="0">
              <a:buNone/>
            </a:pPr>
            <a:r>
              <a:rPr lang="en-US" sz="1100" dirty="0">
                <a:solidFill>
                  <a:srgbClr val="212121"/>
                </a:solidFill>
                <a:latin typeface="Calibri" pitchFamily="34" charset="0"/>
                <a:ea typeface="Calibri" pitchFamily="34" charset="-122"/>
                <a:cs typeface="Calibri" pitchFamily="34" charset="-120"/>
              </a:rPr>
              <a:t>Agile – Scrum</a:t>
            </a:r>
            <a:endParaRPr lang="en-US" sz="1100" dirty="0"/>
          </a:p>
        </p:txBody>
      </p:sp>
      <p:sp>
        <p:nvSpPr>
          <p:cNvPr id="25" name="Text 23"/>
          <p:cNvSpPr/>
          <p:nvPr/>
        </p:nvSpPr>
        <p:spPr>
          <a:xfrm>
            <a:off x="4663440" y="914400"/>
            <a:ext cx="4114800" cy="274320"/>
          </a:xfrm>
          <a:prstGeom prst="rect">
            <a:avLst/>
          </a:prstGeom>
          <a:noFill/>
          <a:ln/>
        </p:spPr>
        <p:txBody>
          <a:bodyPr wrap="square" lIns="0" tIns="0" rIns="0" bIns="0" rtlCol="0" anchor="ctr"/>
          <a:lstStyle/>
          <a:p>
            <a:pPr marL="0" indent="0">
              <a:buNone/>
            </a:pPr>
            <a:r>
              <a:rPr lang="en-US" sz="1400" b="1" dirty="0">
                <a:solidFill>
                  <a:srgbClr val="1A3C1A"/>
                </a:solidFill>
                <a:latin typeface="Calibri" pitchFamily="34" charset="0"/>
                <a:ea typeface="Calibri" pitchFamily="34" charset="-122"/>
                <a:cs typeface="Calibri" pitchFamily="34" charset="-120"/>
              </a:rPr>
              <a:t>About the Project</a:t>
            </a:r>
            <a:endParaRPr lang="en-US" sz="1400" dirty="0"/>
          </a:p>
        </p:txBody>
      </p:sp>
      <p:sp>
        <p:nvSpPr>
          <p:cNvPr id="26" name="Text 24"/>
          <p:cNvSpPr/>
          <p:nvPr/>
        </p:nvSpPr>
        <p:spPr>
          <a:xfrm>
            <a:off x="4663440" y="1234440"/>
            <a:ext cx="4114800" cy="822960"/>
          </a:xfrm>
          <a:prstGeom prst="rect">
            <a:avLst/>
          </a:prstGeom>
          <a:noFill/>
          <a:ln/>
        </p:spPr>
        <p:txBody>
          <a:bodyPr wrap="square" lIns="0" tIns="0" rIns="0" bIns="0" rtlCol="0" anchor="ctr"/>
          <a:lstStyle/>
          <a:p>
            <a:pPr marL="0" indent="0">
              <a:buNone/>
            </a:pPr>
            <a:r>
              <a:rPr lang="en-US" sz="1150" dirty="0">
                <a:solidFill>
                  <a:srgbClr val="212121"/>
                </a:solidFill>
                <a:latin typeface="Calibri" pitchFamily="34" charset="0"/>
                <a:ea typeface="Calibri" pitchFamily="34" charset="-122"/>
                <a:cs typeface="Calibri" pitchFamily="34" charset="-120"/>
              </a:rPr>
              <a:t>The IT Student Management System is a web-based platform that helps schools manage everything in one place — student records, class materials, attendance, grades, and user accounts.</a:t>
            </a:r>
            <a:endParaRPr lang="en-US" sz="1150" dirty="0"/>
          </a:p>
        </p:txBody>
      </p:sp>
      <p:sp>
        <p:nvSpPr>
          <p:cNvPr id="27" name="Text 25"/>
          <p:cNvSpPr/>
          <p:nvPr/>
        </p:nvSpPr>
        <p:spPr>
          <a:xfrm>
            <a:off x="4663440" y="2103120"/>
            <a:ext cx="4114800" cy="256032"/>
          </a:xfrm>
          <a:prstGeom prst="rect">
            <a:avLst/>
          </a:prstGeom>
          <a:noFill/>
          <a:ln/>
        </p:spPr>
        <p:txBody>
          <a:bodyPr wrap="square" lIns="0" tIns="0" rIns="0" bIns="0" rtlCol="0" anchor="ctr"/>
          <a:lstStyle/>
          <a:p>
            <a:pPr marL="0" indent="0">
              <a:buNone/>
            </a:pPr>
            <a:r>
              <a:rPr lang="en-US" sz="1150" b="1" dirty="0">
                <a:solidFill>
                  <a:srgbClr val="1A3C1A"/>
                </a:solidFill>
                <a:latin typeface="Calibri" pitchFamily="34" charset="0"/>
                <a:ea typeface="Calibri" pitchFamily="34" charset="-122"/>
                <a:cs typeface="Calibri" pitchFamily="34" charset="-120"/>
              </a:rPr>
              <a:t>It gives four types of users their own secure area:</a:t>
            </a:r>
            <a:endParaRPr lang="en-US" sz="1150" dirty="0"/>
          </a:p>
        </p:txBody>
      </p:sp>
      <p:sp>
        <p:nvSpPr>
          <p:cNvPr id="28" name="Shape 26"/>
          <p:cNvSpPr/>
          <p:nvPr/>
        </p:nvSpPr>
        <p:spPr>
          <a:xfrm>
            <a:off x="4663440" y="2395728"/>
            <a:ext cx="1005840" cy="402336"/>
          </a:xfrm>
          <a:prstGeom prst="rect">
            <a:avLst/>
          </a:prstGeom>
          <a:solidFill>
            <a:srgbClr val="2E7D32"/>
          </a:solidFill>
          <a:ln w="12700">
            <a:solidFill>
              <a:srgbClr val="2E7D32"/>
            </a:solidFill>
            <a:prstDash val="solid"/>
          </a:ln>
        </p:spPr>
      </p:sp>
      <p:sp>
        <p:nvSpPr>
          <p:cNvPr id="29" name="Text 27"/>
          <p:cNvSpPr/>
          <p:nvPr/>
        </p:nvSpPr>
        <p:spPr>
          <a:xfrm>
            <a:off x="4663440" y="2395728"/>
            <a:ext cx="100584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Admin</a:t>
            </a:r>
            <a:endParaRPr lang="en-US" sz="1100" dirty="0"/>
          </a:p>
        </p:txBody>
      </p:sp>
      <p:sp>
        <p:nvSpPr>
          <p:cNvPr id="30" name="Shape 28"/>
          <p:cNvSpPr/>
          <p:nvPr/>
        </p:nvSpPr>
        <p:spPr>
          <a:xfrm>
            <a:off x="5669280" y="2395728"/>
            <a:ext cx="3108960" cy="402336"/>
          </a:xfrm>
          <a:prstGeom prst="rect">
            <a:avLst/>
          </a:prstGeom>
          <a:solidFill>
            <a:srgbClr val="E8F5E9"/>
          </a:solidFill>
          <a:ln w="6350">
            <a:solidFill>
              <a:srgbClr val="C8E6C9"/>
            </a:solidFill>
            <a:prstDash val="solid"/>
          </a:ln>
        </p:spPr>
      </p:sp>
      <p:sp>
        <p:nvSpPr>
          <p:cNvPr id="31" name="Text 29"/>
          <p:cNvSpPr/>
          <p:nvPr/>
        </p:nvSpPr>
        <p:spPr>
          <a:xfrm>
            <a:off x="5760720" y="2395728"/>
            <a:ext cx="2926080" cy="402336"/>
          </a:xfrm>
          <a:prstGeom prst="rect">
            <a:avLst/>
          </a:prstGeom>
          <a:noFill/>
          <a:ln/>
        </p:spPr>
        <p:txBody>
          <a:bodyPr wrap="square" lIns="0" tIns="0" rIns="0" bIns="0" rtlCol="0" anchor="ctr"/>
          <a:lstStyle/>
          <a:p>
            <a:pPr marL="0" indent="0">
              <a:buNone/>
            </a:pPr>
            <a:r>
              <a:rPr lang="en-US" sz="1100" dirty="0">
                <a:solidFill>
                  <a:srgbClr val="212121"/>
                </a:solidFill>
                <a:latin typeface="Calibri" pitchFamily="34" charset="0"/>
                <a:ea typeface="Calibri" pitchFamily="34" charset="-122"/>
                <a:cs typeface="Calibri" pitchFamily="34" charset="-120"/>
              </a:rPr>
              <a:t>Controls the whole system</a:t>
            </a:r>
            <a:endParaRPr lang="en-US" sz="1100" dirty="0"/>
          </a:p>
        </p:txBody>
      </p:sp>
      <p:sp>
        <p:nvSpPr>
          <p:cNvPr id="32" name="Shape 30"/>
          <p:cNvSpPr/>
          <p:nvPr/>
        </p:nvSpPr>
        <p:spPr>
          <a:xfrm>
            <a:off x="4663440" y="2889504"/>
            <a:ext cx="1005840" cy="402336"/>
          </a:xfrm>
          <a:prstGeom prst="rect">
            <a:avLst/>
          </a:prstGeom>
          <a:solidFill>
            <a:srgbClr val="2E7D32"/>
          </a:solidFill>
          <a:ln w="12700">
            <a:solidFill>
              <a:srgbClr val="2E7D32"/>
            </a:solidFill>
            <a:prstDash val="solid"/>
          </a:ln>
        </p:spPr>
      </p:sp>
      <p:sp>
        <p:nvSpPr>
          <p:cNvPr id="33" name="Text 31"/>
          <p:cNvSpPr/>
          <p:nvPr/>
        </p:nvSpPr>
        <p:spPr>
          <a:xfrm>
            <a:off x="4663440" y="2889504"/>
            <a:ext cx="100584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Teacher</a:t>
            </a:r>
            <a:endParaRPr lang="en-US" sz="1100" dirty="0"/>
          </a:p>
        </p:txBody>
      </p:sp>
      <p:sp>
        <p:nvSpPr>
          <p:cNvPr id="34" name="Shape 32"/>
          <p:cNvSpPr/>
          <p:nvPr/>
        </p:nvSpPr>
        <p:spPr>
          <a:xfrm>
            <a:off x="5669280" y="2889504"/>
            <a:ext cx="3108960" cy="402336"/>
          </a:xfrm>
          <a:prstGeom prst="rect">
            <a:avLst/>
          </a:prstGeom>
          <a:solidFill>
            <a:srgbClr val="E8F5E9"/>
          </a:solidFill>
          <a:ln w="6350">
            <a:solidFill>
              <a:srgbClr val="C8E6C9"/>
            </a:solidFill>
            <a:prstDash val="solid"/>
          </a:ln>
        </p:spPr>
      </p:sp>
      <p:sp>
        <p:nvSpPr>
          <p:cNvPr id="35" name="Text 33"/>
          <p:cNvSpPr/>
          <p:nvPr/>
        </p:nvSpPr>
        <p:spPr>
          <a:xfrm>
            <a:off x="5760720" y="2889504"/>
            <a:ext cx="2926080" cy="402336"/>
          </a:xfrm>
          <a:prstGeom prst="rect">
            <a:avLst/>
          </a:prstGeom>
          <a:noFill/>
          <a:ln/>
        </p:spPr>
        <p:txBody>
          <a:bodyPr wrap="square" lIns="0" tIns="0" rIns="0" bIns="0" rtlCol="0" anchor="ctr"/>
          <a:lstStyle/>
          <a:p>
            <a:pPr marL="0" indent="0">
              <a:buNone/>
            </a:pPr>
            <a:r>
              <a:rPr lang="en-US" sz="1100" dirty="0">
                <a:solidFill>
                  <a:srgbClr val="212121"/>
                </a:solidFill>
                <a:latin typeface="Calibri" pitchFamily="34" charset="0"/>
                <a:ea typeface="Calibri" pitchFamily="34" charset="-122"/>
                <a:cs typeface="Calibri" pitchFamily="34" charset="-120"/>
              </a:rPr>
              <a:t>Manages class, attendance, grades</a:t>
            </a:r>
            <a:endParaRPr lang="en-US" sz="1100" dirty="0"/>
          </a:p>
        </p:txBody>
      </p:sp>
      <p:sp>
        <p:nvSpPr>
          <p:cNvPr id="36" name="Shape 34"/>
          <p:cNvSpPr/>
          <p:nvPr/>
        </p:nvSpPr>
        <p:spPr>
          <a:xfrm>
            <a:off x="4663440" y="3383280"/>
            <a:ext cx="1005840" cy="402336"/>
          </a:xfrm>
          <a:prstGeom prst="rect">
            <a:avLst/>
          </a:prstGeom>
          <a:solidFill>
            <a:srgbClr val="2E7D32"/>
          </a:solidFill>
          <a:ln w="12700">
            <a:solidFill>
              <a:srgbClr val="2E7D32"/>
            </a:solidFill>
            <a:prstDash val="solid"/>
          </a:ln>
        </p:spPr>
      </p:sp>
      <p:sp>
        <p:nvSpPr>
          <p:cNvPr id="37" name="Text 35"/>
          <p:cNvSpPr/>
          <p:nvPr/>
        </p:nvSpPr>
        <p:spPr>
          <a:xfrm>
            <a:off x="4663440" y="3383280"/>
            <a:ext cx="100584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Student</a:t>
            </a:r>
            <a:endParaRPr lang="en-US" sz="1100" dirty="0"/>
          </a:p>
        </p:txBody>
      </p:sp>
      <p:sp>
        <p:nvSpPr>
          <p:cNvPr id="38" name="Shape 36"/>
          <p:cNvSpPr/>
          <p:nvPr/>
        </p:nvSpPr>
        <p:spPr>
          <a:xfrm>
            <a:off x="5669280" y="3383280"/>
            <a:ext cx="3108960" cy="402336"/>
          </a:xfrm>
          <a:prstGeom prst="rect">
            <a:avLst/>
          </a:prstGeom>
          <a:solidFill>
            <a:srgbClr val="E8F5E9"/>
          </a:solidFill>
          <a:ln w="6350">
            <a:solidFill>
              <a:srgbClr val="C8E6C9"/>
            </a:solidFill>
            <a:prstDash val="solid"/>
          </a:ln>
        </p:spPr>
      </p:sp>
      <p:sp>
        <p:nvSpPr>
          <p:cNvPr id="39" name="Text 37"/>
          <p:cNvSpPr/>
          <p:nvPr/>
        </p:nvSpPr>
        <p:spPr>
          <a:xfrm>
            <a:off x="5760720" y="3383280"/>
            <a:ext cx="2926080" cy="402336"/>
          </a:xfrm>
          <a:prstGeom prst="rect">
            <a:avLst/>
          </a:prstGeom>
          <a:noFill/>
          <a:ln/>
        </p:spPr>
        <p:txBody>
          <a:bodyPr wrap="square" lIns="0" tIns="0" rIns="0" bIns="0" rtlCol="0" anchor="ctr"/>
          <a:lstStyle/>
          <a:p>
            <a:pPr marL="0" indent="0">
              <a:buNone/>
            </a:pPr>
            <a:r>
              <a:rPr lang="en-US" sz="1100" dirty="0">
                <a:solidFill>
                  <a:srgbClr val="212121"/>
                </a:solidFill>
                <a:latin typeface="Calibri" pitchFamily="34" charset="0"/>
                <a:ea typeface="Calibri" pitchFamily="34" charset="-122"/>
                <a:cs typeface="Calibri" pitchFamily="34" charset="-120"/>
              </a:rPr>
              <a:t>Views records and materials</a:t>
            </a:r>
            <a:endParaRPr lang="en-US" sz="1100" dirty="0"/>
          </a:p>
        </p:txBody>
      </p:sp>
      <p:sp>
        <p:nvSpPr>
          <p:cNvPr id="40" name="Shape 38"/>
          <p:cNvSpPr/>
          <p:nvPr/>
        </p:nvSpPr>
        <p:spPr>
          <a:xfrm>
            <a:off x="4663440" y="3877056"/>
            <a:ext cx="1005840" cy="402336"/>
          </a:xfrm>
          <a:prstGeom prst="rect">
            <a:avLst/>
          </a:prstGeom>
          <a:solidFill>
            <a:srgbClr val="2E7D32"/>
          </a:solidFill>
          <a:ln w="12700">
            <a:solidFill>
              <a:srgbClr val="2E7D32"/>
            </a:solidFill>
            <a:prstDash val="solid"/>
          </a:ln>
        </p:spPr>
      </p:sp>
      <p:sp>
        <p:nvSpPr>
          <p:cNvPr id="41" name="Text 39"/>
          <p:cNvSpPr/>
          <p:nvPr/>
        </p:nvSpPr>
        <p:spPr>
          <a:xfrm>
            <a:off x="4663440" y="3877056"/>
            <a:ext cx="1005840" cy="40233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Parent</a:t>
            </a:r>
            <a:endParaRPr lang="en-US" sz="1100" dirty="0"/>
          </a:p>
        </p:txBody>
      </p:sp>
      <p:sp>
        <p:nvSpPr>
          <p:cNvPr id="42" name="Shape 40"/>
          <p:cNvSpPr/>
          <p:nvPr/>
        </p:nvSpPr>
        <p:spPr>
          <a:xfrm>
            <a:off x="5669280" y="3877056"/>
            <a:ext cx="3108960" cy="402336"/>
          </a:xfrm>
          <a:prstGeom prst="rect">
            <a:avLst/>
          </a:prstGeom>
          <a:solidFill>
            <a:srgbClr val="E8F5E9"/>
          </a:solidFill>
          <a:ln w="6350">
            <a:solidFill>
              <a:srgbClr val="C8E6C9"/>
            </a:solidFill>
            <a:prstDash val="solid"/>
          </a:ln>
        </p:spPr>
      </p:sp>
      <p:sp>
        <p:nvSpPr>
          <p:cNvPr id="43" name="Text 41"/>
          <p:cNvSpPr/>
          <p:nvPr/>
        </p:nvSpPr>
        <p:spPr>
          <a:xfrm>
            <a:off x="5760720" y="3877056"/>
            <a:ext cx="2926080" cy="402336"/>
          </a:xfrm>
          <a:prstGeom prst="rect">
            <a:avLst/>
          </a:prstGeom>
          <a:noFill/>
          <a:ln/>
        </p:spPr>
        <p:txBody>
          <a:bodyPr wrap="square" lIns="0" tIns="0" rIns="0" bIns="0" rtlCol="0" anchor="ctr"/>
          <a:lstStyle/>
          <a:p>
            <a:pPr marL="0" indent="0">
              <a:buNone/>
            </a:pPr>
            <a:r>
              <a:rPr lang="en-US" sz="1100" dirty="0">
                <a:solidFill>
                  <a:srgbClr val="212121"/>
                </a:solidFill>
                <a:latin typeface="Calibri" pitchFamily="34" charset="0"/>
                <a:ea typeface="Calibri" pitchFamily="34" charset="-122"/>
                <a:cs typeface="Calibri" pitchFamily="34" charset="-120"/>
              </a:rPr>
              <a:t>Monitors child's progress</a:t>
            </a:r>
            <a:endParaRPr lang="en-US" sz="1100" dirty="0"/>
          </a:p>
        </p:txBody>
      </p:sp>
      <p:sp>
        <p:nvSpPr>
          <p:cNvPr id="44" name="Shape 42"/>
          <p:cNvSpPr/>
          <p:nvPr/>
        </p:nvSpPr>
        <p:spPr>
          <a:xfrm>
            <a:off x="4434840" y="914400"/>
            <a:ext cx="0" cy="3840480"/>
          </a:xfrm>
          <a:prstGeom prst="line">
            <a:avLst/>
          </a:prstGeom>
          <a:noFill/>
          <a:ln w="12700">
            <a:solidFill>
              <a:srgbClr val="C8E6C9"/>
            </a:solidFill>
            <a:prstDash val="solid"/>
          </a:ln>
        </p:spPr>
      </p:sp>
      <p:sp>
        <p:nvSpPr>
          <p:cNvPr id="45" name="Text 43"/>
          <p:cNvSpPr/>
          <p:nvPr/>
        </p:nvSpPr>
        <p:spPr>
          <a:xfrm>
            <a:off x="365760" y="4892040"/>
            <a:ext cx="8412480" cy="201168"/>
          </a:xfrm>
          <a:prstGeom prst="rect">
            <a:avLst/>
          </a:prstGeom>
          <a:noFill/>
          <a:ln/>
        </p:spPr>
        <p:txBody>
          <a:bodyPr wrap="square" lIns="0" tIns="0" rIns="0" bIns="0" rtlCol="0" anchor="ctr"/>
          <a:lstStyle/>
          <a:p>
            <a:pPr marL="0" indent="0" algn="r">
              <a:buNone/>
            </a:pPr>
            <a:r>
              <a:rPr lang="en-US" sz="900" i="1" dirty="0">
                <a:solidFill>
                  <a:srgbClr val="AAAAAA"/>
                </a:solidFill>
                <a:latin typeface="Calibri" pitchFamily="34" charset="0"/>
                <a:ea typeface="Calibri" pitchFamily="34" charset="-122"/>
                <a:cs typeface="Calibri" pitchFamily="34" charset="-120"/>
              </a:rPr>
              <a:t>Avishek Pandey  |  IT Project Management  |  IT Student Management System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C1A"/>
          </a:solidFill>
          <a:ln w="12700">
            <a:solidFill>
              <a:srgbClr val="1A3C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Section 1  |  Introduction – Technology &amp; Target Market</a:t>
            </a:r>
            <a:endParaRPr lang="en-US" sz="2400" dirty="0"/>
          </a:p>
        </p:txBody>
      </p:sp>
      <p:sp>
        <p:nvSpPr>
          <p:cNvPr id="4" name="Text 2"/>
          <p:cNvSpPr/>
          <p:nvPr/>
        </p:nvSpPr>
        <p:spPr>
          <a:xfrm>
            <a:off x="365760" y="914400"/>
            <a:ext cx="8412480" cy="274320"/>
          </a:xfrm>
          <a:prstGeom prst="rect">
            <a:avLst/>
          </a:prstGeom>
          <a:noFill/>
          <a:ln/>
        </p:spPr>
        <p:txBody>
          <a:bodyPr wrap="square" lIns="0" tIns="0" rIns="0" bIns="0" rtlCol="0" anchor="ctr"/>
          <a:lstStyle/>
          <a:p>
            <a:pPr marL="0" indent="0">
              <a:buNone/>
            </a:pPr>
            <a:r>
              <a:rPr lang="en-US" sz="1400" b="1" dirty="0">
                <a:solidFill>
                  <a:srgbClr val="1A3C1A"/>
                </a:solidFill>
                <a:latin typeface="Calibri" pitchFamily="34" charset="0"/>
                <a:ea typeface="Calibri" pitchFamily="34" charset="-122"/>
                <a:cs typeface="Calibri" pitchFamily="34" charset="-120"/>
              </a:rPr>
              <a:t>Technology Used</a:t>
            </a:r>
            <a:endParaRPr lang="en-US" sz="1400" dirty="0"/>
          </a:p>
        </p:txBody>
      </p:sp>
      <p:sp>
        <p:nvSpPr>
          <p:cNvPr id="5" name="Shape 3"/>
          <p:cNvSpPr/>
          <p:nvPr/>
        </p:nvSpPr>
        <p:spPr>
          <a:xfrm>
            <a:off x="365760" y="1261872"/>
            <a:ext cx="1828800" cy="420624"/>
          </a:xfrm>
          <a:prstGeom prst="rect">
            <a:avLst/>
          </a:prstGeom>
          <a:solidFill>
            <a:srgbClr val="1A3C1A"/>
          </a:solidFill>
          <a:ln w="12700">
            <a:solidFill>
              <a:srgbClr val="1A3C1A"/>
            </a:solidFill>
            <a:prstDash val="solid"/>
          </a:ln>
        </p:spPr>
      </p:sp>
      <p:sp>
        <p:nvSpPr>
          <p:cNvPr id="6" name="Text 4"/>
          <p:cNvSpPr/>
          <p:nvPr/>
        </p:nvSpPr>
        <p:spPr>
          <a:xfrm>
            <a:off x="365760" y="1261872"/>
            <a:ext cx="182880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Django (Python)</a:t>
            </a:r>
            <a:endParaRPr lang="en-US" sz="1100" dirty="0"/>
          </a:p>
        </p:txBody>
      </p:sp>
      <p:sp>
        <p:nvSpPr>
          <p:cNvPr id="7" name="Shape 5"/>
          <p:cNvSpPr/>
          <p:nvPr/>
        </p:nvSpPr>
        <p:spPr>
          <a:xfrm>
            <a:off x="2194560" y="1261872"/>
            <a:ext cx="6583680" cy="420624"/>
          </a:xfrm>
          <a:prstGeom prst="rect">
            <a:avLst/>
          </a:prstGeom>
          <a:solidFill>
            <a:srgbClr val="E8F5E9"/>
          </a:solidFill>
          <a:ln w="6350">
            <a:solidFill>
              <a:srgbClr val="C8E6C9"/>
            </a:solidFill>
            <a:prstDash val="solid"/>
          </a:ln>
        </p:spPr>
      </p:sp>
      <p:sp>
        <p:nvSpPr>
          <p:cNvPr id="8" name="Text 6"/>
          <p:cNvSpPr/>
          <p:nvPr/>
        </p:nvSpPr>
        <p:spPr>
          <a:xfrm>
            <a:off x="2304288" y="1261872"/>
            <a:ext cx="6400800" cy="420624"/>
          </a:xfrm>
          <a:prstGeom prst="rect">
            <a:avLst/>
          </a:prstGeom>
          <a:noFill/>
          <a:ln/>
        </p:spPr>
        <p:txBody>
          <a:bodyPr wrap="square" lIns="0" tIns="0" rIns="0" bIns="0" rtlCol="0" anchor="ctr"/>
          <a:lstStyle/>
          <a:p>
            <a:pPr marL="0" indent="0">
              <a:buNone/>
            </a:pPr>
            <a:r>
              <a:rPr lang="en-US" sz="1150" dirty="0">
                <a:solidFill>
                  <a:srgbClr val="212121"/>
                </a:solidFill>
                <a:latin typeface="Calibri" pitchFamily="34" charset="0"/>
                <a:ea typeface="Calibri" pitchFamily="34" charset="-122"/>
                <a:cs typeface="Calibri" pitchFamily="34" charset="-120"/>
              </a:rPr>
              <a:t>Runs the backend of the website and handles all logic</a:t>
            </a:r>
            <a:endParaRPr lang="en-US" sz="1150" dirty="0"/>
          </a:p>
        </p:txBody>
      </p:sp>
      <p:sp>
        <p:nvSpPr>
          <p:cNvPr id="9" name="Shape 7"/>
          <p:cNvSpPr/>
          <p:nvPr/>
        </p:nvSpPr>
        <p:spPr>
          <a:xfrm>
            <a:off x="365760" y="1755648"/>
            <a:ext cx="1828800" cy="420624"/>
          </a:xfrm>
          <a:prstGeom prst="rect">
            <a:avLst/>
          </a:prstGeom>
          <a:solidFill>
            <a:srgbClr val="2E7D32"/>
          </a:solidFill>
          <a:ln w="12700">
            <a:solidFill>
              <a:srgbClr val="1A3C1A"/>
            </a:solidFill>
            <a:prstDash val="solid"/>
          </a:ln>
        </p:spPr>
      </p:sp>
      <p:sp>
        <p:nvSpPr>
          <p:cNvPr id="10" name="Text 8"/>
          <p:cNvSpPr/>
          <p:nvPr/>
        </p:nvSpPr>
        <p:spPr>
          <a:xfrm>
            <a:off x="365760" y="1755648"/>
            <a:ext cx="182880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SQLite</a:t>
            </a:r>
            <a:endParaRPr lang="en-US" sz="1100" dirty="0"/>
          </a:p>
        </p:txBody>
      </p:sp>
      <p:sp>
        <p:nvSpPr>
          <p:cNvPr id="11" name="Shape 9"/>
          <p:cNvSpPr/>
          <p:nvPr/>
        </p:nvSpPr>
        <p:spPr>
          <a:xfrm>
            <a:off x="2194560" y="1755648"/>
            <a:ext cx="6583680" cy="420624"/>
          </a:xfrm>
          <a:prstGeom prst="rect">
            <a:avLst/>
          </a:prstGeom>
          <a:solidFill>
            <a:srgbClr val="E8F5E9"/>
          </a:solidFill>
          <a:ln w="6350">
            <a:solidFill>
              <a:srgbClr val="C8E6C9"/>
            </a:solidFill>
            <a:prstDash val="solid"/>
          </a:ln>
        </p:spPr>
      </p:sp>
      <p:sp>
        <p:nvSpPr>
          <p:cNvPr id="12" name="Text 10"/>
          <p:cNvSpPr/>
          <p:nvPr/>
        </p:nvSpPr>
        <p:spPr>
          <a:xfrm>
            <a:off x="2304288" y="1755648"/>
            <a:ext cx="6400800" cy="420624"/>
          </a:xfrm>
          <a:prstGeom prst="rect">
            <a:avLst/>
          </a:prstGeom>
          <a:noFill/>
          <a:ln/>
        </p:spPr>
        <p:txBody>
          <a:bodyPr wrap="square" lIns="0" tIns="0" rIns="0" bIns="0" rtlCol="0" anchor="ctr"/>
          <a:lstStyle/>
          <a:p>
            <a:pPr marL="0" indent="0">
              <a:buNone/>
            </a:pPr>
            <a:r>
              <a:rPr lang="en-US" sz="1150" dirty="0">
                <a:solidFill>
                  <a:srgbClr val="212121"/>
                </a:solidFill>
                <a:latin typeface="Calibri" pitchFamily="34" charset="0"/>
                <a:ea typeface="Calibri" pitchFamily="34" charset="-122"/>
                <a:cs typeface="Calibri" pitchFamily="34" charset="-120"/>
              </a:rPr>
              <a:t>Stores all data — users, grades, attendance, materials</a:t>
            </a:r>
            <a:endParaRPr lang="en-US" sz="1150" dirty="0"/>
          </a:p>
        </p:txBody>
      </p:sp>
      <p:sp>
        <p:nvSpPr>
          <p:cNvPr id="13" name="Shape 11"/>
          <p:cNvSpPr/>
          <p:nvPr/>
        </p:nvSpPr>
        <p:spPr>
          <a:xfrm>
            <a:off x="365760" y="2249424"/>
            <a:ext cx="1828800" cy="420624"/>
          </a:xfrm>
          <a:prstGeom prst="rect">
            <a:avLst/>
          </a:prstGeom>
          <a:solidFill>
            <a:srgbClr val="1A3C1A"/>
          </a:solidFill>
          <a:ln w="12700">
            <a:solidFill>
              <a:srgbClr val="1A3C1A"/>
            </a:solidFill>
            <a:prstDash val="solid"/>
          </a:ln>
        </p:spPr>
      </p:sp>
      <p:sp>
        <p:nvSpPr>
          <p:cNvPr id="14" name="Text 12"/>
          <p:cNvSpPr/>
          <p:nvPr/>
        </p:nvSpPr>
        <p:spPr>
          <a:xfrm>
            <a:off x="365760" y="2249424"/>
            <a:ext cx="182880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HTML + CSS</a:t>
            </a:r>
            <a:endParaRPr lang="en-US" sz="1100" dirty="0"/>
          </a:p>
        </p:txBody>
      </p:sp>
      <p:sp>
        <p:nvSpPr>
          <p:cNvPr id="15" name="Shape 13"/>
          <p:cNvSpPr/>
          <p:nvPr/>
        </p:nvSpPr>
        <p:spPr>
          <a:xfrm>
            <a:off x="2194560" y="2249424"/>
            <a:ext cx="6583680" cy="420624"/>
          </a:xfrm>
          <a:prstGeom prst="rect">
            <a:avLst/>
          </a:prstGeom>
          <a:solidFill>
            <a:srgbClr val="E8F5E9"/>
          </a:solidFill>
          <a:ln w="6350">
            <a:solidFill>
              <a:srgbClr val="C8E6C9"/>
            </a:solidFill>
            <a:prstDash val="solid"/>
          </a:ln>
        </p:spPr>
      </p:sp>
      <p:sp>
        <p:nvSpPr>
          <p:cNvPr id="16" name="Text 14"/>
          <p:cNvSpPr/>
          <p:nvPr/>
        </p:nvSpPr>
        <p:spPr>
          <a:xfrm>
            <a:off x="2304288" y="2249424"/>
            <a:ext cx="6400800" cy="420624"/>
          </a:xfrm>
          <a:prstGeom prst="rect">
            <a:avLst/>
          </a:prstGeom>
          <a:noFill/>
          <a:ln/>
        </p:spPr>
        <p:txBody>
          <a:bodyPr wrap="square" lIns="0" tIns="0" rIns="0" bIns="0" rtlCol="0" anchor="ctr"/>
          <a:lstStyle/>
          <a:p>
            <a:pPr marL="0" indent="0">
              <a:buNone/>
            </a:pPr>
            <a:r>
              <a:rPr lang="en-US" sz="1150" dirty="0">
                <a:solidFill>
                  <a:srgbClr val="212121"/>
                </a:solidFill>
                <a:latin typeface="Calibri" pitchFamily="34" charset="0"/>
                <a:ea typeface="Calibri" pitchFamily="34" charset="-122"/>
                <a:cs typeface="Calibri" pitchFamily="34" charset="-120"/>
              </a:rPr>
              <a:t>Makes each dashboard look correct in the browser</a:t>
            </a:r>
            <a:endParaRPr lang="en-US" sz="1150" dirty="0"/>
          </a:p>
        </p:txBody>
      </p:sp>
      <p:sp>
        <p:nvSpPr>
          <p:cNvPr id="17" name="Shape 15"/>
          <p:cNvSpPr/>
          <p:nvPr/>
        </p:nvSpPr>
        <p:spPr>
          <a:xfrm>
            <a:off x="365760" y="2743200"/>
            <a:ext cx="1828800" cy="420624"/>
          </a:xfrm>
          <a:prstGeom prst="rect">
            <a:avLst/>
          </a:prstGeom>
          <a:solidFill>
            <a:srgbClr val="2E7D32"/>
          </a:solidFill>
          <a:ln w="12700">
            <a:solidFill>
              <a:srgbClr val="1A3C1A"/>
            </a:solidFill>
            <a:prstDash val="solid"/>
          </a:ln>
        </p:spPr>
      </p:sp>
      <p:sp>
        <p:nvSpPr>
          <p:cNvPr id="18" name="Text 16"/>
          <p:cNvSpPr/>
          <p:nvPr/>
        </p:nvSpPr>
        <p:spPr>
          <a:xfrm>
            <a:off x="365760" y="2743200"/>
            <a:ext cx="182880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Git / GitHub</a:t>
            </a:r>
            <a:endParaRPr lang="en-US" sz="1100" dirty="0"/>
          </a:p>
        </p:txBody>
      </p:sp>
      <p:sp>
        <p:nvSpPr>
          <p:cNvPr id="19" name="Shape 17"/>
          <p:cNvSpPr/>
          <p:nvPr/>
        </p:nvSpPr>
        <p:spPr>
          <a:xfrm>
            <a:off x="2194560" y="2743200"/>
            <a:ext cx="6583680" cy="420624"/>
          </a:xfrm>
          <a:prstGeom prst="rect">
            <a:avLst/>
          </a:prstGeom>
          <a:solidFill>
            <a:srgbClr val="E8F5E9"/>
          </a:solidFill>
          <a:ln w="6350">
            <a:solidFill>
              <a:srgbClr val="C8E6C9"/>
            </a:solidFill>
            <a:prstDash val="solid"/>
          </a:ln>
        </p:spPr>
      </p:sp>
      <p:sp>
        <p:nvSpPr>
          <p:cNvPr id="20" name="Text 18"/>
          <p:cNvSpPr/>
          <p:nvPr/>
        </p:nvSpPr>
        <p:spPr>
          <a:xfrm>
            <a:off x="2304288" y="2743200"/>
            <a:ext cx="6400800" cy="420624"/>
          </a:xfrm>
          <a:prstGeom prst="rect">
            <a:avLst/>
          </a:prstGeom>
          <a:noFill/>
          <a:ln/>
        </p:spPr>
        <p:txBody>
          <a:bodyPr wrap="square" lIns="0" tIns="0" rIns="0" bIns="0" rtlCol="0" anchor="ctr"/>
          <a:lstStyle/>
          <a:p>
            <a:pPr marL="0" indent="0">
              <a:buNone/>
            </a:pPr>
            <a:r>
              <a:rPr lang="en-US" sz="1150" dirty="0">
                <a:solidFill>
                  <a:srgbClr val="212121"/>
                </a:solidFill>
                <a:latin typeface="Calibri" pitchFamily="34" charset="0"/>
                <a:ea typeface="Calibri" pitchFamily="34" charset="-122"/>
                <a:cs typeface="Calibri" pitchFamily="34" charset="-120"/>
              </a:rPr>
              <a:t>Saves all code changes and tracks progress</a:t>
            </a:r>
            <a:endParaRPr lang="en-US" sz="1150" dirty="0"/>
          </a:p>
        </p:txBody>
      </p:sp>
      <p:sp>
        <p:nvSpPr>
          <p:cNvPr id="21" name="Shape 19"/>
          <p:cNvSpPr/>
          <p:nvPr/>
        </p:nvSpPr>
        <p:spPr>
          <a:xfrm>
            <a:off x="365760" y="3236976"/>
            <a:ext cx="1828800" cy="420624"/>
          </a:xfrm>
          <a:prstGeom prst="rect">
            <a:avLst/>
          </a:prstGeom>
          <a:solidFill>
            <a:srgbClr val="1A3C1A"/>
          </a:solidFill>
          <a:ln w="12700">
            <a:solidFill>
              <a:srgbClr val="1A3C1A"/>
            </a:solidFill>
            <a:prstDash val="solid"/>
          </a:ln>
        </p:spPr>
      </p:sp>
      <p:sp>
        <p:nvSpPr>
          <p:cNvPr id="22" name="Text 20"/>
          <p:cNvSpPr/>
          <p:nvPr/>
        </p:nvSpPr>
        <p:spPr>
          <a:xfrm>
            <a:off x="365760" y="3236976"/>
            <a:ext cx="182880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Agile Scrum</a:t>
            </a:r>
            <a:endParaRPr lang="en-US" sz="1100" dirty="0"/>
          </a:p>
        </p:txBody>
      </p:sp>
      <p:sp>
        <p:nvSpPr>
          <p:cNvPr id="23" name="Shape 21"/>
          <p:cNvSpPr/>
          <p:nvPr/>
        </p:nvSpPr>
        <p:spPr>
          <a:xfrm>
            <a:off x="2194560" y="3236976"/>
            <a:ext cx="6583680" cy="420624"/>
          </a:xfrm>
          <a:prstGeom prst="rect">
            <a:avLst/>
          </a:prstGeom>
          <a:solidFill>
            <a:srgbClr val="E8F5E9"/>
          </a:solidFill>
          <a:ln w="6350">
            <a:solidFill>
              <a:srgbClr val="C8E6C9"/>
            </a:solidFill>
            <a:prstDash val="solid"/>
          </a:ln>
        </p:spPr>
      </p:sp>
      <p:sp>
        <p:nvSpPr>
          <p:cNvPr id="24" name="Text 22"/>
          <p:cNvSpPr/>
          <p:nvPr/>
        </p:nvSpPr>
        <p:spPr>
          <a:xfrm>
            <a:off x="2304288" y="3236976"/>
            <a:ext cx="6400800" cy="420624"/>
          </a:xfrm>
          <a:prstGeom prst="rect">
            <a:avLst/>
          </a:prstGeom>
          <a:noFill/>
          <a:ln/>
        </p:spPr>
        <p:txBody>
          <a:bodyPr wrap="square" lIns="0" tIns="0" rIns="0" bIns="0" rtlCol="0" anchor="ctr"/>
          <a:lstStyle/>
          <a:p>
            <a:pPr marL="0" indent="0">
              <a:buNone/>
            </a:pPr>
            <a:r>
              <a:rPr lang="en-US" sz="1150" dirty="0">
                <a:solidFill>
                  <a:srgbClr val="212121"/>
                </a:solidFill>
                <a:latin typeface="Calibri" pitchFamily="34" charset="0"/>
                <a:ea typeface="Calibri" pitchFamily="34" charset="-122"/>
                <a:cs typeface="Calibri" pitchFamily="34" charset="-120"/>
              </a:rPr>
              <a:t>The project management method used throughout</a:t>
            </a:r>
            <a:endParaRPr lang="en-US" sz="1150" dirty="0"/>
          </a:p>
        </p:txBody>
      </p:sp>
      <p:sp>
        <p:nvSpPr>
          <p:cNvPr id="25" name="Text 23"/>
          <p:cNvSpPr/>
          <p:nvPr/>
        </p:nvSpPr>
        <p:spPr>
          <a:xfrm>
            <a:off x="365760" y="3840480"/>
            <a:ext cx="8412480" cy="256032"/>
          </a:xfrm>
          <a:prstGeom prst="rect">
            <a:avLst/>
          </a:prstGeom>
          <a:noFill/>
          <a:ln/>
        </p:spPr>
        <p:txBody>
          <a:bodyPr wrap="square" lIns="0" tIns="0" rIns="0" bIns="0" rtlCol="0" anchor="ctr"/>
          <a:lstStyle/>
          <a:p>
            <a:pPr marL="0" indent="0">
              <a:buNone/>
            </a:pPr>
            <a:r>
              <a:rPr lang="en-US" sz="1400" b="1" dirty="0">
                <a:solidFill>
                  <a:srgbClr val="1A3C1A"/>
                </a:solidFill>
                <a:latin typeface="Calibri" pitchFamily="34" charset="0"/>
                <a:ea typeface="Calibri" pitchFamily="34" charset="-122"/>
                <a:cs typeface="Calibri" pitchFamily="34" charset="-120"/>
              </a:rPr>
              <a:t>Target Market</a:t>
            </a:r>
            <a:endParaRPr lang="en-US" sz="1400" dirty="0"/>
          </a:p>
        </p:txBody>
      </p:sp>
      <p:sp>
        <p:nvSpPr>
          <p:cNvPr id="26" name="Text 24"/>
          <p:cNvSpPr/>
          <p:nvPr/>
        </p:nvSpPr>
        <p:spPr>
          <a:xfrm>
            <a:off x="365760" y="4133088"/>
            <a:ext cx="8412480" cy="548640"/>
          </a:xfrm>
          <a:prstGeom prst="rect">
            <a:avLst/>
          </a:prstGeom>
          <a:noFill/>
          <a:ln/>
        </p:spPr>
        <p:txBody>
          <a:bodyPr wrap="square" lIns="0" tIns="0" rIns="0" bIns="0" rtlCol="0" anchor="ctr"/>
          <a:lstStyle/>
          <a:p>
            <a:pPr marL="0" indent="0">
              <a:buNone/>
            </a:pPr>
            <a:r>
              <a:rPr lang="en-US" sz="1150" dirty="0">
                <a:solidFill>
                  <a:srgbClr val="212121"/>
                </a:solidFill>
                <a:latin typeface="Calibri" pitchFamily="34" charset="0"/>
                <a:ea typeface="Calibri" pitchFamily="34" charset="-122"/>
                <a:cs typeface="Calibri" pitchFamily="34" charset="-120"/>
              </a:rPr>
              <a:t>This system is designed for schools and colleges in Nepal, India, Bangladesh, and Pakistan. These countries have large student populations and many institutions are still moving from paper records to digital systems. They need something simple, affordable, and reliable.</a:t>
            </a:r>
            <a:endParaRPr lang="en-US" sz="1150" dirty="0"/>
          </a:p>
        </p:txBody>
      </p:sp>
      <p:sp>
        <p:nvSpPr>
          <p:cNvPr id="27" name="Text 25"/>
          <p:cNvSpPr/>
          <p:nvPr/>
        </p:nvSpPr>
        <p:spPr>
          <a:xfrm>
            <a:off x="365760" y="4892040"/>
            <a:ext cx="8412480" cy="201168"/>
          </a:xfrm>
          <a:prstGeom prst="rect">
            <a:avLst/>
          </a:prstGeom>
          <a:noFill/>
          <a:ln/>
        </p:spPr>
        <p:txBody>
          <a:bodyPr wrap="square" lIns="0" tIns="0" rIns="0" bIns="0" rtlCol="0" anchor="ctr"/>
          <a:lstStyle/>
          <a:p>
            <a:pPr marL="0" indent="0" algn="r">
              <a:buNone/>
            </a:pPr>
            <a:r>
              <a:rPr lang="en-US" sz="900" i="1" dirty="0">
                <a:solidFill>
                  <a:srgbClr val="AAAAAA"/>
                </a:solidFill>
                <a:latin typeface="Calibri" pitchFamily="34" charset="0"/>
                <a:ea typeface="Calibri" pitchFamily="34" charset="-122"/>
                <a:cs typeface="Calibri" pitchFamily="34" charset="-120"/>
              </a:rPr>
              <a:t>Avishek Pandey  |  IT Project Management  |  IT Student Management System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C1A"/>
          </a:solidFill>
          <a:ln w="12700">
            <a:solidFill>
              <a:srgbClr val="1A3C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Section 2  |  Problem Statement</a:t>
            </a:r>
            <a:endParaRPr lang="en-US" sz="2400" dirty="0"/>
          </a:p>
        </p:txBody>
      </p:sp>
      <p:sp>
        <p:nvSpPr>
          <p:cNvPr id="4" name="Text 2"/>
          <p:cNvSpPr/>
          <p:nvPr/>
        </p:nvSpPr>
        <p:spPr>
          <a:xfrm>
            <a:off x="365760" y="914400"/>
            <a:ext cx="8412480" cy="274320"/>
          </a:xfrm>
          <a:prstGeom prst="rect">
            <a:avLst/>
          </a:prstGeom>
          <a:noFill/>
          <a:ln/>
        </p:spPr>
        <p:txBody>
          <a:bodyPr wrap="square" lIns="0" tIns="0" rIns="0" bIns="0" rtlCol="0" anchor="ctr"/>
          <a:lstStyle/>
          <a:p>
            <a:pPr marL="0" indent="0">
              <a:buNone/>
            </a:pPr>
            <a:r>
              <a:rPr lang="en-US" sz="1400" b="1" dirty="0">
                <a:solidFill>
                  <a:srgbClr val="1A3C1A"/>
                </a:solidFill>
                <a:latin typeface="Calibri" pitchFamily="34" charset="0"/>
                <a:ea typeface="Calibri" pitchFamily="34" charset="-122"/>
                <a:cs typeface="Calibri" pitchFamily="34" charset="-120"/>
              </a:rPr>
              <a:t>The Core Problem</a:t>
            </a:r>
            <a:endParaRPr lang="en-US" sz="1400" dirty="0"/>
          </a:p>
        </p:txBody>
      </p:sp>
      <p:sp>
        <p:nvSpPr>
          <p:cNvPr id="5" name="Text 3"/>
          <p:cNvSpPr/>
          <p:nvPr/>
        </p:nvSpPr>
        <p:spPr>
          <a:xfrm>
            <a:off x="365760" y="1234440"/>
            <a:ext cx="8412480" cy="502920"/>
          </a:xfrm>
          <a:prstGeom prst="rect">
            <a:avLst/>
          </a:prstGeom>
          <a:noFill/>
          <a:ln/>
        </p:spPr>
        <p:txBody>
          <a:bodyPr wrap="square" lIns="0" tIns="0" rIns="0" bIns="0" rtlCol="0" anchor="ctr"/>
          <a:lstStyle/>
          <a:p>
            <a:pPr marL="0" indent="0">
              <a:buNone/>
            </a:pPr>
            <a:r>
              <a:rPr lang="en-US" sz="1200" dirty="0">
                <a:solidFill>
                  <a:srgbClr val="212121"/>
                </a:solidFill>
                <a:latin typeface="Calibri" pitchFamily="34" charset="0"/>
                <a:ea typeface="Calibri" pitchFamily="34" charset="-122"/>
                <a:cs typeface="Calibri" pitchFamily="34" charset="-120"/>
              </a:rPr>
              <a:t>Many schools — especially in developing countries — still manage student data using paper records or separate, disconnected software tools. There is no single system that brings everything together.</a:t>
            </a:r>
            <a:endParaRPr lang="en-US" sz="1200" dirty="0"/>
          </a:p>
        </p:txBody>
      </p:sp>
      <p:sp>
        <p:nvSpPr>
          <p:cNvPr id="6" name="Shape 4"/>
          <p:cNvSpPr/>
          <p:nvPr/>
        </p:nvSpPr>
        <p:spPr>
          <a:xfrm>
            <a:off x="365760" y="1920240"/>
            <a:ext cx="4023360" cy="1261872"/>
          </a:xfrm>
          <a:prstGeom prst="rect">
            <a:avLst/>
          </a:prstGeom>
          <a:solidFill>
            <a:srgbClr val="E8F5E9"/>
          </a:solidFill>
          <a:ln w="6350">
            <a:solidFill>
              <a:srgbClr val="C8E6C9"/>
            </a:solidFill>
            <a:prstDash val="solid"/>
          </a:ln>
        </p:spPr>
      </p:sp>
      <p:sp>
        <p:nvSpPr>
          <p:cNvPr id="7" name="Shape 5"/>
          <p:cNvSpPr/>
          <p:nvPr/>
        </p:nvSpPr>
        <p:spPr>
          <a:xfrm>
            <a:off x="365760" y="1920240"/>
            <a:ext cx="4023360" cy="54864"/>
          </a:xfrm>
          <a:prstGeom prst="rect">
            <a:avLst/>
          </a:prstGeom>
          <a:solidFill>
            <a:srgbClr val="C62828"/>
          </a:solidFill>
          <a:ln w="12700">
            <a:solidFill>
              <a:srgbClr val="C62828"/>
            </a:solidFill>
            <a:prstDash val="solid"/>
          </a:ln>
        </p:spPr>
      </p:sp>
      <p:sp>
        <p:nvSpPr>
          <p:cNvPr id="8" name="Text 6"/>
          <p:cNvSpPr/>
          <p:nvPr/>
        </p:nvSpPr>
        <p:spPr>
          <a:xfrm>
            <a:off x="475488" y="2011680"/>
            <a:ext cx="3749040" cy="256032"/>
          </a:xfrm>
          <a:prstGeom prst="rect">
            <a:avLst/>
          </a:prstGeom>
          <a:noFill/>
          <a:ln/>
        </p:spPr>
        <p:txBody>
          <a:bodyPr wrap="square" lIns="0" tIns="0" rIns="0" bIns="0" rtlCol="0" anchor="ctr"/>
          <a:lstStyle/>
          <a:p>
            <a:pPr marL="0" indent="0">
              <a:buNone/>
            </a:pPr>
            <a:r>
              <a:rPr lang="en-US" sz="1300" b="1" dirty="0">
                <a:solidFill>
                  <a:srgbClr val="C62828"/>
                </a:solidFill>
                <a:latin typeface="Calibri" pitchFamily="34" charset="0"/>
                <a:ea typeface="Calibri" pitchFamily="34" charset="-122"/>
                <a:cs typeface="Calibri" pitchFamily="34" charset="-120"/>
              </a:rPr>
              <a:t>For Students</a:t>
            </a:r>
            <a:endParaRPr lang="en-US" sz="1300" dirty="0"/>
          </a:p>
        </p:txBody>
      </p:sp>
      <p:sp>
        <p:nvSpPr>
          <p:cNvPr id="9" name="Text 7"/>
          <p:cNvSpPr/>
          <p:nvPr/>
        </p:nvSpPr>
        <p:spPr>
          <a:xfrm>
            <a:off x="475488" y="2304288"/>
            <a:ext cx="3749040" cy="804672"/>
          </a:xfrm>
          <a:prstGeom prst="rect">
            <a:avLst/>
          </a:prstGeom>
          <a:noFill/>
          <a:ln/>
        </p:spPr>
        <p:txBody>
          <a:bodyPr wrap="square" lIns="0" tIns="0" rIns="0" bIns="0" rtlCol="0" anchor="t"/>
          <a:lstStyle/>
          <a:p>
            <a:pPr marL="0" indent="0">
              <a:buNone/>
            </a:pPr>
            <a:r>
              <a:rPr lang="en-US" sz="1100" dirty="0">
                <a:solidFill>
                  <a:srgbClr val="212121"/>
                </a:solidFill>
                <a:latin typeface="Calibri" pitchFamily="34" charset="0"/>
                <a:ea typeface="Calibri" pitchFamily="34" charset="-122"/>
                <a:cs typeface="Calibri" pitchFamily="34" charset="-120"/>
              </a:rPr>
              <a:t>Cannot easily check their own grades or attendance. Have to ask the teacher every time. Study materials are hard to find.</a:t>
            </a:r>
            <a:endParaRPr lang="en-US" sz="1100" dirty="0"/>
          </a:p>
        </p:txBody>
      </p:sp>
      <p:sp>
        <p:nvSpPr>
          <p:cNvPr id="10" name="Shape 8"/>
          <p:cNvSpPr/>
          <p:nvPr/>
        </p:nvSpPr>
        <p:spPr>
          <a:xfrm>
            <a:off x="4663440" y="1920240"/>
            <a:ext cx="4023360" cy="1261872"/>
          </a:xfrm>
          <a:prstGeom prst="rect">
            <a:avLst/>
          </a:prstGeom>
          <a:solidFill>
            <a:srgbClr val="E8F5E9"/>
          </a:solidFill>
          <a:ln w="6350">
            <a:solidFill>
              <a:srgbClr val="C8E6C9"/>
            </a:solidFill>
            <a:prstDash val="solid"/>
          </a:ln>
        </p:spPr>
      </p:sp>
      <p:sp>
        <p:nvSpPr>
          <p:cNvPr id="11" name="Shape 9"/>
          <p:cNvSpPr/>
          <p:nvPr/>
        </p:nvSpPr>
        <p:spPr>
          <a:xfrm>
            <a:off x="4663440" y="1920240"/>
            <a:ext cx="4023360" cy="54864"/>
          </a:xfrm>
          <a:prstGeom prst="rect">
            <a:avLst/>
          </a:prstGeom>
          <a:solidFill>
            <a:srgbClr val="C62828"/>
          </a:solidFill>
          <a:ln w="12700">
            <a:solidFill>
              <a:srgbClr val="C62828"/>
            </a:solidFill>
            <a:prstDash val="solid"/>
          </a:ln>
        </p:spPr>
      </p:sp>
      <p:sp>
        <p:nvSpPr>
          <p:cNvPr id="12" name="Text 10"/>
          <p:cNvSpPr/>
          <p:nvPr/>
        </p:nvSpPr>
        <p:spPr>
          <a:xfrm>
            <a:off x="4773168" y="2011680"/>
            <a:ext cx="3749040" cy="256032"/>
          </a:xfrm>
          <a:prstGeom prst="rect">
            <a:avLst/>
          </a:prstGeom>
          <a:noFill/>
          <a:ln/>
        </p:spPr>
        <p:txBody>
          <a:bodyPr wrap="square" lIns="0" tIns="0" rIns="0" bIns="0" rtlCol="0" anchor="ctr"/>
          <a:lstStyle/>
          <a:p>
            <a:pPr marL="0" indent="0">
              <a:buNone/>
            </a:pPr>
            <a:r>
              <a:rPr lang="en-US" sz="1300" b="1" dirty="0">
                <a:solidFill>
                  <a:srgbClr val="C62828"/>
                </a:solidFill>
                <a:latin typeface="Calibri" pitchFamily="34" charset="0"/>
                <a:ea typeface="Calibri" pitchFamily="34" charset="-122"/>
                <a:cs typeface="Calibri" pitchFamily="34" charset="-120"/>
              </a:rPr>
              <a:t>For Teachers</a:t>
            </a:r>
            <a:endParaRPr lang="en-US" sz="1300" dirty="0"/>
          </a:p>
        </p:txBody>
      </p:sp>
      <p:sp>
        <p:nvSpPr>
          <p:cNvPr id="13" name="Text 11"/>
          <p:cNvSpPr/>
          <p:nvPr/>
        </p:nvSpPr>
        <p:spPr>
          <a:xfrm>
            <a:off x="4773168" y="2304288"/>
            <a:ext cx="3749040" cy="804672"/>
          </a:xfrm>
          <a:prstGeom prst="rect">
            <a:avLst/>
          </a:prstGeom>
          <a:noFill/>
          <a:ln/>
        </p:spPr>
        <p:txBody>
          <a:bodyPr wrap="square" lIns="0" tIns="0" rIns="0" bIns="0" rtlCol="0" anchor="t"/>
          <a:lstStyle/>
          <a:p>
            <a:pPr marL="0" indent="0">
              <a:buNone/>
            </a:pPr>
            <a:r>
              <a:rPr lang="en-US" sz="1100" dirty="0">
                <a:solidFill>
                  <a:srgbClr val="212121"/>
                </a:solidFill>
                <a:latin typeface="Calibri" pitchFamily="34" charset="0"/>
                <a:ea typeface="Calibri" pitchFamily="34" charset="-122"/>
                <a:cs typeface="Calibri" pitchFamily="34" charset="-120"/>
              </a:rPr>
              <a:t>Mark attendance on paper, then retype it into a spreadsheet. Upload files to different folders that students struggle to find.</a:t>
            </a:r>
            <a:endParaRPr lang="en-US" sz="1100" dirty="0"/>
          </a:p>
        </p:txBody>
      </p:sp>
      <p:sp>
        <p:nvSpPr>
          <p:cNvPr id="14" name="Shape 12"/>
          <p:cNvSpPr/>
          <p:nvPr/>
        </p:nvSpPr>
        <p:spPr>
          <a:xfrm>
            <a:off x="365760" y="3337560"/>
            <a:ext cx="4023360" cy="1261872"/>
          </a:xfrm>
          <a:prstGeom prst="rect">
            <a:avLst/>
          </a:prstGeom>
          <a:solidFill>
            <a:srgbClr val="E8F5E9"/>
          </a:solidFill>
          <a:ln w="6350">
            <a:solidFill>
              <a:srgbClr val="C8E6C9"/>
            </a:solidFill>
            <a:prstDash val="solid"/>
          </a:ln>
        </p:spPr>
      </p:sp>
      <p:sp>
        <p:nvSpPr>
          <p:cNvPr id="15" name="Shape 13"/>
          <p:cNvSpPr/>
          <p:nvPr/>
        </p:nvSpPr>
        <p:spPr>
          <a:xfrm>
            <a:off x="365760" y="3337560"/>
            <a:ext cx="4023360" cy="54864"/>
          </a:xfrm>
          <a:prstGeom prst="rect">
            <a:avLst/>
          </a:prstGeom>
          <a:solidFill>
            <a:srgbClr val="C62828"/>
          </a:solidFill>
          <a:ln w="12700">
            <a:solidFill>
              <a:srgbClr val="C62828"/>
            </a:solidFill>
            <a:prstDash val="solid"/>
          </a:ln>
        </p:spPr>
      </p:sp>
      <p:sp>
        <p:nvSpPr>
          <p:cNvPr id="16" name="Text 14"/>
          <p:cNvSpPr/>
          <p:nvPr/>
        </p:nvSpPr>
        <p:spPr>
          <a:xfrm>
            <a:off x="475488" y="3429000"/>
            <a:ext cx="3749040" cy="256032"/>
          </a:xfrm>
          <a:prstGeom prst="rect">
            <a:avLst/>
          </a:prstGeom>
          <a:noFill/>
          <a:ln/>
        </p:spPr>
        <p:txBody>
          <a:bodyPr wrap="square" lIns="0" tIns="0" rIns="0" bIns="0" rtlCol="0" anchor="ctr"/>
          <a:lstStyle/>
          <a:p>
            <a:pPr marL="0" indent="0">
              <a:buNone/>
            </a:pPr>
            <a:r>
              <a:rPr lang="en-US" sz="1300" b="1" dirty="0">
                <a:solidFill>
                  <a:srgbClr val="C62828"/>
                </a:solidFill>
                <a:latin typeface="Calibri" pitchFamily="34" charset="0"/>
                <a:ea typeface="Calibri" pitchFamily="34" charset="-122"/>
                <a:cs typeface="Calibri" pitchFamily="34" charset="-120"/>
              </a:rPr>
              <a:t>For Parents</a:t>
            </a:r>
            <a:endParaRPr lang="en-US" sz="1300" dirty="0"/>
          </a:p>
        </p:txBody>
      </p:sp>
      <p:sp>
        <p:nvSpPr>
          <p:cNvPr id="17" name="Text 15"/>
          <p:cNvSpPr/>
          <p:nvPr/>
        </p:nvSpPr>
        <p:spPr>
          <a:xfrm>
            <a:off x="475488" y="3721608"/>
            <a:ext cx="3749040" cy="804672"/>
          </a:xfrm>
          <a:prstGeom prst="rect">
            <a:avLst/>
          </a:prstGeom>
          <a:noFill/>
          <a:ln/>
        </p:spPr>
        <p:txBody>
          <a:bodyPr wrap="square" lIns="0" tIns="0" rIns="0" bIns="0" rtlCol="0" anchor="t"/>
          <a:lstStyle/>
          <a:p>
            <a:pPr marL="0" indent="0">
              <a:buNone/>
            </a:pPr>
            <a:r>
              <a:rPr lang="en-US" sz="1100" dirty="0">
                <a:solidFill>
                  <a:srgbClr val="212121"/>
                </a:solidFill>
                <a:latin typeface="Calibri" pitchFamily="34" charset="0"/>
                <a:ea typeface="Calibri" pitchFamily="34" charset="-122"/>
                <a:cs typeface="Calibri" pitchFamily="34" charset="-120"/>
              </a:rPr>
              <a:t>Only find out about poor attendance or bad grades when the report card arrives — sometimes months too late to help.</a:t>
            </a:r>
            <a:endParaRPr lang="en-US" sz="1100" dirty="0"/>
          </a:p>
        </p:txBody>
      </p:sp>
      <p:sp>
        <p:nvSpPr>
          <p:cNvPr id="18" name="Shape 16"/>
          <p:cNvSpPr/>
          <p:nvPr/>
        </p:nvSpPr>
        <p:spPr>
          <a:xfrm>
            <a:off x="4663440" y="3337560"/>
            <a:ext cx="4023360" cy="1261872"/>
          </a:xfrm>
          <a:prstGeom prst="rect">
            <a:avLst/>
          </a:prstGeom>
          <a:solidFill>
            <a:srgbClr val="E8F5E9"/>
          </a:solidFill>
          <a:ln w="6350">
            <a:solidFill>
              <a:srgbClr val="C8E6C9"/>
            </a:solidFill>
            <a:prstDash val="solid"/>
          </a:ln>
        </p:spPr>
      </p:sp>
      <p:sp>
        <p:nvSpPr>
          <p:cNvPr id="19" name="Shape 17"/>
          <p:cNvSpPr/>
          <p:nvPr/>
        </p:nvSpPr>
        <p:spPr>
          <a:xfrm>
            <a:off x="4663440" y="3337560"/>
            <a:ext cx="4023360" cy="54864"/>
          </a:xfrm>
          <a:prstGeom prst="rect">
            <a:avLst/>
          </a:prstGeom>
          <a:solidFill>
            <a:srgbClr val="C62828"/>
          </a:solidFill>
          <a:ln w="12700">
            <a:solidFill>
              <a:srgbClr val="C62828"/>
            </a:solidFill>
            <a:prstDash val="solid"/>
          </a:ln>
        </p:spPr>
      </p:sp>
      <p:sp>
        <p:nvSpPr>
          <p:cNvPr id="20" name="Text 18"/>
          <p:cNvSpPr/>
          <p:nvPr/>
        </p:nvSpPr>
        <p:spPr>
          <a:xfrm>
            <a:off x="4773168" y="3429000"/>
            <a:ext cx="3749040" cy="256032"/>
          </a:xfrm>
          <a:prstGeom prst="rect">
            <a:avLst/>
          </a:prstGeom>
          <a:noFill/>
          <a:ln/>
        </p:spPr>
        <p:txBody>
          <a:bodyPr wrap="square" lIns="0" tIns="0" rIns="0" bIns="0" rtlCol="0" anchor="ctr"/>
          <a:lstStyle/>
          <a:p>
            <a:pPr marL="0" indent="0">
              <a:buNone/>
            </a:pPr>
            <a:r>
              <a:rPr lang="en-US" sz="1300" b="1" dirty="0">
                <a:solidFill>
                  <a:srgbClr val="C62828"/>
                </a:solidFill>
                <a:latin typeface="Calibri" pitchFamily="34" charset="0"/>
                <a:ea typeface="Calibri" pitchFamily="34" charset="-122"/>
                <a:cs typeface="Calibri" pitchFamily="34" charset="-120"/>
              </a:rPr>
              <a:t>For Admins</a:t>
            </a:r>
            <a:endParaRPr lang="en-US" sz="1300" dirty="0"/>
          </a:p>
        </p:txBody>
      </p:sp>
      <p:sp>
        <p:nvSpPr>
          <p:cNvPr id="21" name="Text 19"/>
          <p:cNvSpPr/>
          <p:nvPr/>
        </p:nvSpPr>
        <p:spPr>
          <a:xfrm>
            <a:off x="4773168" y="3721608"/>
            <a:ext cx="3749040" cy="804672"/>
          </a:xfrm>
          <a:prstGeom prst="rect">
            <a:avLst/>
          </a:prstGeom>
          <a:noFill/>
          <a:ln/>
        </p:spPr>
        <p:txBody>
          <a:bodyPr wrap="square" lIns="0" tIns="0" rIns="0" bIns="0" rtlCol="0" anchor="t"/>
          <a:lstStyle/>
          <a:p>
            <a:pPr marL="0" indent="0">
              <a:buNone/>
            </a:pPr>
            <a:r>
              <a:rPr lang="en-US" sz="1100" dirty="0">
                <a:solidFill>
                  <a:srgbClr val="212121"/>
                </a:solidFill>
                <a:latin typeface="Calibri" pitchFamily="34" charset="0"/>
                <a:ea typeface="Calibri" pitchFamily="34" charset="-122"/>
                <a:cs typeface="Calibri" pitchFamily="34" charset="-120"/>
              </a:rPr>
              <a:t>Create and manage accounts in spreadsheets. No easy way to assign classes, reset passwords, or oversee all users.</a:t>
            </a:r>
            <a:endParaRPr lang="en-US" sz="1100" dirty="0"/>
          </a:p>
        </p:txBody>
      </p:sp>
      <p:sp>
        <p:nvSpPr>
          <p:cNvPr id="22" name="Text 20"/>
          <p:cNvSpPr/>
          <p:nvPr/>
        </p:nvSpPr>
        <p:spPr>
          <a:xfrm>
            <a:off x="365760" y="4892040"/>
            <a:ext cx="8412480" cy="201168"/>
          </a:xfrm>
          <a:prstGeom prst="rect">
            <a:avLst/>
          </a:prstGeom>
          <a:noFill/>
          <a:ln/>
        </p:spPr>
        <p:txBody>
          <a:bodyPr wrap="square" lIns="0" tIns="0" rIns="0" bIns="0" rtlCol="0" anchor="ctr"/>
          <a:lstStyle/>
          <a:p>
            <a:pPr marL="0" indent="0" algn="r">
              <a:buNone/>
            </a:pPr>
            <a:r>
              <a:rPr lang="en-US" sz="900" i="1" dirty="0">
                <a:solidFill>
                  <a:srgbClr val="AAAAAA"/>
                </a:solidFill>
                <a:latin typeface="Calibri" pitchFamily="34" charset="0"/>
                <a:ea typeface="Calibri" pitchFamily="34" charset="-122"/>
                <a:cs typeface="Calibri" pitchFamily="34" charset="-120"/>
              </a:rPr>
              <a:t>Avishek Pandey  |  IT Project Management  |  IT Student Management System</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C1A"/>
          </a:solidFill>
          <a:ln w="12700">
            <a:solidFill>
              <a:srgbClr val="1A3C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Section 3  |  Background – User Personas: Admin &amp; Teacher</a:t>
            </a:r>
            <a:endParaRPr lang="en-US" sz="2400" dirty="0"/>
          </a:p>
        </p:txBody>
      </p:sp>
      <p:sp>
        <p:nvSpPr>
          <p:cNvPr id="4" name="Shape 2"/>
          <p:cNvSpPr/>
          <p:nvPr/>
        </p:nvSpPr>
        <p:spPr>
          <a:xfrm>
            <a:off x="365760" y="1051560"/>
            <a:ext cx="4023360" cy="3749040"/>
          </a:xfrm>
          <a:prstGeom prst="rect">
            <a:avLst/>
          </a:prstGeom>
          <a:solidFill>
            <a:srgbClr val="FFFFFF"/>
          </a:solidFill>
          <a:ln w="10160">
            <a:solidFill>
              <a:srgbClr val="C8E6C9"/>
            </a:solidFill>
            <a:prstDash val="solid"/>
          </a:ln>
        </p:spPr>
      </p:sp>
      <p:sp>
        <p:nvSpPr>
          <p:cNvPr id="5" name="Shape 3"/>
          <p:cNvSpPr/>
          <p:nvPr/>
        </p:nvSpPr>
        <p:spPr>
          <a:xfrm>
            <a:off x="365760" y="1051560"/>
            <a:ext cx="4023360" cy="640080"/>
          </a:xfrm>
          <a:prstGeom prst="rect">
            <a:avLst/>
          </a:prstGeom>
          <a:solidFill>
            <a:srgbClr val="1A3C1A"/>
          </a:solidFill>
          <a:ln w="12700">
            <a:solidFill>
              <a:srgbClr val="1A3C1A"/>
            </a:solidFill>
            <a:prstDash val="solid"/>
          </a:ln>
        </p:spPr>
      </p:sp>
      <p:sp>
        <p:nvSpPr>
          <p:cNvPr id="6" name="Shape 4"/>
          <p:cNvSpPr/>
          <p:nvPr/>
        </p:nvSpPr>
        <p:spPr>
          <a:xfrm>
            <a:off x="502920" y="1161288"/>
            <a:ext cx="411480" cy="411480"/>
          </a:xfrm>
          <a:prstGeom prst="ellipse">
            <a:avLst/>
          </a:prstGeom>
          <a:solidFill>
            <a:srgbClr val="2E7D32"/>
          </a:solidFill>
          <a:ln w="12700">
            <a:solidFill>
              <a:srgbClr val="FFFFFF"/>
            </a:solidFill>
            <a:prstDash val="solid"/>
          </a:ln>
        </p:spPr>
      </p:sp>
      <p:sp>
        <p:nvSpPr>
          <p:cNvPr id="7" name="Text 5"/>
          <p:cNvSpPr/>
          <p:nvPr/>
        </p:nvSpPr>
        <p:spPr>
          <a:xfrm>
            <a:off x="502920" y="116128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a:t>
            </a:r>
            <a:endParaRPr lang="en-US" sz="1600" dirty="0"/>
          </a:p>
        </p:txBody>
      </p:sp>
      <p:sp>
        <p:nvSpPr>
          <p:cNvPr id="8" name="Text 6"/>
          <p:cNvSpPr/>
          <p:nvPr/>
        </p:nvSpPr>
        <p:spPr>
          <a:xfrm>
            <a:off x="987552" y="1143000"/>
            <a:ext cx="3310128"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Rajan Sharma</a:t>
            </a:r>
            <a:endParaRPr lang="en-US" sz="1400" dirty="0"/>
          </a:p>
        </p:txBody>
      </p:sp>
      <p:sp>
        <p:nvSpPr>
          <p:cNvPr id="9" name="Text 7"/>
          <p:cNvSpPr/>
          <p:nvPr/>
        </p:nvSpPr>
        <p:spPr>
          <a:xfrm>
            <a:off x="987552" y="1399032"/>
            <a:ext cx="3310128" cy="201168"/>
          </a:xfrm>
          <a:prstGeom prst="rect">
            <a:avLst/>
          </a:prstGeom>
          <a:noFill/>
          <a:ln/>
        </p:spPr>
        <p:txBody>
          <a:bodyPr wrap="square" lIns="0" tIns="0" rIns="0" bIns="0" rtlCol="0" anchor="ctr"/>
          <a:lstStyle/>
          <a:p>
            <a:pPr marL="0" indent="0">
              <a:buNone/>
            </a:pPr>
            <a:r>
              <a:rPr lang="en-US" sz="1000" dirty="0">
                <a:solidFill>
                  <a:srgbClr val="A5D6A7"/>
                </a:solidFill>
                <a:latin typeface="Calibri" pitchFamily="34" charset="0"/>
                <a:ea typeface="Calibri" pitchFamily="34" charset="-122"/>
                <a:cs typeface="Calibri" pitchFamily="34" charset="-120"/>
              </a:rPr>
              <a:t>School Administrator  |  Age: 42</a:t>
            </a:r>
            <a:endParaRPr lang="en-US" sz="1000" dirty="0"/>
          </a:p>
        </p:txBody>
      </p:sp>
      <p:sp>
        <p:nvSpPr>
          <p:cNvPr id="10" name="Shape 8"/>
          <p:cNvSpPr/>
          <p:nvPr/>
        </p:nvSpPr>
        <p:spPr>
          <a:xfrm>
            <a:off x="475488" y="1801368"/>
            <a:ext cx="3803904" cy="219456"/>
          </a:xfrm>
          <a:prstGeom prst="rect">
            <a:avLst/>
          </a:prstGeom>
          <a:solidFill>
            <a:srgbClr val="2E7D32"/>
          </a:solidFill>
          <a:ln w="12700">
            <a:solidFill>
              <a:srgbClr val="2E7D32"/>
            </a:solidFill>
            <a:prstDash val="solid"/>
          </a:ln>
        </p:spPr>
      </p:sp>
      <p:sp>
        <p:nvSpPr>
          <p:cNvPr id="11" name="Text 9"/>
          <p:cNvSpPr/>
          <p:nvPr/>
        </p:nvSpPr>
        <p:spPr>
          <a:xfrm>
            <a:off x="493776" y="1801368"/>
            <a:ext cx="3785616"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Goal</a:t>
            </a:r>
            <a:endParaRPr lang="en-US" sz="950" dirty="0"/>
          </a:p>
        </p:txBody>
      </p:sp>
      <p:sp>
        <p:nvSpPr>
          <p:cNvPr id="12" name="Text 10"/>
          <p:cNvSpPr/>
          <p:nvPr/>
        </p:nvSpPr>
        <p:spPr>
          <a:xfrm>
            <a:off x="493776" y="2039112"/>
            <a:ext cx="3785616" cy="713232"/>
          </a:xfrm>
          <a:prstGeom prst="rect">
            <a:avLst/>
          </a:prstGeom>
          <a:noFill/>
          <a:ln/>
        </p:spPr>
        <p:txBody>
          <a:bodyPr wrap="square" lIns="0" tIns="0" rIns="0" bIns="0" rtlCol="0" anchor="t"/>
          <a:lstStyle/>
          <a:p>
            <a:pPr marL="0" indent="0">
              <a:buNone/>
            </a:pPr>
            <a:r>
              <a:rPr lang="en-US" sz="1050" dirty="0">
                <a:solidFill>
                  <a:srgbClr val="212121"/>
                </a:solidFill>
                <a:latin typeface="Calibri" pitchFamily="34" charset="0"/>
                <a:ea typeface="Calibri" pitchFamily="34" charset="-122"/>
                <a:cs typeface="Calibri" pitchFamily="34" charset="-120"/>
              </a:rPr>
              <a:t>Manage all accounts quickly without mistakes. Have full control over who accesses what.</a:t>
            </a:r>
            <a:endParaRPr lang="en-US" sz="1050" dirty="0"/>
          </a:p>
        </p:txBody>
      </p:sp>
      <p:sp>
        <p:nvSpPr>
          <p:cNvPr id="13" name="Shape 11"/>
          <p:cNvSpPr/>
          <p:nvPr/>
        </p:nvSpPr>
        <p:spPr>
          <a:xfrm>
            <a:off x="475488" y="2807208"/>
            <a:ext cx="3803904" cy="219456"/>
          </a:xfrm>
          <a:prstGeom prst="rect">
            <a:avLst/>
          </a:prstGeom>
          <a:solidFill>
            <a:srgbClr val="C62828"/>
          </a:solidFill>
          <a:ln w="12700">
            <a:solidFill>
              <a:srgbClr val="C62828"/>
            </a:solidFill>
            <a:prstDash val="solid"/>
          </a:ln>
        </p:spPr>
      </p:sp>
      <p:sp>
        <p:nvSpPr>
          <p:cNvPr id="14" name="Text 12"/>
          <p:cNvSpPr/>
          <p:nvPr/>
        </p:nvSpPr>
        <p:spPr>
          <a:xfrm>
            <a:off x="493776" y="2807208"/>
            <a:ext cx="3785616"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Frustration</a:t>
            </a:r>
            <a:endParaRPr lang="en-US" sz="950" dirty="0"/>
          </a:p>
        </p:txBody>
      </p:sp>
      <p:sp>
        <p:nvSpPr>
          <p:cNvPr id="15" name="Text 13"/>
          <p:cNvSpPr/>
          <p:nvPr/>
        </p:nvSpPr>
        <p:spPr>
          <a:xfrm>
            <a:off x="493776" y="3044952"/>
            <a:ext cx="3785616" cy="713232"/>
          </a:xfrm>
          <a:prstGeom prst="rect">
            <a:avLst/>
          </a:prstGeom>
          <a:noFill/>
          <a:ln/>
        </p:spPr>
        <p:txBody>
          <a:bodyPr wrap="square" lIns="0" tIns="0" rIns="0" bIns="0" rtlCol="0" anchor="t"/>
          <a:lstStyle/>
          <a:p>
            <a:pPr marL="0" indent="0">
              <a:buNone/>
            </a:pPr>
            <a:r>
              <a:rPr lang="en-US" sz="1050" dirty="0">
                <a:solidFill>
                  <a:srgbClr val="212121"/>
                </a:solidFill>
                <a:latin typeface="Calibri" pitchFamily="34" charset="0"/>
                <a:ea typeface="Calibri" pitchFamily="34" charset="-122"/>
                <a:cs typeface="Calibri" pitchFamily="34" charset="-120"/>
              </a:rPr>
              <a:t>Spends hours creating accounts in spreadsheets. Forgets to update class lists. Cannot easily reset passwords.</a:t>
            </a:r>
            <a:endParaRPr lang="en-US" sz="1050" dirty="0"/>
          </a:p>
        </p:txBody>
      </p:sp>
      <p:sp>
        <p:nvSpPr>
          <p:cNvPr id="16" name="Shape 14"/>
          <p:cNvSpPr/>
          <p:nvPr/>
        </p:nvSpPr>
        <p:spPr>
          <a:xfrm>
            <a:off x="475488" y="3813048"/>
            <a:ext cx="3803904" cy="219456"/>
          </a:xfrm>
          <a:prstGeom prst="rect">
            <a:avLst/>
          </a:prstGeom>
          <a:solidFill>
            <a:srgbClr val="1565C0"/>
          </a:solidFill>
          <a:ln w="12700">
            <a:solidFill>
              <a:srgbClr val="1565C0"/>
            </a:solidFill>
            <a:prstDash val="solid"/>
          </a:ln>
        </p:spPr>
      </p:sp>
      <p:sp>
        <p:nvSpPr>
          <p:cNvPr id="17" name="Text 15"/>
          <p:cNvSpPr/>
          <p:nvPr/>
        </p:nvSpPr>
        <p:spPr>
          <a:xfrm>
            <a:off x="493776" y="3813048"/>
            <a:ext cx="3785616"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In their words</a:t>
            </a:r>
            <a:endParaRPr lang="en-US" sz="950" dirty="0"/>
          </a:p>
        </p:txBody>
      </p:sp>
      <p:sp>
        <p:nvSpPr>
          <p:cNvPr id="18" name="Text 16"/>
          <p:cNvSpPr/>
          <p:nvPr/>
        </p:nvSpPr>
        <p:spPr>
          <a:xfrm>
            <a:off x="493776" y="4050792"/>
            <a:ext cx="3785616" cy="713232"/>
          </a:xfrm>
          <a:prstGeom prst="rect">
            <a:avLst/>
          </a:prstGeom>
          <a:noFill/>
          <a:ln/>
        </p:spPr>
        <p:txBody>
          <a:bodyPr wrap="square" lIns="0" tIns="0" rIns="0" bIns="0" rtlCol="0" anchor="t"/>
          <a:lstStyle/>
          <a:p>
            <a:pPr marL="0" indent="0">
              <a:buNone/>
            </a:pPr>
            <a:r>
              <a:rPr lang="en-US" sz="1050" dirty="0">
                <a:solidFill>
                  <a:srgbClr val="212121"/>
                </a:solidFill>
                <a:latin typeface="Calibri" pitchFamily="34" charset="0"/>
                <a:ea typeface="Calibri" pitchFamily="34" charset="-122"/>
                <a:cs typeface="Calibri" pitchFamily="34" charset="-120"/>
              </a:rPr>
              <a:t>"I just want one place where I can see everything and make changes without calling IT every time."</a:t>
            </a:r>
            <a:endParaRPr lang="en-US" sz="1050" dirty="0"/>
          </a:p>
        </p:txBody>
      </p:sp>
      <p:sp>
        <p:nvSpPr>
          <p:cNvPr id="19" name="Shape 17"/>
          <p:cNvSpPr/>
          <p:nvPr/>
        </p:nvSpPr>
        <p:spPr>
          <a:xfrm>
            <a:off x="4754880" y="1051560"/>
            <a:ext cx="4023360" cy="3749040"/>
          </a:xfrm>
          <a:prstGeom prst="rect">
            <a:avLst/>
          </a:prstGeom>
          <a:solidFill>
            <a:srgbClr val="FFFFFF"/>
          </a:solidFill>
          <a:ln w="10160">
            <a:solidFill>
              <a:srgbClr val="C8E6C9"/>
            </a:solidFill>
            <a:prstDash val="solid"/>
          </a:ln>
        </p:spPr>
      </p:sp>
      <p:sp>
        <p:nvSpPr>
          <p:cNvPr id="20" name="Shape 18"/>
          <p:cNvSpPr/>
          <p:nvPr/>
        </p:nvSpPr>
        <p:spPr>
          <a:xfrm>
            <a:off x="4754880" y="1051560"/>
            <a:ext cx="4023360" cy="640080"/>
          </a:xfrm>
          <a:prstGeom prst="rect">
            <a:avLst/>
          </a:prstGeom>
          <a:solidFill>
            <a:srgbClr val="1A3C1A"/>
          </a:solidFill>
          <a:ln w="12700">
            <a:solidFill>
              <a:srgbClr val="1A3C1A"/>
            </a:solidFill>
            <a:prstDash val="solid"/>
          </a:ln>
        </p:spPr>
      </p:sp>
      <p:sp>
        <p:nvSpPr>
          <p:cNvPr id="21" name="Shape 19"/>
          <p:cNvSpPr/>
          <p:nvPr/>
        </p:nvSpPr>
        <p:spPr>
          <a:xfrm>
            <a:off x="4892040" y="1161288"/>
            <a:ext cx="411480" cy="411480"/>
          </a:xfrm>
          <a:prstGeom prst="ellipse">
            <a:avLst/>
          </a:prstGeom>
          <a:solidFill>
            <a:srgbClr val="2E7D32"/>
          </a:solidFill>
          <a:ln w="12700">
            <a:solidFill>
              <a:srgbClr val="FFFFFF"/>
            </a:solidFill>
            <a:prstDash val="solid"/>
          </a:ln>
        </p:spPr>
      </p:sp>
      <p:sp>
        <p:nvSpPr>
          <p:cNvPr id="22" name="Text 20"/>
          <p:cNvSpPr/>
          <p:nvPr/>
        </p:nvSpPr>
        <p:spPr>
          <a:xfrm>
            <a:off x="4892040" y="116128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a:t>
            </a:r>
            <a:endParaRPr lang="en-US" sz="1600" dirty="0"/>
          </a:p>
        </p:txBody>
      </p:sp>
      <p:sp>
        <p:nvSpPr>
          <p:cNvPr id="23" name="Text 21"/>
          <p:cNvSpPr/>
          <p:nvPr/>
        </p:nvSpPr>
        <p:spPr>
          <a:xfrm>
            <a:off x="5376672" y="1143000"/>
            <a:ext cx="3310128"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Priya Mehta</a:t>
            </a:r>
            <a:endParaRPr lang="en-US" sz="1400" dirty="0"/>
          </a:p>
        </p:txBody>
      </p:sp>
      <p:sp>
        <p:nvSpPr>
          <p:cNvPr id="24" name="Text 22"/>
          <p:cNvSpPr/>
          <p:nvPr/>
        </p:nvSpPr>
        <p:spPr>
          <a:xfrm>
            <a:off x="5376672" y="1399032"/>
            <a:ext cx="3310128" cy="201168"/>
          </a:xfrm>
          <a:prstGeom prst="rect">
            <a:avLst/>
          </a:prstGeom>
          <a:noFill/>
          <a:ln/>
        </p:spPr>
        <p:txBody>
          <a:bodyPr wrap="square" lIns="0" tIns="0" rIns="0" bIns="0" rtlCol="0" anchor="ctr"/>
          <a:lstStyle/>
          <a:p>
            <a:pPr marL="0" indent="0">
              <a:buNone/>
            </a:pPr>
            <a:r>
              <a:rPr lang="en-US" sz="1000" dirty="0">
                <a:solidFill>
                  <a:srgbClr val="A5D6A7"/>
                </a:solidFill>
                <a:latin typeface="Calibri" pitchFamily="34" charset="0"/>
                <a:ea typeface="Calibri" pitchFamily="34" charset="-122"/>
                <a:cs typeface="Calibri" pitchFamily="34" charset="-120"/>
              </a:rPr>
              <a:t>Class Teacher  |  Age: 34</a:t>
            </a:r>
            <a:endParaRPr lang="en-US" sz="1000" dirty="0"/>
          </a:p>
        </p:txBody>
      </p:sp>
      <p:sp>
        <p:nvSpPr>
          <p:cNvPr id="25" name="Shape 23"/>
          <p:cNvSpPr/>
          <p:nvPr/>
        </p:nvSpPr>
        <p:spPr>
          <a:xfrm>
            <a:off x="4864608" y="1801368"/>
            <a:ext cx="3803904" cy="219456"/>
          </a:xfrm>
          <a:prstGeom prst="rect">
            <a:avLst/>
          </a:prstGeom>
          <a:solidFill>
            <a:srgbClr val="2E7D32"/>
          </a:solidFill>
          <a:ln w="12700">
            <a:solidFill>
              <a:srgbClr val="2E7D32"/>
            </a:solidFill>
            <a:prstDash val="solid"/>
          </a:ln>
        </p:spPr>
      </p:sp>
      <p:sp>
        <p:nvSpPr>
          <p:cNvPr id="26" name="Text 24"/>
          <p:cNvSpPr/>
          <p:nvPr/>
        </p:nvSpPr>
        <p:spPr>
          <a:xfrm>
            <a:off x="4882896" y="1801368"/>
            <a:ext cx="3785616"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Goal</a:t>
            </a:r>
            <a:endParaRPr lang="en-US" sz="950" dirty="0"/>
          </a:p>
        </p:txBody>
      </p:sp>
      <p:sp>
        <p:nvSpPr>
          <p:cNvPr id="27" name="Text 25"/>
          <p:cNvSpPr/>
          <p:nvPr/>
        </p:nvSpPr>
        <p:spPr>
          <a:xfrm>
            <a:off x="4882896" y="2039112"/>
            <a:ext cx="3785616" cy="713232"/>
          </a:xfrm>
          <a:prstGeom prst="rect">
            <a:avLst/>
          </a:prstGeom>
          <a:noFill/>
          <a:ln/>
        </p:spPr>
        <p:txBody>
          <a:bodyPr wrap="square" lIns="0" tIns="0" rIns="0" bIns="0" rtlCol="0" anchor="t"/>
          <a:lstStyle/>
          <a:p>
            <a:pPr marL="0" indent="0">
              <a:buNone/>
            </a:pPr>
            <a:r>
              <a:rPr lang="en-US" sz="1050" dirty="0">
                <a:solidFill>
                  <a:srgbClr val="212121"/>
                </a:solidFill>
                <a:latin typeface="Calibri" pitchFamily="34" charset="0"/>
                <a:ea typeface="Calibri" pitchFamily="34" charset="-122"/>
                <a:cs typeface="Calibri" pitchFamily="34" charset="-120"/>
              </a:rPr>
              <a:t>Upload class materials easily, record attendance in a few clicks, and track which students are falling behind.</a:t>
            </a:r>
            <a:endParaRPr lang="en-US" sz="1050" dirty="0"/>
          </a:p>
        </p:txBody>
      </p:sp>
      <p:sp>
        <p:nvSpPr>
          <p:cNvPr id="28" name="Shape 26"/>
          <p:cNvSpPr/>
          <p:nvPr/>
        </p:nvSpPr>
        <p:spPr>
          <a:xfrm>
            <a:off x="4864608" y="2807208"/>
            <a:ext cx="3803904" cy="219456"/>
          </a:xfrm>
          <a:prstGeom prst="rect">
            <a:avLst/>
          </a:prstGeom>
          <a:solidFill>
            <a:srgbClr val="C62828"/>
          </a:solidFill>
          <a:ln w="12700">
            <a:solidFill>
              <a:srgbClr val="C62828"/>
            </a:solidFill>
            <a:prstDash val="solid"/>
          </a:ln>
        </p:spPr>
      </p:sp>
      <p:sp>
        <p:nvSpPr>
          <p:cNvPr id="29" name="Text 27"/>
          <p:cNvSpPr/>
          <p:nvPr/>
        </p:nvSpPr>
        <p:spPr>
          <a:xfrm>
            <a:off x="4882896" y="2807208"/>
            <a:ext cx="3785616"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Frustration</a:t>
            </a:r>
            <a:endParaRPr lang="en-US" sz="950" dirty="0"/>
          </a:p>
        </p:txBody>
      </p:sp>
      <p:sp>
        <p:nvSpPr>
          <p:cNvPr id="30" name="Text 28"/>
          <p:cNvSpPr/>
          <p:nvPr/>
        </p:nvSpPr>
        <p:spPr>
          <a:xfrm>
            <a:off x="4882896" y="3044952"/>
            <a:ext cx="3785616" cy="713232"/>
          </a:xfrm>
          <a:prstGeom prst="rect">
            <a:avLst/>
          </a:prstGeom>
          <a:noFill/>
          <a:ln/>
        </p:spPr>
        <p:txBody>
          <a:bodyPr wrap="square" lIns="0" tIns="0" rIns="0" bIns="0" rtlCol="0" anchor="t"/>
          <a:lstStyle/>
          <a:p>
            <a:pPr marL="0" indent="0">
              <a:buNone/>
            </a:pPr>
            <a:r>
              <a:rPr lang="en-US" sz="1050" dirty="0">
                <a:solidFill>
                  <a:srgbClr val="212121"/>
                </a:solidFill>
                <a:latin typeface="Calibri" pitchFamily="34" charset="0"/>
                <a:ea typeface="Calibri" pitchFamily="34" charset="-122"/>
                <a:cs typeface="Calibri" pitchFamily="34" charset="-120"/>
              </a:rPr>
              <a:t>Uploads files to different folders and students cannot find them. Attendance sheets get lost.</a:t>
            </a:r>
            <a:endParaRPr lang="en-US" sz="1050" dirty="0"/>
          </a:p>
        </p:txBody>
      </p:sp>
      <p:sp>
        <p:nvSpPr>
          <p:cNvPr id="31" name="Shape 29"/>
          <p:cNvSpPr/>
          <p:nvPr/>
        </p:nvSpPr>
        <p:spPr>
          <a:xfrm>
            <a:off x="4864608" y="3813048"/>
            <a:ext cx="3803904" cy="219456"/>
          </a:xfrm>
          <a:prstGeom prst="rect">
            <a:avLst/>
          </a:prstGeom>
          <a:solidFill>
            <a:srgbClr val="1565C0"/>
          </a:solidFill>
          <a:ln w="12700">
            <a:solidFill>
              <a:srgbClr val="1565C0"/>
            </a:solidFill>
            <a:prstDash val="solid"/>
          </a:ln>
        </p:spPr>
      </p:sp>
      <p:sp>
        <p:nvSpPr>
          <p:cNvPr id="32" name="Text 30"/>
          <p:cNvSpPr/>
          <p:nvPr/>
        </p:nvSpPr>
        <p:spPr>
          <a:xfrm>
            <a:off x="4882896" y="3813048"/>
            <a:ext cx="3785616"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In their words</a:t>
            </a:r>
            <a:endParaRPr lang="en-US" sz="950" dirty="0"/>
          </a:p>
        </p:txBody>
      </p:sp>
      <p:sp>
        <p:nvSpPr>
          <p:cNvPr id="33" name="Text 31"/>
          <p:cNvSpPr/>
          <p:nvPr/>
        </p:nvSpPr>
        <p:spPr>
          <a:xfrm>
            <a:off x="4882896" y="4050792"/>
            <a:ext cx="3785616" cy="713232"/>
          </a:xfrm>
          <a:prstGeom prst="rect">
            <a:avLst/>
          </a:prstGeom>
          <a:noFill/>
          <a:ln/>
        </p:spPr>
        <p:txBody>
          <a:bodyPr wrap="square" lIns="0" tIns="0" rIns="0" bIns="0" rtlCol="0" anchor="t"/>
          <a:lstStyle/>
          <a:p>
            <a:pPr marL="0" indent="0">
              <a:buNone/>
            </a:pPr>
            <a:r>
              <a:rPr lang="en-US" sz="1050" dirty="0">
                <a:solidFill>
                  <a:srgbClr val="212121"/>
                </a:solidFill>
                <a:latin typeface="Calibri" pitchFamily="34" charset="0"/>
                <a:ea typeface="Calibri" pitchFamily="34" charset="-122"/>
                <a:cs typeface="Calibri" pitchFamily="34" charset="-120"/>
              </a:rPr>
              <a:t>"Marking attendance on paper and then typing it into a spreadsheet is a waste of my time."</a:t>
            </a:r>
            <a:endParaRPr lang="en-US" sz="1050" dirty="0"/>
          </a:p>
        </p:txBody>
      </p:sp>
      <p:sp>
        <p:nvSpPr>
          <p:cNvPr id="34" name="Text 32"/>
          <p:cNvSpPr/>
          <p:nvPr/>
        </p:nvSpPr>
        <p:spPr>
          <a:xfrm>
            <a:off x="365760" y="4892040"/>
            <a:ext cx="8412480" cy="201168"/>
          </a:xfrm>
          <a:prstGeom prst="rect">
            <a:avLst/>
          </a:prstGeom>
          <a:noFill/>
          <a:ln/>
        </p:spPr>
        <p:txBody>
          <a:bodyPr wrap="square" lIns="0" tIns="0" rIns="0" bIns="0" rtlCol="0" anchor="ctr"/>
          <a:lstStyle/>
          <a:p>
            <a:pPr marL="0" indent="0" algn="r">
              <a:buNone/>
            </a:pPr>
            <a:r>
              <a:rPr lang="en-US" sz="900" i="1" dirty="0">
                <a:solidFill>
                  <a:srgbClr val="AAAAAA"/>
                </a:solidFill>
                <a:latin typeface="Calibri" pitchFamily="34" charset="0"/>
                <a:ea typeface="Calibri" pitchFamily="34" charset="-122"/>
                <a:cs typeface="Calibri" pitchFamily="34" charset="-120"/>
              </a:rPr>
              <a:t>Avishek Pandey  |  IT Project Management  |  IT Student Management System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9F9"/>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C1A"/>
          </a:solidFill>
          <a:ln w="12700">
            <a:solidFill>
              <a:srgbClr val="1A3C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Section 3  |  Background – User Personas: Student &amp; Parent</a:t>
            </a:r>
            <a:endParaRPr lang="en-US" sz="2400" dirty="0"/>
          </a:p>
        </p:txBody>
      </p:sp>
      <p:sp>
        <p:nvSpPr>
          <p:cNvPr id="4" name="Shape 2"/>
          <p:cNvSpPr/>
          <p:nvPr/>
        </p:nvSpPr>
        <p:spPr>
          <a:xfrm>
            <a:off x="365760" y="1051560"/>
            <a:ext cx="4023360" cy="3749040"/>
          </a:xfrm>
          <a:prstGeom prst="rect">
            <a:avLst/>
          </a:prstGeom>
          <a:solidFill>
            <a:srgbClr val="FFFFFF"/>
          </a:solidFill>
          <a:ln w="10160">
            <a:solidFill>
              <a:srgbClr val="C8E6C9"/>
            </a:solidFill>
            <a:prstDash val="solid"/>
          </a:ln>
        </p:spPr>
      </p:sp>
      <p:sp>
        <p:nvSpPr>
          <p:cNvPr id="5" name="Shape 3"/>
          <p:cNvSpPr/>
          <p:nvPr/>
        </p:nvSpPr>
        <p:spPr>
          <a:xfrm>
            <a:off x="365760" y="1051560"/>
            <a:ext cx="4023360" cy="640080"/>
          </a:xfrm>
          <a:prstGeom prst="rect">
            <a:avLst/>
          </a:prstGeom>
          <a:solidFill>
            <a:srgbClr val="1A3C1A"/>
          </a:solidFill>
          <a:ln w="12700">
            <a:solidFill>
              <a:srgbClr val="1A3C1A"/>
            </a:solidFill>
            <a:prstDash val="solid"/>
          </a:ln>
        </p:spPr>
      </p:sp>
      <p:sp>
        <p:nvSpPr>
          <p:cNvPr id="6" name="Shape 4"/>
          <p:cNvSpPr/>
          <p:nvPr/>
        </p:nvSpPr>
        <p:spPr>
          <a:xfrm>
            <a:off x="502920" y="1161288"/>
            <a:ext cx="411480" cy="411480"/>
          </a:xfrm>
          <a:prstGeom prst="ellipse">
            <a:avLst/>
          </a:prstGeom>
          <a:solidFill>
            <a:srgbClr val="2E7D32"/>
          </a:solidFill>
          <a:ln w="12700">
            <a:solidFill>
              <a:srgbClr val="FFFFFF"/>
            </a:solidFill>
            <a:prstDash val="solid"/>
          </a:ln>
        </p:spPr>
      </p:sp>
      <p:sp>
        <p:nvSpPr>
          <p:cNvPr id="7" name="Text 5"/>
          <p:cNvSpPr/>
          <p:nvPr/>
        </p:nvSpPr>
        <p:spPr>
          <a:xfrm>
            <a:off x="502920" y="116128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8" name="Text 6"/>
          <p:cNvSpPr/>
          <p:nvPr/>
        </p:nvSpPr>
        <p:spPr>
          <a:xfrm>
            <a:off x="987552" y="1143000"/>
            <a:ext cx="3310128"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Aarav Singh</a:t>
            </a:r>
            <a:endParaRPr lang="en-US" sz="1400" dirty="0"/>
          </a:p>
        </p:txBody>
      </p:sp>
      <p:sp>
        <p:nvSpPr>
          <p:cNvPr id="9" name="Text 7"/>
          <p:cNvSpPr/>
          <p:nvPr/>
        </p:nvSpPr>
        <p:spPr>
          <a:xfrm>
            <a:off x="987552" y="1399032"/>
            <a:ext cx="3310128" cy="201168"/>
          </a:xfrm>
          <a:prstGeom prst="rect">
            <a:avLst/>
          </a:prstGeom>
          <a:noFill/>
          <a:ln/>
        </p:spPr>
        <p:txBody>
          <a:bodyPr wrap="square" lIns="0" tIns="0" rIns="0" bIns="0" rtlCol="0" anchor="ctr"/>
          <a:lstStyle/>
          <a:p>
            <a:pPr marL="0" indent="0">
              <a:buNone/>
            </a:pPr>
            <a:r>
              <a:rPr lang="en-US" sz="1000" dirty="0">
                <a:solidFill>
                  <a:srgbClr val="A5D6A7"/>
                </a:solidFill>
                <a:latin typeface="Calibri" pitchFamily="34" charset="0"/>
                <a:ea typeface="Calibri" pitchFamily="34" charset="-122"/>
                <a:cs typeface="Calibri" pitchFamily="34" charset="-120"/>
              </a:rPr>
              <a:t>Student – Class 10  |  Age: 16</a:t>
            </a:r>
            <a:endParaRPr lang="en-US" sz="1000" dirty="0"/>
          </a:p>
        </p:txBody>
      </p:sp>
      <p:sp>
        <p:nvSpPr>
          <p:cNvPr id="10" name="Shape 8"/>
          <p:cNvSpPr/>
          <p:nvPr/>
        </p:nvSpPr>
        <p:spPr>
          <a:xfrm>
            <a:off x="475488" y="1801368"/>
            <a:ext cx="3803904" cy="219456"/>
          </a:xfrm>
          <a:prstGeom prst="rect">
            <a:avLst/>
          </a:prstGeom>
          <a:solidFill>
            <a:srgbClr val="2E7D32"/>
          </a:solidFill>
          <a:ln w="12700">
            <a:solidFill>
              <a:srgbClr val="2E7D32"/>
            </a:solidFill>
            <a:prstDash val="solid"/>
          </a:ln>
        </p:spPr>
      </p:sp>
      <p:sp>
        <p:nvSpPr>
          <p:cNvPr id="11" name="Text 9"/>
          <p:cNvSpPr/>
          <p:nvPr/>
        </p:nvSpPr>
        <p:spPr>
          <a:xfrm>
            <a:off x="493776" y="1801368"/>
            <a:ext cx="3785616"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Goal</a:t>
            </a:r>
            <a:endParaRPr lang="en-US" sz="950" dirty="0"/>
          </a:p>
        </p:txBody>
      </p:sp>
      <p:sp>
        <p:nvSpPr>
          <p:cNvPr id="12" name="Text 10"/>
          <p:cNvSpPr/>
          <p:nvPr/>
        </p:nvSpPr>
        <p:spPr>
          <a:xfrm>
            <a:off x="493776" y="2039112"/>
            <a:ext cx="3785616" cy="713232"/>
          </a:xfrm>
          <a:prstGeom prst="rect">
            <a:avLst/>
          </a:prstGeom>
          <a:noFill/>
          <a:ln/>
        </p:spPr>
        <p:txBody>
          <a:bodyPr wrap="square" lIns="0" tIns="0" rIns="0" bIns="0" rtlCol="0" anchor="t"/>
          <a:lstStyle/>
          <a:p>
            <a:pPr marL="0" indent="0">
              <a:buNone/>
            </a:pPr>
            <a:r>
              <a:rPr lang="en-US" sz="1050" dirty="0">
                <a:solidFill>
                  <a:srgbClr val="212121"/>
                </a:solidFill>
                <a:latin typeface="Calibri" pitchFamily="34" charset="0"/>
                <a:ea typeface="Calibri" pitchFamily="34" charset="-122"/>
                <a:cs typeface="Calibri" pitchFamily="34" charset="-120"/>
              </a:rPr>
              <a:t>Check grades and attendance anytime. Download study materials from one place.</a:t>
            </a:r>
            <a:endParaRPr lang="en-US" sz="1050" dirty="0"/>
          </a:p>
        </p:txBody>
      </p:sp>
      <p:sp>
        <p:nvSpPr>
          <p:cNvPr id="13" name="Shape 11"/>
          <p:cNvSpPr/>
          <p:nvPr/>
        </p:nvSpPr>
        <p:spPr>
          <a:xfrm>
            <a:off x="475488" y="2807208"/>
            <a:ext cx="3803904" cy="219456"/>
          </a:xfrm>
          <a:prstGeom prst="rect">
            <a:avLst/>
          </a:prstGeom>
          <a:solidFill>
            <a:srgbClr val="C62828"/>
          </a:solidFill>
          <a:ln w="12700">
            <a:solidFill>
              <a:srgbClr val="C62828"/>
            </a:solidFill>
            <a:prstDash val="solid"/>
          </a:ln>
        </p:spPr>
      </p:sp>
      <p:sp>
        <p:nvSpPr>
          <p:cNvPr id="14" name="Text 12"/>
          <p:cNvSpPr/>
          <p:nvPr/>
        </p:nvSpPr>
        <p:spPr>
          <a:xfrm>
            <a:off x="493776" y="2807208"/>
            <a:ext cx="3785616"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Frustration</a:t>
            </a:r>
            <a:endParaRPr lang="en-US" sz="950" dirty="0"/>
          </a:p>
        </p:txBody>
      </p:sp>
      <p:sp>
        <p:nvSpPr>
          <p:cNvPr id="15" name="Text 13"/>
          <p:cNvSpPr/>
          <p:nvPr/>
        </p:nvSpPr>
        <p:spPr>
          <a:xfrm>
            <a:off x="493776" y="3044952"/>
            <a:ext cx="3785616" cy="713232"/>
          </a:xfrm>
          <a:prstGeom prst="rect">
            <a:avLst/>
          </a:prstGeom>
          <a:noFill/>
          <a:ln/>
        </p:spPr>
        <p:txBody>
          <a:bodyPr wrap="square" lIns="0" tIns="0" rIns="0" bIns="0" rtlCol="0" anchor="t"/>
          <a:lstStyle/>
          <a:p>
            <a:pPr marL="0" indent="0">
              <a:buNone/>
            </a:pPr>
            <a:r>
              <a:rPr lang="en-US" sz="1050" dirty="0">
                <a:solidFill>
                  <a:srgbClr val="212121"/>
                </a:solidFill>
                <a:latin typeface="Calibri" pitchFamily="34" charset="0"/>
                <a:ea typeface="Calibri" pitchFamily="34" charset="-122"/>
                <a:cs typeface="Calibri" pitchFamily="34" charset="-120"/>
              </a:rPr>
              <a:t>Cannot find the right notes. Has to ask the teacher for attendance updates. Misses assignment deadlines.</a:t>
            </a:r>
            <a:endParaRPr lang="en-US" sz="1050" dirty="0"/>
          </a:p>
        </p:txBody>
      </p:sp>
      <p:sp>
        <p:nvSpPr>
          <p:cNvPr id="16" name="Shape 14"/>
          <p:cNvSpPr/>
          <p:nvPr/>
        </p:nvSpPr>
        <p:spPr>
          <a:xfrm>
            <a:off x="475488" y="3813048"/>
            <a:ext cx="3803904" cy="219456"/>
          </a:xfrm>
          <a:prstGeom prst="rect">
            <a:avLst/>
          </a:prstGeom>
          <a:solidFill>
            <a:srgbClr val="1565C0"/>
          </a:solidFill>
          <a:ln w="12700">
            <a:solidFill>
              <a:srgbClr val="1565C0"/>
            </a:solidFill>
            <a:prstDash val="solid"/>
          </a:ln>
        </p:spPr>
      </p:sp>
      <p:sp>
        <p:nvSpPr>
          <p:cNvPr id="17" name="Text 15"/>
          <p:cNvSpPr/>
          <p:nvPr/>
        </p:nvSpPr>
        <p:spPr>
          <a:xfrm>
            <a:off x="493776" y="3813048"/>
            <a:ext cx="3785616"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In their words</a:t>
            </a:r>
            <a:endParaRPr lang="en-US" sz="950" dirty="0"/>
          </a:p>
        </p:txBody>
      </p:sp>
      <p:sp>
        <p:nvSpPr>
          <p:cNvPr id="18" name="Text 16"/>
          <p:cNvSpPr/>
          <p:nvPr/>
        </p:nvSpPr>
        <p:spPr>
          <a:xfrm>
            <a:off x="493776" y="4050792"/>
            <a:ext cx="3785616" cy="713232"/>
          </a:xfrm>
          <a:prstGeom prst="rect">
            <a:avLst/>
          </a:prstGeom>
          <a:noFill/>
          <a:ln/>
        </p:spPr>
        <p:txBody>
          <a:bodyPr wrap="square" lIns="0" tIns="0" rIns="0" bIns="0" rtlCol="0" anchor="t"/>
          <a:lstStyle/>
          <a:p>
            <a:pPr marL="0" indent="0">
              <a:buNone/>
            </a:pPr>
            <a:r>
              <a:rPr lang="en-US" sz="1050" dirty="0">
                <a:solidFill>
                  <a:srgbClr val="212121"/>
                </a:solidFill>
                <a:latin typeface="Calibri" pitchFamily="34" charset="0"/>
                <a:ea typeface="Calibri" pitchFamily="34" charset="-122"/>
                <a:cs typeface="Calibri" pitchFamily="34" charset="-120"/>
              </a:rPr>
              <a:t>"I just want to open one app and see my grades, my notes, and my attendance — without asking anyone."</a:t>
            </a:r>
            <a:endParaRPr lang="en-US" sz="1050" dirty="0"/>
          </a:p>
        </p:txBody>
      </p:sp>
      <p:sp>
        <p:nvSpPr>
          <p:cNvPr id="19" name="Shape 17"/>
          <p:cNvSpPr/>
          <p:nvPr/>
        </p:nvSpPr>
        <p:spPr>
          <a:xfrm>
            <a:off x="4754880" y="1051560"/>
            <a:ext cx="4023360" cy="3749040"/>
          </a:xfrm>
          <a:prstGeom prst="rect">
            <a:avLst/>
          </a:prstGeom>
          <a:solidFill>
            <a:srgbClr val="FFFFFF"/>
          </a:solidFill>
          <a:ln w="10160">
            <a:solidFill>
              <a:srgbClr val="C8E6C9"/>
            </a:solidFill>
            <a:prstDash val="solid"/>
          </a:ln>
        </p:spPr>
      </p:sp>
      <p:sp>
        <p:nvSpPr>
          <p:cNvPr id="20" name="Shape 18"/>
          <p:cNvSpPr/>
          <p:nvPr/>
        </p:nvSpPr>
        <p:spPr>
          <a:xfrm>
            <a:off x="4754880" y="1051560"/>
            <a:ext cx="4023360" cy="640080"/>
          </a:xfrm>
          <a:prstGeom prst="rect">
            <a:avLst/>
          </a:prstGeom>
          <a:solidFill>
            <a:srgbClr val="1A3C1A"/>
          </a:solidFill>
          <a:ln w="12700">
            <a:solidFill>
              <a:srgbClr val="1A3C1A"/>
            </a:solidFill>
            <a:prstDash val="solid"/>
          </a:ln>
        </p:spPr>
      </p:sp>
      <p:sp>
        <p:nvSpPr>
          <p:cNvPr id="21" name="Shape 19"/>
          <p:cNvSpPr/>
          <p:nvPr/>
        </p:nvSpPr>
        <p:spPr>
          <a:xfrm>
            <a:off x="4892040" y="1161288"/>
            <a:ext cx="411480" cy="411480"/>
          </a:xfrm>
          <a:prstGeom prst="ellipse">
            <a:avLst/>
          </a:prstGeom>
          <a:solidFill>
            <a:srgbClr val="2E7D32"/>
          </a:solidFill>
          <a:ln w="12700">
            <a:solidFill>
              <a:srgbClr val="FFFFFF"/>
            </a:solidFill>
            <a:prstDash val="solid"/>
          </a:ln>
        </p:spPr>
      </p:sp>
      <p:sp>
        <p:nvSpPr>
          <p:cNvPr id="22" name="Text 20"/>
          <p:cNvSpPr/>
          <p:nvPr/>
        </p:nvSpPr>
        <p:spPr>
          <a:xfrm>
            <a:off x="4892040" y="116128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a:t>
            </a:r>
            <a:endParaRPr lang="en-US" sz="1600" dirty="0"/>
          </a:p>
        </p:txBody>
      </p:sp>
      <p:sp>
        <p:nvSpPr>
          <p:cNvPr id="23" name="Text 21"/>
          <p:cNvSpPr/>
          <p:nvPr/>
        </p:nvSpPr>
        <p:spPr>
          <a:xfrm>
            <a:off x="5376672" y="1143000"/>
            <a:ext cx="3310128" cy="2560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Sunita Gurung</a:t>
            </a:r>
            <a:endParaRPr lang="en-US" sz="1400" dirty="0"/>
          </a:p>
        </p:txBody>
      </p:sp>
      <p:sp>
        <p:nvSpPr>
          <p:cNvPr id="24" name="Text 22"/>
          <p:cNvSpPr/>
          <p:nvPr/>
        </p:nvSpPr>
        <p:spPr>
          <a:xfrm>
            <a:off x="5376672" y="1399032"/>
            <a:ext cx="3310128" cy="201168"/>
          </a:xfrm>
          <a:prstGeom prst="rect">
            <a:avLst/>
          </a:prstGeom>
          <a:noFill/>
          <a:ln/>
        </p:spPr>
        <p:txBody>
          <a:bodyPr wrap="square" lIns="0" tIns="0" rIns="0" bIns="0" rtlCol="0" anchor="ctr"/>
          <a:lstStyle/>
          <a:p>
            <a:pPr marL="0" indent="0">
              <a:buNone/>
            </a:pPr>
            <a:r>
              <a:rPr lang="en-US" sz="1000" dirty="0">
                <a:solidFill>
                  <a:srgbClr val="A5D6A7"/>
                </a:solidFill>
                <a:latin typeface="Calibri" pitchFamily="34" charset="0"/>
                <a:ea typeface="Calibri" pitchFamily="34" charset="-122"/>
                <a:cs typeface="Calibri" pitchFamily="34" charset="-120"/>
              </a:rPr>
              <a:t>Parent of a Student  |  Age: 40</a:t>
            </a:r>
            <a:endParaRPr lang="en-US" sz="1000" dirty="0"/>
          </a:p>
        </p:txBody>
      </p:sp>
      <p:sp>
        <p:nvSpPr>
          <p:cNvPr id="25" name="Shape 23"/>
          <p:cNvSpPr/>
          <p:nvPr/>
        </p:nvSpPr>
        <p:spPr>
          <a:xfrm>
            <a:off x="4864608" y="1801368"/>
            <a:ext cx="3803904" cy="219456"/>
          </a:xfrm>
          <a:prstGeom prst="rect">
            <a:avLst/>
          </a:prstGeom>
          <a:solidFill>
            <a:srgbClr val="2E7D32"/>
          </a:solidFill>
          <a:ln w="12700">
            <a:solidFill>
              <a:srgbClr val="2E7D32"/>
            </a:solidFill>
            <a:prstDash val="solid"/>
          </a:ln>
        </p:spPr>
      </p:sp>
      <p:sp>
        <p:nvSpPr>
          <p:cNvPr id="26" name="Text 24"/>
          <p:cNvSpPr/>
          <p:nvPr/>
        </p:nvSpPr>
        <p:spPr>
          <a:xfrm>
            <a:off x="4882896" y="1801368"/>
            <a:ext cx="3785616"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Goal</a:t>
            </a:r>
            <a:endParaRPr lang="en-US" sz="950" dirty="0"/>
          </a:p>
        </p:txBody>
      </p:sp>
      <p:sp>
        <p:nvSpPr>
          <p:cNvPr id="27" name="Text 25"/>
          <p:cNvSpPr/>
          <p:nvPr/>
        </p:nvSpPr>
        <p:spPr>
          <a:xfrm>
            <a:off x="4882896" y="2039112"/>
            <a:ext cx="3785616" cy="713232"/>
          </a:xfrm>
          <a:prstGeom prst="rect">
            <a:avLst/>
          </a:prstGeom>
          <a:noFill/>
          <a:ln/>
        </p:spPr>
        <p:txBody>
          <a:bodyPr wrap="square" lIns="0" tIns="0" rIns="0" bIns="0" rtlCol="0" anchor="t"/>
          <a:lstStyle/>
          <a:p>
            <a:pPr marL="0" indent="0">
              <a:buNone/>
            </a:pPr>
            <a:r>
              <a:rPr lang="en-US" sz="1050" dirty="0">
                <a:solidFill>
                  <a:srgbClr val="212121"/>
                </a:solidFill>
                <a:latin typeface="Calibri" pitchFamily="34" charset="0"/>
                <a:ea typeface="Calibri" pitchFamily="34" charset="-122"/>
                <a:cs typeface="Calibri" pitchFamily="34" charset="-120"/>
              </a:rPr>
              <a:t>Stay updated on her child's attendance and grades without calling the school.</a:t>
            </a:r>
            <a:endParaRPr lang="en-US" sz="1050" dirty="0"/>
          </a:p>
        </p:txBody>
      </p:sp>
      <p:sp>
        <p:nvSpPr>
          <p:cNvPr id="28" name="Shape 26"/>
          <p:cNvSpPr/>
          <p:nvPr/>
        </p:nvSpPr>
        <p:spPr>
          <a:xfrm>
            <a:off x="4864608" y="2807208"/>
            <a:ext cx="3803904" cy="219456"/>
          </a:xfrm>
          <a:prstGeom prst="rect">
            <a:avLst/>
          </a:prstGeom>
          <a:solidFill>
            <a:srgbClr val="C62828"/>
          </a:solidFill>
          <a:ln w="12700">
            <a:solidFill>
              <a:srgbClr val="C62828"/>
            </a:solidFill>
            <a:prstDash val="solid"/>
          </a:ln>
        </p:spPr>
      </p:sp>
      <p:sp>
        <p:nvSpPr>
          <p:cNvPr id="29" name="Text 27"/>
          <p:cNvSpPr/>
          <p:nvPr/>
        </p:nvSpPr>
        <p:spPr>
          <a:xfrm>
            <a:off x="4882896" y="2807208"/>
            <a:ext cx="3785616"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Frustration</a:t>
            </a:r>
            <a:endParaRPr lang="en-US" sz="950" dirty="0"/>
          </a:p>
        </p:txBody>
      </p:sp>
      <p:sp>
        <p:nvSpPr>
          <p:cNvPr id="30" name="Text 28"/>
          <p:cNvSpPr/>
          <p:nvPr/>
        </p:nvSpPr>
        <p:spPr>
          <a:xfrm>
            <a:off x="4882896" y="3044952"/>
            <a:ext cx="3785616" cy="713232"/>
          </a:xfrm>
          <a:prstGeom prst="rect">
            <a:avLst/>
          </a:prstGeom>
          <a:noFill/>
          <a:ln/>
        </p:spPr>
        <p:txBody>
          <a:bodyPr wrap="square" lIns="0" tIns="0" rIns="0" bIns="0" rtlCol="0" anchor="t"/>
          <a:lstStyle/>
          <a:p>
            <a:pPr marL="0" indent="0">
              <a:buNone/>
            </a:pPr>
            <a:r>
              <a:rPr lang="en-US" sz="1050" dirty="0">
                <a:solidFill>
                  <a:srgbClr val="212121"/>
                </a:solidFill>
                <a:latin typeface="Calibri" pitchFamily="34" charset="0"/>
                <a:ea typeface="Calibri" pitchFamily="34" charset="-122"/>
                <a:cs typeface="Calibri" pitchFamily="34" charset="-120"/>
              </a:rPr>
              <a:t>Only finds out about poor attendance at the end of term. Cannot check if homework was submitted.</a:t>
            </a:r>
            <a:endParaRPr lang="en-US" sz="1050" dirty="0"/>
          </a:p>
        </p:txBody>
      </p:sp>
      <p:sp>
        <p:nvSpPr>
          <p:cNvPr id="31" name="Shape 29"/>
          <p:cNvSpPr/>
          <p:nvPr/>
        </p:nvSpPr>
        <p:spPr>
          <a:xfrm>
            <a:off x="4864608" y="3813048"/>
            <a:ext cx="3803904" cy="219456"/>
          </a:xfrm>
          <a:prstGeom prst="rect">
            <a:avLst/>
          </a:prstGeom>
          <a:solidFill>
            <a:srgbClr val="1565C0"/>
          </a:solidFill>
          <a:ln w="12700">
            <a:solidFill>
              <a:srgbClr val="1565C0"/>
            </a:solidFill>
            <a:prstDash val="solid"/>
          </a:ln>
        </p:spPr>
      </p:sp>
      <p:sp>
        <p:nvSpPr>
          <p:cNvPr id="32" name="Text 30"/>
          <p:cNvSpPr/>
          <p:nvPr/>
        </p:nvSpPr>
        <p:spPr>
          <a:xfrm>
            <a:off x="4882896" y="3813048"/>
            <a:ext cx="3785616"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In their words</a:t>
            </a:r>
            <a:endParaRPr lang="en-US" sz="950" dirty="0"/>
          </a:p>
        </p:txBody>
      </p:sp>
      <p:sp>
        <p:nvSpPr>
          <p:cNvPr id="33" name="Text 31"/>
          <p:cNvSpPr/>
          <p:nvPr/>
        </p:nvSpPr>
        <p:spPr>
          <a:xfrm>
            <a:off x="4882896" y="4050792"/>
            <a:ext cx="3785616" cy="713232"/>
          </a:xfrm>
          <a:prstGeom prst="rect">
            <a:avLst/>
          </a:prstGeom>
          <a:noFill/>
          <a:ln/>
        </p:spPr>
        <p:txBody>
          <a:bodyPr wrap="square" lIns="0" tIns="0" rIns="0" bIns="0" rtlCol="0" anchor="t"/>
          <a:lstStyle/>
          <a:p>
            <a:pPr marL="0" indent="0">
              <a:buNone/>
            </a:pPr>
            <a:r>
              <a:rPr lang="en-US" sz="1050" dirty="0">
                <a:solidFill>
                  <a:srgbClr val="212121"/>
                </a:solidFill>
                <a:latin typeface="Calibri" pitchFamily="34" charset="0"/>
                <a:ea typeface="Calibri" pitchFamily="34" charset="-122"/>
                <a:cs typeface="Calibri" pitchFamily="34" charset="-120"/>
              </a:rPr>
              <a:t>"I want to know how my child is doing right now — not in three months when the report card comes."</a:t>
            </a:r>
            <a:endParaRPr lang="en-US" sz="1050" dirty="0"/>
          </a:p>
        </p:txBody>
      </p:sp>
      <p:sp>
        <p:nvSpPr>
          <p:cNvPr id="34" name="Text 32"/>
          <p:cNvSpPr/>
          <p:nvPr/>
        </p:nvSpPr>
        <p:spPr>
          <a:xfrm>
            <a:off x="365760" y="4892040"/>
            <a:ext cx="8412480" cy="201168"/>
          </a:xfrm>
          <a:prstGeom prst="rect">
            <a:avLst/>
          </a:prstGeom>
          <a:noFill/>
          <a:ln/>
        </p:spPr>
        <p:txBody>
          <a:bodyPr wrap="square" lIns="0" tIns="0" rIns="0" bIns="0" rtlCol="0" anchor="ctr"/>
          <a:lstStyle/>
          <a:p>
            <a:pPr marL="0" indent="0" algn="r">
              <a:buNone/>
            </a:pPr>
            <a:r>
              <a:rPr lang="en-US" sz="900" i="1" dirty="0">
                <a:solidFill>
                  <a:srgbClr val="AAAAAA"/>
                </a:solidFill>
                <a:latin typeface="Calibri" pitchFamily="34" charset="0"/>
                <a:ea typeface="Calibri" pitchFamily="34" charset="-122"/>
                <a:cs typeface="Calibri" pitchFamily="34" charset="-120"/>
              </a:rPr>
              <a:t>Avishek Pandey  |  IT Project Management  |  IT Student Management System</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C1A"/>
          </a:solidFill>
          <a:ln w="12700">
            <a:solidFill>
              <a:srgbClr val="1A3C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Section 3  |  Background – System Modules Overview</a:t>
            </a:r>
            <a:endParaRPr lang="en-US" sz="2400" dirty="0"/>
          </a:p>
        </p:txBody>
      </p:sp>
      <p:sp>
        <p:nvSpPr>
          <p:cNvPr id="4" name="Shape 2"/>
          <p:cNvSpPr/>
          <p:nvPr/>
        </p:nvSpPr>
        <p:spPr>
          <a:xfrm>
            <a:off x="365760" y="960120"/>
            <a:ext cx="2606040" cy="1600200"/>
          </a:xfrm>
          <a:prstGeom prst="rect">
            <a:avLst/>
          </a:prstGeom>
          <a:solidFill>
            <a:srgbClr val="E8F5E9"/>
          </a:solidFill>
          <a:ln w="6350">
            <a:solidFill>
              <a:srgbClr val="C8E6C9"/>
            </a:solidFill>
            <a:prstDash val="solid"/>
          </a:ln>
        </p:spPr>
      </p:sp>
      <p:sp>
        <p:nvSpPr>
          <p:cNvPr id="5" name="Shape 3"/>
          <p:cNvSpPr/>
          <p:nvPr/>
        </p:nvSpPr>
        <p:spPr>
          <a:xfrm>
            <a:off x="365760" y="960120"/>
            <a:ext cx="2606040" cy="54864"/>
          </a:xfrm>
          <a:prstGeom prst="rect">
            <a:avLst/>
          </a:prstGeom>
          <a:solidFill>
            <a:srgbClr val="1A3C1A"/>
          </a:solidFill>
          <a:ln w="12700">
            <a:solidFill>
              <a:srgbClr val="1A3C1A"/>
            </a:solidFill>
            <a:prstDash val="solid"/>
          </a:ln>
        </p:spPr>
      </p:sp>
      <p:sp>
        <p:nvSpPr>
          <p:cNvPr id="6" name="Text 4"/>
          <p:cNvSpPr/>
          <p:nvPr/>
        </p:nvSpPr>
        <p:spPr>
          <a:xfrm>
            <a:off x="475488" y="1051560"/>
            <a:ext cx="2423160" cy="256032"/>
          </a:xfrm>
          <a:prstGeom prst="rect">
            <a:avLst/>
          </a:prstGeom>
          <a:noFill/>
          <a:ln/>
        </p:spPr>
        <p:txBody>
          <a:bodyPr wrap="square" lIns="0" tIns="0" rIns="0" bIns="0" rtlCol="0" anchor="ctr"/>
          <a:lstStyle/>
          <a:p>
            <a:pPr marL="0" indent="0">
              <a:buNone/>
            </a:pPr>
            <a:r>
              <a:rPr lang="en-US" sz="1300" b="1" dirty="0">
                <a:solidFill>
                  <a:srgbClr val="1A3C1A"/>
                </a:solidFill>
                <a:latin typeface="Calibri" pitchFamily="34" charset="0"/>
                <a:ea typeface="Calibri" pitchFamily="34" charset="-122"/>
                <a:cs typeface="Calibri" pitchFamily="34" charset="-120"/>
              </a:rPr>
              <a:t>Admin Module</a:t>
            </a:r>
            <a:endParaRPr lang="en-US" sz="1300" dirty="0"/>
          </a:p>
        </p:txBody>
      </p:sp>
      <p:sp>
        <p:nvSpPr>
          <p:cNvPr id="7" name="Text 5"/>
          <p:cNvSpPr/>
          <p:nvPr/>
        </p:nvSpPr>
        <p:spPr>
          <a:xfrm>
            <a:off x="475488" y="1344168"/>
            <a:ext cx="2423160" cy="1143000"/>
          </a:xfrm>
          <a:prstGeom prst="rect">
            <a:avLst/>
          </a:prstGeom>
          <a:noFill/>
          <a:ln/>
        </p:spPr>
        <p:txBody>
          <a:bodyPr wrap="square" lIns="0" tIns="0" rIns="0" bIns="0" rtlCol="0" anchor="t"/>
          <a:lstStyle/>
          <a:p>
            <a:pPr marL="0" indent="0">
              <a:buNone/>
            </a:pPr>
            <a:r>
              <a:rPr lang="en-US" sz="1050" dirty="0">
                <a:solidFill>
                  <a:srgbClr val="212121"/>
                </a:solidFill>
                <a:latin typeface="Calibri" pitchFamily="34" charset="0"/>
                <a:ea typeface="Calibri" pitchFamily="34" charset="-122"/>
                <a:cs typeface="Calibri" pitchFamily="34" charset="-120"/>
              </a:rPr>
              <a:t>Creates all accounts, assigns teachers and students to classes, resets passwords, and manages the whole system. No public sign-up allowed.</a:t>
            </a:r>
            <a:endParaRPr lang="en-US" sz="1050" dirty="0"/>
          </a:p>
        </p:txBody>
      </p:sp>
      <p:sp>
        <p:nvSpPr>
          <p:cNvPr id="8" name="Shape 6"/>
          <p:cNvSpPr/>
          <p:nvPr/>
        </p:nvSpPr>
        <p:spPr>
          <a:xfrm>
            <a:off x="3200400" y="960120"/>
            <a:ext cx="2606040" cy="1600200"/>
          </a:xfrm>
          <a:prstGeom prst="rect">
            <a:avLst/>
          </a:prstGeom>
          <a:solidFill>
            <a:srgbClr val="E8F5E9"/>
          </a:solidFill>
          <a:ln w="6350">
            <a:solidFill>
              <a:srgbClr val="C8E6C9"/>
            </a:solidFill>
            <a:prstDash val="solid"/>
          </a:ln>
        </p:spPr>
      </p:sp>
      <p:sp>
        <p:nvSpPr>
          <p:cNvPr id="9" name="Shape 7"/>
          <p:cNvSpPr/>
          <p:nvPr/>
        </p:nvSpPr>
        <p:spPr>
          <a:xfrm>
            <a:off x="3200400" y="960120"/>
            <a:ext cx="2606040" cy="54864"/>
          </a:xfrm>
          <a:prstGeom prst="rect">
            <a:avLst/>
          </a:prstGeom>
          <a:solidFill>
            <a:srgbClr val="2E7D32"/>
          </a:solidFill>
          <a:ln w="12700">
            <a:solidFill>
              <a:srgbClr val="2E7D32"/>
            </a:solidFill>
            <a:prstDash val="solid"/>
          </a:ln>
        </p:spPr>
      </p:sp>
      <p:sp>
        <p:nvSpPr>
          <p:cNvPr id="10" name="Text 8"/>
          <p:cNvSpPr/>
          <p:nvPr/>
        </p:nvSpPr>
        <p:spPr>
          <a:xfrm>
            <a:off x="3310128" y="1051560"/>
            <a:ext cx="2423160" cy="256032"/>
          </a:xfrm>
          <a:prstGeom prst="rect">
            <a:avLst/>
          </a:prstGeom>
          <a:noFill/>
          <a:ln/>
        </p:spPr>
        <p:txBody>
          <a:bodyPr wrap="square" lIns="0" tIns="0" rIns="0" bIns="0"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Teacher Module</a:t>
            </a:r>
            <a:endParaRPr lang="en-US" sz="1300" dirty="0"/>
          </a:p>
        </p:txBody>
      </p:sp>
      <p:sp>
        <p:nvSpPr>
          <p:cNvPr id="11" name="Text 9"/>
          <p:cNvSpPr/>
          <p:nvPr/>
        </p:nvSpPr>
        <p:spPr>
          <a:xfrm>
            <a:off x="3310128" y="1344168"/>
            <a:ext cx="2423160" cy="1143000"/>
          </a:xfrm>
          <a:prstGeom prst="rect">
            <a:avLst/>
          </a:prstGeom>
          <a:noFill/>
          <a:ln/>
        </p:spPr>
        <p:txBody>
          <a:bodyPr wrap="square" lIns="0" tIns="0" rIns="0" bIns="0" rtlCol="0" anchor="t"/>
          <a:lstStyle/>
          <a:p>
            <a:pPr marL="0" indent="0">
              <a:buNone/>
            </a:pPr>
            <a:r>
              <a:rPr lang="en-US" sz="1050" dirty="0">
                <a:solidFill>
                  <a:srgbClr val="212121"/>
                </a:solidFill>
                <a:latin typeface="Calibri" pitchFamily="34" charset="0"/>
                <a:ea typeface="Calibri" pitchFamily="34" charset="-122"/>
                <a:cs typeface="Calibri" pitchFamily="34" charset="-120"/>
              </a:rPr>
              <a:t>Upload class materials (slides, PDFs, notes). Record daily attendance. Enter and update student grades. Restricted to assigned classes only.</a:t>
            </a:r>
            <a:endParaRPr lang="en-US" sz="1050" dirty="0"/>
          </a:p>
        </p:txBody>
      </p:sp>
      <p:sp>
        <p:nvSpPr>
          <p:cNvPr id="12" name="Shape 10"/>
          <p:cNvSpPr/>
          <p:nvPr/>
        </p:nvSpPr>
        <p:spPr>
          <a:xfrm>
            <a:off x="6035040" y="960120"/>
            <a:ext cx="2606040" cy="1600200"/>
          </a:xfrm>
          <a:prstGeom prst="rect">
            <a:avLst/>
          </a:prstGeom>
          <a:solidFill>
            <a:srgbClr val="E8F5E9"/>
          </a:solidFill>
          <a:ln w="6350">
            <a:solidFill>
              <a:srgbClr val="C8E6C9"/>
            </a:solidFill>
            <a:prstDash val="solid"/>
          </a:ln>
        </p:spPr>
      </p:sp>
      <p:sp>
        <p:nvSpPr>
          <p:cNvPr id="13" name="Shape 11"/>
          <p:cNvSpPr/>
          <p:nvPr/>
        </p:nvSpPr>
        <p:spPr>
          <a:xfrm>
            <a:off x="6035040" y="960120"/>
            <a:ext cx="2606040" cy="54864"/>
          </a:xfrm>
          <a:prstGeom prst="rect">
            <a:avLst/>
          </a:prstGeom>
          <a:solidFill>
            <a:srgbClr val="388E3C"/>
          </a:solidFill>
          <a:ln w="12700">
            <a:solidFill>
              <a:srgbClr val="388E3C"/>
            </a:solidFill>
            <a:prstDash val="solid"/>
          </a:ln>
        </p:spPr>
      </p:sp>
      <p:sp>
        <p:nvSpPr>
          <p:cNvPr id="14" name="Text 12"/>
          <p:cNvSpPr/>
          <p:nvPr/>
        </p:nvSpPr>
        <p:spPr>
          <a:xfrm>
            <a:off x="6144768" y="1051560"/>
            <a:ext cx="2423160" cy="256032"/>
          </a:xfrm>
          <a:prstGeom prst="rect">
            <a:avLst/>
          </a:prstGeom>
          <a:noFill/>
          <a:ln/>
        </p:spPr>
        <p:txBody>
          <a:bodyPr wrap="square" lIns="0" tIns="0" rIns="0" bIns="0" rtlCol="0" anchor="ctr"/>
          <a:lstStyle/>
          <a:p>
            <a:pPr marL="0" indent="0">
              <a:buNone/>
            </a:pPr>
            <a:r>
              <a:rPr lang="en-US" sz="1300" b="1" dirty="0">
                <a:solidFill>
                  <a:srgbClr val="388E3C"/>
                </a:solidFill>
                <a:latin typeface="Calibri" pitchFamily="34" charset="0"/>
                <a:ea typeface="Calibri" pitchFamily="34" charset="-122"/>
                <a:cs typeface="Calibri" pitchFamily="34" charset="-120"/>
              </a:rPr>
              <a:t>Student Module</a:t>
            </a:r>
            <a:endParaRPr lang="en-US" sz="1300" dirty="0"/>
          </a:p>
        </p:txBody>
      </p:sp>
      <p:sp>
        <p:nvSpPr>
          <p:cNvPr id="15" name="Text 13"/>
          <p:cNvSpPr/>
          <p:nvPr/>
        </p:nvSpPr>
        <p:spPr>
          <a:xfrm>
            <a:off x="6144768" y="1344168"/>
            <a:ext cx="2423160" cy="1143000"/>
          </a:xfrm>
          <a:prstGeom prst="rect">
            <a:avLst/>
          </a:prstGeom>
          <a:noFill/>
          <a:ln/>
        </p:spPr>
        <p:txBody>
          <a:bodyPr wrap="square" lIns="0" tIns="0" rIns="0" bIns="0" rtlCol="0" anchor="t"/>
          <a:lstStyle/>
          <a:p>
            <a:pPr marL="0" indent="0">
              <a:buNone/>
            </a:pPr>
            <a:r>
              <a:rPr lang="en-US" sz="1050" dirty="0">
                <a:solidFill>
                  <a:srgbClr val="212121"/>
                </a:solidFill>
                <a:latin typeface="Calibri" pitchFamily="34" charset="0"/>
                <a:ea typeface="Calibri" pitchFamily="34" charset="-122"/>
                <a:cs typeface="Calibri" pitchFamily="34" charset="-120"/>
              </a:rPr>
              <a:t>View personal profile, class assignment, grades, and attendance. Download materials for their own class only. Cannot edit any data.</a:t>
            </a:r>
            <a:endParaRPr lang="en-US" sz="1050" dirty="0"/>
          </a:p>
        </p:txBody>
      </p:sp>
      <p:sp>
        <p:nvSpPr>
          <p:cNvPr id="16" name="Shape 14"/>
          <p:cNvSpPr/>
          <p:nvPr/>
        </p:nvSpPr>
        <p:spPr>
          <a:xfrm>
            <a:off x="365760" y="2743200"/>
            <a:ext cx="2606040" cy="1600200"/>
          </a:xfrm>
          <a:prstGeom prst="rect">
            <a:avLst/>
          </a:prstGeom>
          <a:solidFill>
            <a:srgbClr val="E8F5E9"/>
          </a:solidFill>
          <a:ln w="6350">
            <a:solidFill>
              <a:srgbClr val="C8E6C9"/>
            </a:solidFill>
            <a:prstDash val="solid"/>
          </a:ln>
        </p:spPr>
      </p:sp>
      <p:sp>
        <p:nvSpPr>
          <p:cNvPr id="17" name="Shape 15"/>
          <p:cNvSpPr/>
          <p:nvPr/>
        </p:nvSpPr>
        <p:spPr>
          <a:xfrm>
            <a:off x="365760" y="2743200"/>
            <a:ext cx="2606040" cy="54864"/>
          </a:xfrm>
          <a:prstGeom prst="rect">
            <a:avLst/>
          </a:prstGeom>
          <a:solidFill>
            <a:srgbClr val="1B5E20"/>
          </a:solidFill>
          <a:ln w="12700">
            <a:solidFill>
              <a:srgbClr val="1B5E20"/>
            </a:solidFill>
            <a:prstDash val="solid"/>
          </a:ln>
        </p:spPr>
      </p:sp>
      <p:sp>
        <p:nvSpPr>
          <p:cNvPr id="18" name="Text 16"/>
          <p:cNvSpPr/>
          <p:nvPr/>
        </p:nvSpPr>
        <p:spPr>
          <a:xfrm>
            <a:off x="475488" y="2834640"/>
            <a:ext cx="2423160" cy="256032"/>
          </a:xfrm>
          <a:prstGeom prst="rect">
            <a:avLst/>
          </a:prstGeom>
          <a:noFill/>
          <a:ln/>
        </p:spPr>
        <p:txBody>
          <a:bodyPr wrap="square" lIns="0" tIns="0" rIns="0" bIns="0" rtlCol="0" anchor="ctr"/>
          <a:lstStyle/>
          <a:p>
            <a:pPr marL="0" indent="0">
              <a:buNone/>
            </a:pPr>
            <a:r>
              <a:rPr lang="en-US" sz="1300" b="1" dirty="0">
                <a:solidFill>
                  <a:srgbClr val="1B5E20"/>
                </a:solidFill>
                <a:latin typeface="Calibri" pitchFamily="34" charset="0"/>
                <a:ea typeface="Calibri" pitchFamily="34" charset="-122"/>
                <a:cs typeface="Calibri" pitchFamily="34" charset="-120"/>
              </a:rPr>
              <a:t>Parent Module</a:t>
            </a:r>
            <a:endParaRPr lang="en-US" sz="1300" dirty="0"/>
          </a:p>
        </p:txBody>
      </p:sp>
      <p:sp>
        <p:nvSpPr>
          <p:cNvPr id="19" name="Text 17"/>
          <p:cNvSpPr/>
          <p:nvPr/>
        </p:nvSpPr>
        <p:spPr>
          <a:xfrm>
            <a:off x="475488" y="3127248"/>
            <a:ext cx="2423160" cy="1143000"/>
          </a:xfrm>
          <a:prstGeom prst="rect">
            <a:avLst/>
          </a:prstGeom>
          <a:noFill/>
          <a:ln/>
        </p:spPr>
        <p:txBody>
          <a:bodyPr wrap="square" lIns="0" tIns="0" rIns="0" bIns="0" rtlCol="0" anchor="t"/>
          <a:lstStyle/>
          <a:p>
            <a:pPr marL="0" indent="0">
              <a:buNone/>
            </a:pPr>
            <a:r>
              <a:rPr lang="en-US" sz="1050" dirty="0">
                <a:solidFill>
                  <a:srgbClr val="212121"/>
                </a:solidFill>
                <a:latin typeface="Calibri" pitchFamily="34" charset="0"/>
                <a:ea typeface="Calibri" pitchFamily="34" charset="-122"/>
                <a:cs typeface="Calibri" pitchFamily="34" charset="-120"/>
              </a:rPr>
              <a:t>View their child's attendance record and grades. Receive alerts for low attendance. Read-only access — no editing allowed.</a:t>
            </a:r>
            <a:endParaRPr lang="en-US" sz="1050" dirty="0"/>
          </a:p>
        </p:txBody>
      </p:sp>
      <p:sp>
        <p:nvSpPr>
          <p:cNvPr id="20" name="Shape 18"/>
          <p:cNvSpPr/>
          <p:nvPr/>
        </p:nvSpPr>
        <p:spPr>
          <a:xfrm>
            <a:off x="3200400" y="2743200"/>
            <a:ext cx="5669280" cy="1600200"/>
          </a:xfrm>
          <a:prstGeom prst="rect">
            <a:avLst/>
          </a:prstGeom>
          <a:solidFill>
            <a:srgbClr val="F1F8E9"/>
          </a:solidFill>
          <a:ln w="6350">
            <a:solidFill>
              <a:srgbClr val="C8E6C9"/>
            </a:solidFill>
            <a:prstDash val="solid"/>
          </a:ln>
        </p:spPr>
      </p:sp>
      <p:sp>
        <p:nvSpPr>
          <p:cNvPr id="21" name="Shape 19"/>
          <p:cNvSpPr/>
          <p:nvPr/>
        </p:nvSpPr>
        <p:spPr>
          <a:xfrm>
            <a:off x="3200400" y="2743200"/>
            <a:ext cx="5669280" cy="54864"/>
          </a:xfrm>
          <a:prstGeom prst="rect">
            <a:avLst/>
          </a:prstGeom>
          <a:solidFill>
            <a:srgbClr val="546E7A"/>
          </a:solidFill>
          <a:ln w="12700">
            <a:solidFill>
              <a:srgbClr val="546E7A"/>
            </a:solidFill>
            <a:prstDash val="solid"/>
          </a:ln>
        </p:spPr>
      </p:sp>
      <p:sp>
        <p:nvSpPr>
          <p:cNvPr id="22" name="Text 20"/>
          <p:cNvSpPr/>
          <p:nvPr/>
        </p:nvSpPr>
        <p:spPr>
          <a:xfrm>
            <a:off x="3310128" y="2834640"/>
            <a:ext cx="5486400" cy="256032"/>
          </a:xfrm>
          <a:prstGeom prst="rect">
            <a:avLst/>
          </a:prstGeom>
          <a:noFill/>
          <a:ln/>
        </p:spPr>
        <p:txBody>
          <a:bodyPr wrap="square" lIns="0" tIns="0" rIns="0" bIns="0" rtlCol="0" anchor="ctr"/>
          <a:lstStyle/>
          <a:p>
            <a:pPr marL="0" indent="0">
              <a:buNone/>
            </a:pPr>
            <a:r>
              <a:rPr lang="en-US" sz="1300" b="1" dirty="0">
                <a:solidFill>
                  <a:srgbClr val="546E7A"/>
                </a:solidFill>
                <a:latin typeface="Calibri" pitchFamily="34" charset="0"/>
                <a:ea typeface="Calibri" pitchFamily="34" charset="-122"/>
                <a:cs typeface="Calibri" pitchFamily="34" charset="-120"/>
              </a:rPr>
              <a:t>Integration</a:t>
            </a:r>
            <a:endParaRPr lang="en-US" sz="1300" dirty="0"/>
          </a:p>
        </p:txBody>
      </p:sp>
      <p:sp>
        <p:nvSpPr>
          <p:cNvPr id="23" name="Text 21"/>
          <p:cNvSpPr/>
          <p:nvPr/>
        </p:nvSpPr>
        <p:spPr>
          <a:xfrm>
            <a:off x="3310128" y="3127248"/>
            <a:ext cx="5486400" cy="1143000"/>
          </a:xfrm>
          <a:prstGeom prst="rect">
            <a:avLst/>
          </a:prstGeom>
          <a:noFill/>
          <a:ln/>
        </p:spPr>
        <p:txBody>
          <a:bodyPr wrap="square" lIns="0" tIns="0" rIns="0" bIns="0" rtlCol="0" anchor="t"/>
          <a:lstStyle/>
          <a:p>
            <a:pPr marL="0" indent="0">
              <a:buNone/>
            </a:pPr>
            <a:r>
              <a:rPr lang="en-US" sz="1050" dirty="0">
                <a:solidFill>
                  <a:srgbClr val="212121"/>
                </a:solidFill>
                <a:latin typeface="Calibri" pitchFamily="34" charset="0"/>
                <a:ea typeface="Calibri" pitchFamily="34" charset="-122"/>
                <a:cs typeface="Calibri" pitchFamily="34" charset="-120"/>
              </a:rPr>
              <a:t>All four modules share one database and one login system. Data entered by teachers instantly appears for students and parents.</a:t>
            </a:r>
            <a:endParaRPr lang="en-US" sz="1050" dirty="0"/>
          </a:p>
        </p:txBody>
      </p:sp>
      <p:sp>
        <p:nvSpPr>
          <p:cNvPr id="24" name="Text 22"/>
          <p:cNvSpPr/>
          <p:nvPr/>
        </p:nvSpPr>
        <p:spPr>
          <a:xfrm>
            <a:off x="365760" y="4892040"/>
            <a:ext cx="8412480" cy="201168"/>
          </a:xfrm>
          <a:prstGeom prst="rect">
            <a:avLst/>
          </a:prstGeom>
          <a:noFill/>
          <a:ln/>
        </p:spPr>
        <p:txBody>
          <a:bodyPr wrap="square" lIns="0" tIns="0" rIns="0" bIns="0" rtlCol="0" anchor="ctr"/>
          <a:lstStyle/>
          <a:p>
            <a:pPr marL="0" indent="0" algn="r">
              <a:buNone/>
            </a:pPr>
            <a:r>
              <a:rPr lang="en-US" sz="900" i="1" dirty="0">
                <a:solidFill>
                  <a:srgbClr val="AAAAAA"/>
                </a:solidFill>
                <a:latin typeface="Calibri" pitchFamily="34" charset="0"/>
                <a:ea typeface="Calibri" pitchFamily="34" charset="-122"/>
                <a:cs typeface="Calibri" pitchFamily="34" charset="-120"/>
              </a:rPr>
              <a:t>Avishek Pandey  |  IT Project Management  |  IT Student Management System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C1A"/>
          </a:solidFill>
          <a:ln w="12700">
            <a:solidFill>
              <a:srgbClr val="1A3C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Section 4  |  Issues Encountered</a:t>
            </a:r>
            <a:endParaRPr lang="en-US" sz="2400" dirty="0"/>
          </a:p>
        </p:txBody>
      </p:sp>
      <p:sp>
        <p:nvSpPr>
          <p:cNvPr id="4" name="Shape 2"/>
          <p:cNvSpPr/>
          <p:nvPr/>
        </p:nvSpPr>
        <p:spPr>
          <a:xfrm>
            <a:off x="365760" y="960120"/>
            <a:ext cx="8412480" cy="896112"/>
          </a:xfrm>
          <a:prstGeom prst="rect">
            <a:avLst/>
          </a:prstGeom>
          <a:solidFill>
            <a:srgbClr val="E8F5E9"/>
          </a:solidFill>
          <a:ln w="6350">
            <a:solidFill>
              <a:srgbClr val="DDDDDD"/>
            </a:solidFill>
            <a:prstDash val="solid"/>
          </a:ln>
        </p:spPr>
      </p:sp>
      <p:sp>
        <p:nvSpPr>
          <p:cNvPr id="5" name="Shape 3"/>
          <p:cNvSpPr/>
          <p:nvPr/>
        </p:nvSpPr>
        <p:spPr>
          <a:xfrm>
            <a:off x="365760" y="960120"/>
            <a:ext cx="54864" cy="896112"/>
          </a:xfrm>
          <a:prstGeom prst="rect">
            <a:avLst/>
          </a:prstGeom>
          <a:solidFill>
            <a:srgbClr val="C62828"/>
          </a:solidFill>
          <a:ln w="12700">
            <a:solidFill>
              <a:srgbClr val="C62828"/>
            </a:solidFill>
            <a:prstDash val="solid"/>
          </a:ln>
        </p:spPr>
      </p:sp>
      <p:sp>
        <p:nvSpPr>
          <p:cNvPr id="6" name="Text 4"/>
          <p:cNvSpPr/>
          <p:nvPr/>
        </p:nvSpPr>
        <p:spPr>
          <a:xfrm>
            <a:off x="502920" y="1014984"/>
            <a:ext cx="8229600" cy="256032"/>
          </a:xfrm>
          <a:prstGeom prst="rect">
            <a:avLst/>
          </a:prstGeom>
          <a:noFill/>
          <a:ln/>
        </p:spPr>
        <p:txBody>
          <a:bodyPr wrap="square" lIns="0" tIns="0" rIns="0" bIns="0" rtlCol="0" anchor="ctr"/>
          <a:lstStyle/>
          <a:p>
            <a:pPr marL="0" indent="0">
              <a:buNone/>
            </a:pPr>
            <a:r>
              <a:rPr lang="en-US" sz="1250" b="1" dirty="0">
                <a:solidFill>
                  <a:srgbClr val="C62828"/>
                </a:solidFill>
                <a:latin typeface="Calibri" pitchFamily="34" charset="0"/>
                <a:ea typeface="Calibri" pitchFamily="34" charset="-122"/>
                <a:cs typeface="Calibri" pitchFamily="34" charset="-120"/>
              </a:rPr>
              <a:t>1.  Managing the project alone</a:t>
            </a:r>
            <a:endParaRPr lang="en-US" sz="1250" dirty="0"/>
          </a:p>
        </p:txBody>
      </p:sp>
      <p:sp>
        <p:nvSpPr>
          <p:cNvPr id="7" name="Text 5"/>
          <p:cNvSpPr/>
          <p:nvPr/>
        </p:nvSpPr>
        <p:spPr>
          <a:xfrm>
            <a:off x="502920" y="1289304"/>
            <a:ext cx="8229600" cy="512064"/>
          </a:xfrm>
          <a:prstGeom prst="rect">
            <a:avLst/>
          </a:prstGeom>
          <a:noFill/>
          <a:ln/>
        </p:spPr>
        <p:txBody>
          <a:bodyPr wrap="square" lIns="0" tIns="0" rIns="0" bIns="0" rtlCol="0" anchor="t"/>
          <a:lstStyle/>
          <a:p>
            <a:pPr marL="0" indent="0">
              <a:buNone/>
            </a:pPr>
            <a:r>
              <a:rPr lang="en-US" sz="1100" dirty="0">
                <a:solidFill>
                  <a:srgbClr val="212121"/>
                </a:solidFill>
                <a:latin typeface="Calibri" pitchFamily="34" charset="0"/>
                <a:ea typeface="Calibri" pitchFamily="34" charset="-122"/>
                <a:cs typeface="Calibri" pitchFamily="34" charset="-120"/>
              </a:rPr>
              <a:t>All roles — planning, building, testing, and writing documentation — had to be done by one person. This created workload pressure, especially between sprints when planning and building overlapped.</a:t>
            </a:r>
            <a:endParaRPr lang="en-US" sz="1100" dirty="0"/>
          </a:p>
        </p:txBody>
      </p:sp>
      <p:sp>
        <p:nvSpPr>
          <p:cNvPr id="8" name="Shape 6"/>
          <p:cNvSpPr/>
          <p:nvPr/>
        </p:nvSpPr>
        <p:spPr>
          <a:xfrm>
            <a:off x="365760" y="1965960"/>
            <a:ext cx="8412480" cy="896112"/>
          </a:xfrm>
          <a:prstGeom prst="rect">
            <a:avLst/>
          </a:prstGeom>
          <a:solidFill>
            <a:srgbClr val="FFFFFF"/>
          </a:solidFill>
          <a:ln w="6350">
            <a:solidFill>
              <a:srgbClr val="DDDDDD"/>
            </a:solidFill>
            <a:prstDash val="solid"/>
          </a:ln>
        </p:spPr>
      </p:sp>
      <p:sp>
        <p:nvSpPr>
          <p:cNvPr id="9" name="Shape 7"/>
          <p:cNvSpPr/>
          <p:nvPr/>
        </p:nvSpPr>
        <p:spPr>
          <a:xfrm>
            <a:off x="365760" y="1965960"/>
            <a:ext cx="54864" cy="896112"/>
          </a:xfrm>
          <a:prstGeom prst="rect">
            <a:avLst/>
          </a:prstGeom>
          <a:solidFill>
            <a:srgbClr val="C62828"/>
          </a:solidFill>
          <a:ln w="12700">
            <a:solidFill>
              <a:srgbClr val="C62828"/>
            </a:solidFill>
            <a:prstDash val="solid"/>
          </a:ln>
        </p:spPr>
      </p:sp>
      <p:sp>
        <p:nvSpPr>
          <p:cNvPr id="10" name="Text 8"/>
          <p:cNvSpPr/>
          <p:nvPr/>
        </p:nvSpPr>
        <p:spPr>
          <a:xfrm>
            <a:off x="502920" y="2020824"/>
            <a:ext cx="8229600" cy="256032"/>
          </a:xfrm>
          <a:prstGeom prst="rect">
            <a:avLst/>
          </a:prstGeom>
          <a:noFill/>
          <a:ln/>
        </p:spPr>
        <p:txBody>
          <a:bodyPr wrap="square" lIns="0" tIns="0" rIns="0" bIns="0" rtlCol="0" anchor="ctr"/>
          <a:lstStyle/>
          <a:p>
            <a:pPr marL="0" indent="0">
              <a:buNone/>
            </a:pPr>
            <a:r>
              <a:rPr lang="en-US" sz="1250" b="1" dirty="0">
                <a:solidFill>
                  <a:srgbClr val="C62828"/>
                </a:solidFill>
                <a:latin typeface="Calibri" pitchFamily="34" charset="0"/>
                <a:ea typeface="Calibri" pitchFamily="34" charset="-122"/>
                <a:cs typeface="Calibri" pitchFamily="34" charset="-120"/>
              </a:rPr>
              <a:t>2.  Setting up access control</a:t>
            </a:r>
            <a:endParaRPr lang="en-US" sz="1250" dirty="0"/>
          </a:p>
        </p:txBody>
      </p:sp>
      <p:sp>
        <p:nvSpPr>
          <p:cNvPr id="11" name="Text 9"/>
          <p:cNvSpPr/>
          <p:nvPr/>
        </p:nvSpPr>
        <p:spPr>
          <a:xfrm>
            <a:off x="502920" y="2295144"/>
            <a:ext cx="8229600" cy="512064"/>
          </a:xfrm>
          <a:prstGeom prst="rect">
            <a:avLst/>
          </a:prstGeom>
          <a:noFill/>
          <a:ln/>
        </p:spPr>
        <p:txBody>
          <a:bodyPr wrap="square" lIns="0" tIns="0" rIns="0" bIns="0" rtlCol="0" anchor="t"/>
          <a:lstStyle/>
          <a:p>
            <a:pPr marL="0" indent="0">
              <a:buNone/>
            </a:pPr>
            <a:r>
              <a:rPr lang="en-US" sz="1100" dirty="0">
                <a:solidFill>
                  <a:srgbClr val="212121"/>
                </a:solidFill>
                <a:latin typeface="Calibri" pitchFamily="34" charset="0"/>
                <a:ea typeface="Calibri" pitchFamily="34" charset="-122"/>
                <a:cs typeface="Calibri" pitchFamily="34" charset="-120"/>
              </a:rPr>
              <a:t>Making sure each user type could only see and access the right pages was technically tricky. Early attempts had permission rules written separately on every page, making the code messy and easy to get wrong.</a:t>
            </a:r>
            <a:endParaRPr lang="en-US" sz="1100" dirty="0"/>
          </a:p>
        </p:txBody>
      </p:sp>
      <p:sp>
        <p:nvSpPr>
          <p:cNvPr id="12" name="Shape 10"/>
          <p:cNvSpPr/>
          <p:nvPr/>
        </p:nvSpPr>
        <p:spPr>
          <a:xfrm>
            <a:off x="365760" y="2971800"/>
            <a:ext cx="8412480" cy="896112"/>
          </a:xfrm>
          <a:prstGeom prst="rect">
            <a:avLst/>
          </a:prstGeom>
          <a:solidFill>
            <a:srgbClr val="E8F5E9"/>
          </a:solidFill>
          <a:ln w="6350">
            <a:solidFill>
              <a:srgbClr val="DDDDDD"/>
            </a:solidFill>
            <a:prstDash val="solid"/>
          </a:ln>
        </p:spPr>
      </p:sp>
      <p:sp>
        <p:nvSpPr>
          <p:cNvPr id="13" name="Shape 11"/>
          <p:cNvSpPr/>
          <p:nvPr/>
        </p:nvSpPr>
        <p:spPr>
          <a:xfrm>
            <a:off x="365760" y="2971800"/>
            <a:ext cx="54864" cy="896112"/>
          </a:xfrm>
          <a:prstGeom prst="rect">
            <a:avLst/>
          </a:prstGeom>
          <a:solidFill>
            <a:srgbClr val="C62828"/>
          </a:solidFill>
          <a:ln w="12700">
            <a:solidFill>
              <a:srgbClr val="C62828"/>
            </a:solidFill>
            <a:prstDash val="solid"/>
          </a:ln>
        </p:spPr>
      </p:sp>
      <p:sp>
        <p:nvSpPr>
          <p:cNvPr id="14" name="Text 12"/>
          <p:cNvSpPr/>
          <p:nvPr/>
        </p:nvSpPr>
        <p:spPr>
          <a:xfrm>
            <a:off x="502920" y="3026664"/>
            <a:ext cx="8229600" cy="256032"/>
          </a:xfrm>
          <a:prstGeom prst="rect">
            <a:avLst/>
          </a:prstGeom>
          <a:noFill/>
          <a:ln/>
        </p:spPr>
        <p:txBody>
          <a:bodyPr wrap="square" lIns="0" tIns="0" rIns="0" bIns="0" rtlCol="0" anchor="ctr"/>
          <a:lstStyle/>
          <a:p>
            <a:pPr marL="0" indent="0">
              <a:buNone/>
            </a:pPr>
            <a:r>
              <a:rPr lang="en-US" sz="1250" b="1" dirty="0">
                <a:solidFill>
                  <a:srgbClr val="C62828"/>
                </a:solidFill>
                <a:latin typeface="Calibri" pitchFamily="34" charset="0"/>
                <a:ea typeface="Calibri" pitchFamily="34" charset="-122"/>
                <a:cs typeface="Calibri" pitchFamily="34" charset="-120"/>
              </a:rPr>
              <a:t>3.  Connecting all four modules</a:t>
            </a:r>
            <a:endParaRPr lang="en-US" sz="1250" dirty="0"/>
          </a:p>
        </p:txBody>
      </p:sp>
      <p:sp>
        <p:nvSpPr>
          <p:cNvPr id="15" name="Text 13"/>
          <p:cNvSpPr/>
          <p:nvPr/>
        </p:nvSpPr>
        <p:spPr>
          <a:xfrm>
            <a:off x="502920" y="3300984"/>
            <a:ext cx="8229600" cy="512064"/>
          </a:xfrm>
          <a:prstGeom prst="rect">
            <a:avLst/>
          </a:prstGeom>
          <a:noFill/>
          <a:ln/>
        </p:spPr>
        <p:txBody>
          <a:bodyPr wrap="square" lIns="0" tIns="0" rIns="0" bIns="0" rtlCol="0" anchor="t"/>
          <a:lstStyle/>
          <a:p>
            <a:pPr marL="0" indent="0">
              <a:buNone/>
            </a:pPr>
            <a:r>
              <a:rPr lang="en-US" sz="1100" dirty="0">
                <a:solidFill>
                  <a:srgbClr val="212121"/>
                </a:solidFill>
                <a:latin typeface="Calibri" pitchFamily="34" charset="0"/>
                <a:ea typeface="Calibri" pitchFamily="34" charset="-122"/>
                <a:cs typeface="Calibri" pitchFamily="34" charset="-120"/>
              </a:rPr>
              <a:t>Each module worked on its own, but making data flow correctly between them was harder than expected. For example, when a teacher uploads a file, it must instantly appear for the right students only.</a:t>
            </a:r>
            <a:endParaRPr lang="en-US" sz="1100" dirty="0"/>
          </a:p>
        </p:txBody>
      </p:sp>
      <p:sp>
        <p:nvSpPr>
          <p:cNvPr id="16" name="Shape 14"/>
          <p:cNvSpPr/>
          <p:nvPr/>
        </p:nvSpPr>
        <p:spPr>
          <a:xfrm>
            <a:off x="365760" y="3977640"/>
            <a:ext cx="8412480" cy="896112"/>
          </a:xfrm>
          <a:prstGeom prst="rect">
            <a:avLst/>
          </a:prstGeom>
          <a:solidFill>
            <a:srgbClr val="FFFFFF"/>
          </a:solidFill>
          <a:ln w="6350">
            <a:solidFill>
              <a:srgbClr val="DDDDDD"/>
            </a:solidFill>
            <a:prstDash val="solid"/>
          </a:ln>
        </p:spPr>
      </p:sp>
      <p:sp>
        <p:nvSpPr>
          <p:cNvPr id="17" name="Shape 15"/>
          <p:cNvSpPr/>
          <p:nvPr/>
        </p:nvSpPr>
        <p:spPr>
          <a:xfrm>
            <a:off x="365760" y="3977640"/>
            <a:ext cx="54864" cy="896112"/>
          </a:xfrm>
          <a:prstGeom prst="rect">
            <a:avLst/>
          </a:prstGeom>
          <a:solidFill>
            <a:srgbClr val="C62828"/>
          </a:solidFill>
          <a:ln w="12700">
            <a:solidFill>
              <a:srgbClr val="C62828"/>
            </a:solidFill>
            <a:prstDash val="solid"/>
          </a:ln>
        </p:spPr>
      </p:sp>
      <p:sp>
        <p:nvSpPr>
          <p:cNvPr id="18" name="Text 16"/>
          <p:cNvSpPr/>
          <p:nvPr/>
        </p:nvSpPr>
        <p:spPr>
          <a:xfrm>
            <a:off x="502920" y="4032504"/>
            <a:ext cx="8229600" cy="256032"/>
          </a:xfrm>
          <a:prstGeom prst="rect">
            <a:avLst/>
          </a:prstGeom>
          <a:noFill/>
          <a:ln/>
        </p:spPr>
        <p:txBody>
          <a:bodyPr wrap="square" lIns="0" tIns="0" rIns="0" bIns="0" rtlCol="0" anchor="ctr"/>
          <a:lstStyle/>
          <a:p>
            <a:pPr marL="0" indent="0">
              <a:buNone/>
            </a:pPr>
            <a:r>
              <a:rPr lang="en-US" sz="1250" b="1" dirty="0">
                <a:solidFill>
                  <a:srgbClr val="C62828"/>
                </a:solidFill>
                <a:latin typeface="Calibri" pitchFamily="34" charset="0"/>
                <a:ea typeface="Calibri" pitchFamily="34" charset="-122"/>
                <a:cs typeface="Calibri" pitchFamily="34" charset="-120"/>
              </a:rPr>
              <a:t>4.  Database design gaps</a:t>
            </a:r>
            <a:endParaRPr lang="en-US" sz="1250" dirty="0"/>
          </a:p>
        </p:txBody>
      </p:sp>
      <p:sp>
        <p:nvSpPr>
          <p:cNvPr id="19" name="Text 17"/>
          <p:cNvSpPr/>
          <p:nvPr/>
        </p:nvSpPr>
        <p:spPr>
          <a:xfrm>
            <a:off x="502920" y="4306824"/>
            <a:ext cx="8229600" cy="512064"/>
          </a:xfrm>
          <a:prstGeom prst="rect">
            <a:avLst/>
          </a:prstGeom>
          <a:noFill/>
          <a:ln/>
        </p:spPr>
        <p:txBody>
          <a:bodyPr wrap="square" lIns="0" tIns="0" rIns="0" bIns="0" rtlCol="0" anchor="t"/>
          <a:lstStyle/>
          <a:p>
            <a:pPr marL="0" indent="0">
              <a:buNone/>
            </a:pPr>
            <a:r>
              <a:rPr lang="en-US" sz="1100" dirty="0">
                <a:solidFill>
                  <a:srgbClr val="212121"/>
                </a:solidFill>
                <a:latin typeface="Calibri" pitchFamily="34" charset="0"/>
                <a:ea typeface="Calibri" pitchFamily="34" charset="-122"/>
                <a:cs typeface="Calibri" pitchFamily="34" charset="-120"/>
              </a:rPr>
              <a:t>Some early decisions about how the database tables connected had to be changed later in the project. These changes took extra time and showed that more careful upfront planning was needed.</a:t>
            </a:r>
            <a:endParaRPr lang="en-US" sz="1100" dirty="0"/>
          </a:p>
        </p:txBody>
      </p:sp>
      <p:sp>
        <p:nvSpPr>
          <p:cNvPr id="20" name="Text 18"/>
          <p:cNvSpPr/>
          <p:nvPr/>
        </p:nvSpPr>
        <p:spPr>
          <a:xfrm>
            <a:off x="365760" y="4892040"/>
            <a:ext cx="8412480" cy="201168"/>
          </a:xfrm>
          <a:prstGeom prst="rect">
            <a:avLst/>
          </a:prstGeom>
          <a:noFill/>
          <a:ln/>
        </p:spPr>
        <p:txBody>
          <a:bodyPr wrap="square" lIns="0" tIns="0" rIns="0" bIns="0" rtlCol="0" anchor="ctr"/>
          <a:lstStyle/>
          <a:p>
            <a:pPr marL="0" indent="0" algn="r">
              <a:buNone/>
            </a:pPr>
            <a:r>
              <a:rPr lang="en-US" sz="900" i="1" dirty="0">
                <a:solidFill>
                  <a:srgbClr val="AAAAAA"/>
                </a:solidFill>
                <a:latin typeface="Calibri" pitchFamily="34" charset="0"/>
                <a:ea typeface="Calibri" pitchFamily="34" charset="-122"/>
                <a:cs typeface="Calibri" pitchFamily="34" charset="-120"/>
              </a:rPr>
              <a:t>Avishek Pandey  |  IT Project Management  |  IT Student Management System</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C1A"/>
          </a:solidFill>
          <a:ln w="12700">
            <a:solidFill>
              <a:srgbClr val="1A3C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Section 5  |  Proposed Solutions</a:t>
            </a:r>
            <a:endParaRPr lang="en-US" sz="2400" dirty="0"/>
          </a:p>
        </p:txBody>
      </p:sp>
      <p:sp>
        <p:nvSpPr>
          <p:cNvPr id="4" name="Shape 2"/>
          <p:cNvSpPr/>
          <p:nvPr/>
        </p:nvSpPr>
        <p:spPr>
          <a:xfrm>
            <a:off x="365760" y="960120"/>
            <a:ext cx="8412480" cy="896112"/>
          </a:xfrm>
          <a:prstGeom prst="rect">
            <a:avLst/>
          </a:prstGeom>
          <a:solidFill>
            <a:srgbClr val="E8F5E9"/>
          </a:solidFill>
          <a:ln w="6350">
            <a:solidFill>
              <a:srgbClr val="C8E6C9"/>
            </a:solidFill>
            <a:prstDash val="solid"/>
          </a:ln>
        </p:spPr>
      </p:sp>
      <p:sp>
        <p:nvSpPr>
          <p:cNvPr id="5" name="Shape 3"/>
          <p:cNvSpPr/>
          <p:nvPr/>
        </p:nvSpPr>
        <p:spPr>
          <a:xfrm>
            <a:off x="365760" y="960120"/>
            <a:ext cx="54864" cy="896112"/>
          </a:xfrm>
          <a:prstGeom prst="rect">
            <a:avLst/>
          </a:prstGeom>
          <a:solidFill>
            <a:srgbClr val="2E7D32"/>
          </a:solidFill>
          <a:ln w="12700">
            <a:solidFill>
              <a:srgbClr val="2E7D32"/>
            </a:solidFill>
            <a:prstDash val="solid"/>
          </a:ln>
        </p:spPr>
      </p:sp>
      <p:sp>
        <p:nvSpPr>
          <p:cNvPr id="6" name="Shape 4"/>
          <p:cNvSpPr/>
          <p:nvPr/>
        </p:nvSpPr>
        <p:spPr>
          <a:xfrm>
            <a:off x="457200" y="1033272"/>
            <a:ext cx="310896" cy="310896"/>
          </a:xfrm>
          <a:prstGeom prst="ellipse">
            <a:avLst/>
          </a:prstGeom>
          <a:solidFill>
            <a:srgbClr val="2E7D32"/>
          </a:solidFill>
          <a:ln w="12700">
            <a:solidFill>
              <a:srgbClr val="2E7D32"/>
            </a:solidFill>
            <a:prstDash val="solid"/>
          </a:ln>
        </p:spPr>
      </p:sp>
      <p:sp>
        <p:nvSpPr>
          <p:cNvPr id="7" name="Text 5"/>
          <p:cNvSpPr/>
          <p:nvPr/>
        </p:nvSpPr>
        <p:spPr>
          <a:xfrm>
            <a:off x="457200" y="103327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859536" y="1014984"/>
            <a:ext cx="7772400" cy="256032"/>
          </a:xfrm>
          <a:prstGeom prst="rect">
            <a:avLst/>
          </a:prstGeom>
          <a:noFill/>
          <a:ln/>
        </p:spPr>
        <p:txBody>
          <a:bodyPr wrap="square" lIns="0" tIns="0" rIns="0" bIns="0" rtlCol="0" anchor="ctr"/>
          <a:lstStyle/>
          <a:p>
            <a:pPr marL="0" indent="0">
              <a:buNone/>
            </a:pPr>
            <a:r>
              <a:rPr lang="en-US" sz="1250" b="1" dirty="0">
                <a:solidFill>
                  <a:srgbClr val="2E7D32"/>
                </a:solidFill>
                <a:latin typeface="Calibri" pitchFamily="34" charset="0"/>
                <a:ea typeface="Calibri" pitchFamily="34" charset="-122"/>
                <a:cs typeface="Calibri" pitchFamily="34" charset="-120"/>
              </a:rPr>
              <a:t>Sprint planning and backlog</a:t>
            </a:r>
            <a:endParaRPr lang="en-US" sz="1250" dirty="0"/>
          </a:p>
        </p:txBody>
      </p:sp>
      <p:sp>
        <p:nvSpPr>
          <p:cNvPr id="9" name="Text 7"/>
          <p:cNvSpPr/>
          <p:nvPr/>
        </p:nvSpPr>
        <p:spPr>
          <a:xfrm>
            <a:off x="859536" y="1289304"/>
            <a:ext cx="7772400" cy="512064"/>
          </a:xfrm>
          <a:prstGeom prst="rect">
            <a:avLst/>
          </a:prstGeom>
          <a:noFill/>
          <a:ln/>
        </p:spPr>
        <p:txBody>
          <a:bodyPr wrap="square" lIns="0" tIns="0" rIns="0" bIns="0" rtlCol="0" anchor="t"/>
          <a:lstStyle/>
          <a:p>
            <a:pPr marL="0" indent="0">
              <a:buNone/>
            </a:pPr>
            <a:r>
              <a:rPr lang="en-US" sz="1100" dirty="0">
                <a:solidFill>
                  <a:srgbClr val="212121"/>
                </a:solidFill>
                <a:latin typeface="Calibri" pitchFamily="34" charset="0"/>
                <a:ea typeface="Calibri" pitchFamily="34" charset="-122"/>
                <a:cs typeface="Calibri" pitchFamily="34" charset="-120"/>
              </a:rPr>
              <a:t>Used Agile Scrum sprints to break the 13-week project into four two-week stages. Built the most important features first so nothing critical was ever at risk.</a:t>
            </a:r>
            <a:endParaRPr lang="en-US" sz="1100" dirty="0"/>
          </a:p>
        </p:txBody>
      </p:sp>
      <p:sp>
        <p:nvSpPr>
          <p:cNvPr id="10" name="Shape 8"/>
          <p:cNvSpPr/>
          <p:nvPr/>
        </p:nvSpPr>
        <p:spPr>
          <a:xfrm>
            <a:off x="365760" y="1965960"/>
            <a:ext cx="8412480" cy="896112"/>
          </a:xfrm>
          <a:prstGeom prst="rect">
            <a:avLst/>
          </a:prstGeom>
          <a:solidFill>
            <a:srgbClr val="FFFFFF"/>
          </a:solidFill>
          <a:ln w="6350">
            <a:solidFill>
              <a:srgbClr val="C8E6C9"/>
            </a:solidFill>
            <a:prstDash val="solid"/>
          </a:ln>
        </p:spPr>
      </p:sp>
      <p:sp>
        <p:nvSpPr>
          <p:cNvPr id="11" name="Shape 9"/>
          <p:cNvSpPr/>
          <p:nvPr/>
        </p:nvSpPr>
        <p:spPr>
          <a:xfrm>
            <a:off x="365760" y="1965960"/>
            <a:ext cx="54864" cy="896112"/>
          </a:xfrm>
          <a:prstGeom prst="rect">
            <a:avLst/>
          </a:prstGeom>
          <a:solidFill>
            <a:srgbClr val="2E7D32"/>
          </a:solidFill>
          <a:ln w="12700">
            <a:solidFill>
              <a:srgbClr val="2E7D32"/>
            </a:solidFill>
            <a:prstDash val="solid"/>
          </a:ln>
        </p:spPr>
      </p:sp>
      <p:sp>
        <p:nvSpPr>
          <p:cNvPr id="12" name="Shape 10"/>
          <p:cNvSpPr/>
          <p:nvPr/>
        </p:nvSpPr>
        <p:spPr>
          <a:xfrm>
            <a:off x="457200" y="2039112"/>
            <a:ext cx="310896" cy="310896"/>
          </a:xfrm>
          <a:prstGeom prst="ellipse">
            <a:avLst/>
          </a:prstGeom>
          <a:solidFill>
            <a:srgbClr val="2E7D32"/>
          </a:solidFill>
          <a:ln w="12700">
            <a:solidFill>
              <a:srgbClr val="2E7D32"/>
            </a:solidFill>
            <a:prstDash val="solid"/>
          </a:ln>
        </p:spPr>
      </p:sp>
      <p:sp>
        <p:nvSpPr>
          <p:cNvPr id="13" name="Text 11"/>
          <p:cNvSpPr/>
          <p:nvPr/>
        </p:nvSpPr>
        <p:spPr>
          <a:xfrm>
            <a:off x="457200" y="203911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859536" y="2020824"/>
            <a:ext cx="7772400" cy="256032"/>
          </a:xfrm>
          <a:prstGeom prst="rect">
            <a:avLst/>
          </a:prstGeom>
          <a:noFill/>
          <a:ln/>
        </p:spPr>
        <p:txBody>
          <a:bodyPr wrap="square" lIns="0" tIns="0" rIns="0" bIns="0" rtlCol="0" anchor="ctr"/>
          <a:lstStyle/>
          <a:p>
            <a:pPr marL="0" indent="0">
              <a:buNone/>
            </a:pPr>
            <a:r>
              <a:rPr lang="en-US" sz="1250" b="1" dirty="0">
                <a:solidFill>
                  <a:srgbClr val="2E7D32"/>
                </a:solidFill>
                <a:latin typeface="Calibri" pitchFamily="34" charset="0"/>
                <a:ea typeface="Calibri" pitchFamily="34" charset="-122"/>
                <a:cs typeface="Calibri" pitchFamily="34" charset="-120"/>
              </a:rPr>
              <a:t>Centralised access control</a:t>
            </a:r>
            <a:endParaRPr lang="en-US" sz="1250" dirty="0"/>
          </a:p>
        </p:txBody>
      </p:sp>
      <p:sp>
        <p:nvSpPr>
          <p:cNvPr id="15" name="Text 13"/>
          <p:cNvSpPr/>
          <p:nvPr/>
        </p:nvSpPr>
        <p:spPr>
          <a:xfrm>
            <a:off x="859536" y="2295144"/>
            <a:ext cx="7772400" cy="512064"/>
          </a:xfrm>
          <a:prstGeom prst="rect">
            <a:avLst/>
          </a:prstGeom>
          <a:noFill/>
          <a:ln/>
        </p:spPr>
        <p:txBody>
          <a:bodyPr wrap="square" lIns="0" tIns="0" rIns="0" bIns="0" rtlCol="0" anchor="t"/>
          <a:lstStyle/>
          <a:p>
            <a:pPr marL="0" indent="0">
              <a:buNone/>
            </a:pPr>
            <a:r>
              <a:rPr lang="en-US" sz="1100" dirty="0">
                <a:solidFill>
                  <a:srgbClr val="212121"/>
                </a:solidFill>
                <a:latin typeface="Calibri" pitchFamily="34" charset="0"/>
                <a:ea typeface="Calibri" pitchFamily="34" charset="-122"/>
                <a:cs typeface="Calibri" pitchFamily="34" charset="-120"/>
              </a:rPr>
              <a:t>Moved all user permission rules to one central place in the code using Django's built-in tools. This made security consistent across the whole system with no gaps.</a:t>
            </a:r>
            <a:endParaRPr lang="en-US" sz="1100" dirty="0"/>
          </a:p>
        </p:txBody>
      </p:sp>
      <p:sp>
        <p:nvSpPr>
          <p:cNvPr id="16" name="Shape 14"/>
          <p:cNvSpPr/>
          <p:nvPr/>
        </p:nvSpPr>
        <p:spPr>
          <a:xfrm>
            <a:off x="365760" y="2971800"/>
            <a:ext cx="8412480" cy="896112"/>
          </a:xfrm>
          <a:prstGeom prst="rect">
            <a:avLst/>
          </a:prstGeom>
          <a:solidFill>
            <a:srgbClr val="E8F5E9"/>
          </a:solidFill>
          <a:ln w="6350">
            <a:solidFill>
              <a:srgbClr val="C8E6C9"/>
            </a:solidFill>
            <a:prstDash val="solid"/>
          </a:ln>
        </p:spPr>
      </p:sp>
      <p:sp>
        <p:nvSpPr>
          <p:cNvPr id="17" name="Shape 15"/>
          <p:cNvSpPr/>
          <p:nvPr/>
        </p:nvSpPr>
        <p:spPr>
          <a:xfrm>
            <a:off x="365760" y="2971800"/>
            <a:ext cx="54864" cy="896112"/>
          </a:xfrm>
          <a:prstGeom prst="rect">
            <a:avLst/>
          </a:prstGeom>
          <a:solidFill>
            <a:srgbClr val="2E7D32"/>
          </a:solidFill>
          <a:ln w="12700">
            <a:solidFill>
              <a:srgbClr val="2E7D32"/>
            </a:solidFill>
            <a:prstDash val="solid"/>
          </a:ln>
        </p:spPr>
      </p:sp>
      <p:sp>
        <p:nvSpPr>
          <p:cNvPr id="18" name="Shape 16"/>
          <p:cNvSpPr/>
          <p:nvPr/>
        </p:nvSpPr>
        <p:spPr>
          <a:xfrm>
            <a:off x="457200" y="3044952"/>
            <a:ext cx="310896" cy="310896"/>
          </a:xfrm>
          <a:prstGeom prst="ellipse">
            <a:avLst/>
          </a:prstGeom>
          <a:solidFill>
            <a:srgbClr val="2E7D32"/>
          </a:solidFill>
          <a:ln w="12700">
            <a:solidFill>
              <a:srgbClr val="2E7D32"/>
            </a:solidFill>
            <a:prstDash val="solid"/>
          </a:ln>
        </p:spPr>
      </p:sp>
      <p:sp>
        <p:nvSpPr>
          <p:cNvPr id="19" name="Text 17"/>
          <p:cNvSpPr/>
          <p:nvPr/>
        </p:nvSpPr>
        <p:spPr>
          <a:xfrm>
            <a:off x="457200" y="304495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859536" y="3026664"/>
            <a:ext cx="7772400" cy="256032"/>
          </a:xfrm>
          <a:prstGeom prst="rect">
            <a:avLst/>
          </a:prstGeom>
          <a:noFill/>
          <a:ln/>
        </p:spPr>
        <p:txBody>
          <a:bodyPr wrap="square" lIns="0" tIns="0" rIns="0" bIns="0" rtlCol="0" anchor="ctr"/>
          <a:lstStyle/>
          <a:p>
            <a:pPr marL="0" indent="0">
              <a:buNone/>
            </a:pPr>
            <a:r>
              <a:rPr lang="en-US" sz="1250" b="1" dirty="0">
                <a:solidFill>
                  <a:srgbClr val="2E7D32"/>
                </a:solidFill>
                <a:latin typeface="Calibri" pitchFamily="34" charset="0"/>
                <a:ea typeface="Calibri" pitchFamily="34" charset="-122"/>
                <a:cs typeface="Calibri" pitchFamily="34" charset="-120"/>
              </a:rPr>
              <a:t>Shared database architecture</a:t>
            </a:r>
            <a:endParaRPr lang="en-US" sz="1250" dirty="0"/>
          </a:p>
        </p:txBody>
      </p:sp>
      <p:sp>
        <p:nvSpPr>
          <p:cNvPr id="21" name="Text 19"/>
          <p:cNvSpPr/>
          <p:nvPr/>
        </p:nvSpPr>
        <p:spPr>
          <a:xfrm>
            <a:off x="859536" y="3300984"/>
            <a:ext cx="7772400" cy="512064"/>
          </a:xfrm>
          <a:prstGeom prst="rect">
            <a:avLst/>
          </a:prstGeom>
          <a:noFill/>
          <a:ln/>
        </p:spPr>
        <p:txBody>
          <a:bodyPr wrap="square" lIns="0" tIns="0" rIns="0" bIns="0" rtlCol="0" anchor="t"/>
          <a:lstStyle/>
          <a:p>
            <a:pPr marL="0" indent="0">
              <a:buNone/>
            </a:pPr>
            <a:r>
              <a:rPr lang="en-US" sz="1100" dirty="0">
                <a:solidFill>
                  <a:srgbClr val="212121"/>
                </a:solidFill>
                <a:latin typeface="Calibri" pitchFamily="34" charset="0"/>
                <a:ea typeface="Calibri" pitchFamily="34" charset="-122"/>
                <a:cs typeface="Calibri" pitchFamily="34" charset="-120"/>
              </a:rPr>
              <a:t>Designed one unified database that all four modules read from and write to. This meant data entered by a teacher automatically appeared for the right students and parents.</a:t>
            </a:r>
            <a:endParaRPr lang="en-US" sz="1100" dirty="0"/>
          </a:p>
        </p:txBody>
      </p:sp>
      <p:sp>
        <p:nvSpPr>
          <p:cNvPr id="22" name="Shape 20"/>
          <p:cNvSpPr/>
          <p:nvPr/>
        </p:nvSpPr>
        <p:spPr>
          <a:xfrm>
            <a:off x="365760" y="3977640"/>
            <a:ext cx="8412480" cy="896112"/>
          </a:xfrm>
          <a:prstGeom prst="rect">
            <a:avLst/>
          </a:prstGeom>
          <a:solidFill>
            <a:srgbClr val="FFFFFF"/>
          </a:solidFill>
          <a:ln w="6350">
            <a:solidFill>
              <a:srgbClr val="C8E6C9"/>
            </a:solidFill>
            <a:prstDash val="solid"/>
          </a:ln>
        </p:spPr>
      </p:sp>
      <p:sp>
        <p:nvSpPr>
          <p:cNvPr id="23" name="Shape 21"/>
          <p:cNvSpPr/>
          <p:nvPr/>
        </p:nvSpPr>
        <p:spPr>
          <a:xfrm>
            <a:off x="365760" y="3977640"/>
            <a:ext cx="54864" cy="896112"/>
          </a:xfrm>
          <a:prstGeom prst="rect">
            <a:avLst/>
          </a:prstGeom>
          <a:solidFill>
            <a:srgbClr val="2E7D32"/>
          </a:solidFill>
          <a:ln w="12700">
            <a:solidFill>
              <a:srgbClr val="2E7D32"/>
            </a:solidFill>
            <a:prstDash val="solid"/>
          </a:ln>
        </p:spPr>
      </p:sp>
      <p:sp>
        <p:nvSpPr>
          <p:cNvPr id="24" name="Shape 22"/>
          <p:cNvSpPr/>
          <p:nvPr/>
        </p:nvSpPr>
        <p:spPr>
          <a:xfrm>
            <a:off x="457200" y="4050792"/>
            <a:ext cx="310896" cy="310896"/>
          </a:xfrm>
          <a:prstGeom prst="ellipse">
            <a:avLst/>
          </a:prstGeom>
          <a:solidFill>
            <a:srgbClr val="2E7D32"/>
          </a:solidFill>
          <a:ln w="12700">
            <a:solidFill>
              <a:srgbClr val="2E7D32"/>
            </a:solidFill>
            <a:prstDash val="solid"/>
          </a:ln>
        </p:spPr>
      </p:sp>
      <p:sp>
        <p:nvSpPr>
          <p:cNvPr id="25" name="Text 23"/>
          <p:cNvSpPr/>
          <p:nvPr/>
        </p:nvSpPr>
        <p:spPr>
          <a:xfrm>
            <a:off x="457200" y="405079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p:nvPr/>
        </p:nvSpPr>
        <p:spPr>
          <a:xfrm>
            <a:off x="859536" y="4032504"/>
            <a:ext cx="7772400" cy="256032"/>
          </a:xfrm>
          <a:prstGeom prst="rect">
            <a:avLst/>
          </a:prstGeom>
          <a:noFill/>
          <a:ln/>
        </p:spPr>
        <p:txBody>
          <a:bodyPr wrap="square" lIns="0" tIns="0" rIns="0" bIns="0" rtlCol="0" anchor="ctr"/>
          <a:lstStyle/>
          <a:p>
            <a:pPr marL="0" indent="0">
              <a:buNone/>
            </a:pPr>
            <a:r>
              <a:rPr lang="en-US" sz="1250" b="1" dirty="0">
                <a:solidFill>
                  <a:srgbClr val="2E7D32"/>
                </a:solidFill>
                <a:latin typeface="Calibri" pitchFamily="34" charset="0"/>
                <a:ea typeface="Calibri" pitchFamily="34" charset="-122"/>
                <a:cs typeface="Calibri" pitchFamily="34" charset="-120"/>
              </a:rPr>
              <a:t>Peer feedback &amp; iteration</a:t>
            </a:r>
            <a:endParaRPr lang="en-US" sz="1250" dirty="0"/>
          </a:p>
        </p:txBody>
      </p:sp>
      <p:sp>
        <p:nvSpPr>
          <p:cNvPr id="27" name="Text 25"/>
          <p:cNvSpPr/>
          <p:nvPr/>
        </p:nvSpPr>
        <p:spPr>
          <a:xfrm>
            <a:off x="859536" y="4306824"/>
            <a:ext cx="7772400" cy="512064"/>
          </a:xfrm>
          <a:prstGeom prst="rect">
            <a:avLst/>
          </a:prstGeom>
          <a:noFill/>
          <a:ln/>
        </p:spPr>
        <p:txBody>
          <a:bodyPr wrap="square" lIns="0" tIns="0" rIns="0" bIns="0" rtlCol="0" anchor="t"/>
          <a:lstStyle/>
          <a:p>
            <a:pPr marL="0" indent="0">
              <a:buNone/>
            </a:pPr>
            <a:r>
              <a:rPr lang="en-US" sz="1100" dirty="0">
                <a:solidFill>
                  <a:srgbClr val="212121"/>
                </a:solidFill>
                <a:latin typeface="Calibri" pitchFamily="34" charset="0"/>
                <a:ea typeface="Calibri" pitchFamily="34" charset="-122"/>
                <a:cs typeface="Calibri" pitchFamily="34" charset="-120"/>
              </a:rPr>
              <a:t>After each sprint, showed the work to peers and the supervisor. Issues raised — especially about interface complexity — were added to the backlog and fixed in the next sprint.</a:t>
            </a:r>
            <a:endParaRPr lang="en-US" sz="1100" dirty="0"/>
          </a:p>
        </p:txBody>
      </p:sp>
      <p:sp>
        <p:nvSpPr>
          <p:cNvPr id="28" name="Text 26"/>
          <p:cNvSpPr/>
          <p:nvPr/>
        </p:nvSpPr>
        <p:spPr>
          <a:xfrm>
            <a:off x="365760" y="4892040"/>
            <a:ext cx="8412480" cy="201168"/>
          </a:xfrm>
          <a:prstGeom prst="rect">
            <a:avLst/>
          </a:prstGeom>
          <a:noFill/>
          <a:ln/>
        </p:spPr>
        <p:txBody>
          <a:bodyPr wrap="square" lIns="0" tIns="0" rIns="0" bIns="0" rtlCol="0" anchor="ctr"/>
          <a:lstStyle/>
          <a:p>
            <a:pPr marL="0" indent="0" algn="r">
              <a:buNone/>
            </a:pPr>
            <a:r>
              <a:rPr lang="en-US" sz="900" i="1" dirty="0">
                <a:solidFill>
                  <a:srgbClr val="AAAAAA"/>
                </a:solidFill>
                <a:latin typeface="Calibri" pitchFamily="34" charset="0"/>
                <a:ea typeface="Calibri" pitchFamily="34" charset="-122"/>
                <a:cs typeface="Calibri" pitchFamily="34" charset="-120"/>
              </a:rPr>
              <a:t>Avishek Pandey  |  IT Project Management  |  IT Student Management System</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C1A"/>
          </a:solidFill>
          <a:ln w="12700">
            <a:solidFill>
              <a:srgbClr val="1A3C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Section 6  |  Solution Implementation – Methodology</a:t>
            </a:r>
            <a:endParaRPr lang="en-US" sz="2400" dirty="0"/>
          </a:p>
        </p:txBody>
      </p:sp>
      <p:sp>
        <p:nvSpPr>
          <p:cNvPr id="4" name="Text 2"/>
          <p:cNvSpPr/>
          <p:nvPr/>
        </p:nvSpPr>
        <p:spPr>
          <a:xfrm>
            <a:off x="365760" y="914400"/>
            <a:ext cx="8412480" cy="274320"/>
          </a:xfrm>
          <a:prstGeom prst="rect">
            <a:avLst/>
          </a:prstGeom>
          <a:noFill/>
          <a:ln/>
        </p:spPr>
        <p:txBody>
          <a:bodyPr wrap="square" lIns="0" tIns="0" rIns="0" bIns="0" rtlCol="0" anchor="ctr"/>
          <a:lstStyle/>
          <a:p>
            <a:pPr marL="0" indent="0">
              <a:buNone/>
            </a:pPr>
            <a:r>
              <a:rPr lang="en-US" sz="1400" b="1" dirty="0">
                <a:solidFill>
                  <a:srgbClr val="1A3C1A"/>
                </a:solidFill>
                <a:latin typeface="Calibri" pitchFamily="34" charset="0"/>
                <a:ea typeface="Calibri" pitchFamily="34" charset="-122"/>
                <a:cs typeface="Calibri" pitchFamily="34" charset="-120"/>
              </a:rPr>
              <a:t>Agile Scrum – How the Project Was Run</a:t>
            </a:r>
            <a:endParaRPr lang="en-US" sz="1400" dirty="0"/>
          </a:p>
        </p:txBody>
      </p:sp>
      <p:sp>
        <p:nvSpPr>
          <p:cNvPr id="5" name="Text 3"/>
          <p:cNvSpPr/>
          <p:nvPr/>
        </p:nvSpPr>
        <p:spPr>
          <a:xfrm>
            <a:off x="365760" y="1234440"/>
            <a:ext cx="8412480" cy="502920"/>
          </a:xfrm>
          <a:prstGeom prst="rect">
            <a:avLst/>
          </a:prstGeom>
          <a:noFill/>
          <a:ln/>
        </p:spPr>
        <p:txBody>
          <a:bodyPr wrap="square" lIns="0" tIns="0" rIns="0" bIns="0" rtlCol="0" anchor="ctr"/>
          <a:lstStyle/>
          <a:p>
            <a:pPr marL="0" indent="0">
              <a:buNone/>
            </a:pPr>
            <a:r>
              <a:rPr lang="en-US" sz="1150" dirty="0">
                <a:solidFill>
                  <a:srgbClr val="212121"/>
                </a:solidFill>
                <a:latin typeface="Calibri" pitchFamily="34" charset="0"/>
                <a:ea typeface="Calibri" pitchFamily="34" charset="-122"/>
                <a:cs typeface="Calibri" pitchFamily="34" charset="-120"/>
              </a:rPr>
              <a:t>Instead of building the whole system at once, Agile means the work was split into short two-week stages called sprints. After each sprint, the work was reviewed, problems were fixed, and the next sprint was planned.</a:t>
            </a:r>
            <a:endParaRPr lang="en-US" sz="1150" dirty="0"/>
          </a:p>
        </p:txBody>
      </p:sp>
      <p:sp>
        <p:nvSpPr>
          <p:cNvPr id="6" name="Shape 4"/>
          <p:cNvSpPr/>
          <p:nvPr/>
        </p:nvSpPr>
        <p:spPr>
          <a:xfrm>
            <a:off x="365760" y="1874520"/>
            <a:ext cx="1920240" cy="1508760"/>
          </a:xfrm>
          <a:prstGeom prst="rect">
            <a:avLst/>
          </a:prstGeom>
          <a:solidFill>
            <a:srgbClr val="1A3C1A"/>
          </a:solidFill>
          <a:ln w="12700">
            <a:solidFill>
              <a:srgbClr val="1A3C1A"/>
            </a:solidFill>
            <a:prstDash val="solid"/>
          </a:ln>
        </p:spPr>
      </p:sp>
      <p:sp>
        <p:nvSpPr>
          <p:cNvPr id="7" name="Text 5"/>
          <p:cNvSpPr/>
          <p:nvPr/>
        </p:nvSpPr>
        <p:spPr>
          <a:xfrm>
            <a:off x="365760" y="1892808"/>
            <a:ext cx="192024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Sprint 1</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Weeks 3–4</a:t>
            </a:r>
            <a:endParaRPr lang="en-US" sz="1100" dirty="0"/>
          </a:p>
        </p:txBody>
      </p:sp>
      <p:sp>
        <p:nvSpPr>
          <p:cNvPr id="8" name="Shape 6"/>
          <p:cNvSpPr/>
          <p:nvPr/>
        </p:nvSpPr>
        <p:spPr>
          <a:xfrm>
            <a:off x="457200" y="2377440"/>
            <a:ext cx="1737360" cy="0"/>
          </a:xfrm>
          <a:prstGeom prst="line">
            <a:avLst/>
          </a:prstGeom>
          <a:noFill/>
          <a:ln w="10160">
            <a:solidFill>
              <a:srgbClr val="A5D6A7"/>
            </a:solidFill>
            <a:prstDash val="solid"/>
          </a:ln>
        </p:spPr>
      </p:sp>
      <p:sp>
        <p:nvSpPr>
          <p:cNvPr id="9" name="Text 7"/>
          <p:cNvSpPr/>
          <p:nvPr/>
        </p:nvSpPr>
        <p:spPr>
          <a:xfrm>
            <a:off x="457200" y="2414016"/>
            <a:ext cx="1737360" cy="914400"/>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Login system</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Student profiles</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Admin account</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Role dashboards</a:t>
            </a:r>
            <a:endParaRPr lang="en-US" sz="1000" dirty="0"/>
          </a:p>
        </p:txBody>
      </p:sp>
      <p:sp>
        <p:nvSpPr>
          <p:cNvPr id="10" name="Shape 8"/>
          <p:cNvSpPr/>
          <p:nvPr/>
        </p:nvSpPr>
        <p:spPr>
          <a:xfrm>
            <a:off x="2286000" y="2578608"/>
            <a:ext cx="182880" cy="0"/>
          </a:xfrm>
          <a:prstGeom prst="line">
            <a:avLst/>
          </a:prstGeom>
          <a:noFill/>
          <a:ln w="25400">
            <a:solidFill>
              <a:srgbClr val="2E7D32"/>
            </a:solidFill>
            <a:prstDash val="solid"/>
          </a:ln>
        </p:spPr>
      </p:sp>
      <p:sp>
        <p:nvSpPr>
          <p:cNvPr id="11" name="Shape 9"/>
          <p:cNvSpPr/>
          <p:nvPr/>
        </p:nvSpPr>
        <p:spPr>
          <a:xfrm>
            <a:off x="2468880" y="1874520"/>
            <a:ext cx="1920240" cy="1508760"/>
          </a:xfrm>
          <a:prstGeom prst="rect">
            <a:avLst/>
          </a:prstGeom>
          <a:solidFill>
            <a:srgbClr val="2E7D32"/>
          </a:solidFill>
          <a:ln w="12700">
            <a:solidFill>
              <a:srgbClr val="1A3C1A"/>
            </a:solidFill>
            <a:prstDash val="solid"/>
          </a:ln>
        </p:spPr>
      </p:sp>
      <p:sp>
        <p:nvSpPr>
          <p:cNvPr id="12" name="Text 10"/>
          <p:cNvSpPr/>
          <p:nvPr/>
        </p:nvSpPr>
        <p:spPr>
          <a:xfrm>
            <a:off x="2468880" y="1892808"/>
            <a:ext cx="192024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Sprint 2</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Weeks 5–6</a:t>
            </a:r>
            <a:endParaRPr lang="en-US" sz="1100" dirty="0"/>
          </a:p>
        </p:txBody>
      </p:sp>
      <p:sp>
        <p:nvSpPr>
          <p:cNvPr id="13" name="Shape 11"/>
          <p:cNvSpPr/>
          <p:nvPr/>
        </p:nvSpPr>
        <p:spPr>
          <a:xfrm>
            <a:off x="2560320" y="2377440"/>
            <a:ext cx="1737360" cy="0"/>
          </a:xfrm>
          <a:prstGeom prst="line">
            <a:avLst/>
          </a:prstGeom>
          <a:noFill/>
          <a:ln w="10160">
            <a:solidFill>
              <a:srgbClr val="A5D6A7"/>
            </a:solidFill>
            <a:prstDash val="solid"/>
          </a:ln>
        </p:spPr>
      </p:sp>
      <p:sp>
        <p:nvSpPr>
          <p:cNvPr id="14" name="Text 12"/>
          <p:cNvSpPr/>
          <p:nvPr/>
        </p:nvSpPr>
        <p:spPr>
          <a:xfrm>
            <a:off x="2560320" y="2414016"/>
            <a:ext cx="1737360" cy="914400"/>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File upload</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Class materials</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Student access control</a:t>
            </a:r>
            <a:endParaRPr lang="en-US" sz="1000" dirty="0"/>
          </a:p>
        </p:txBody>
      </p:sp>
      <p:sp>
        <p:nvSpPr>
          <p:cNvPr id="15" name="Shape 13"/>
          <p:cNvSpPr/>
          <p:nvPr/>
        </p:nvSpPr>
        <p:spPr>
          <a:xfrm>
            <a:off x="4389120" y="2578608"/>
            <a:ext cx="182880" cy="0"/>
          </a:xfrm>
          <a:prstGeom prst="line">
            <a:avLst/>
          </a:prstGeom>
          <a:noFill/>
          <a:ln w="25400">
            <a:solidFill>
              <a:srgbClr val="2E7D32"/>
            </a:solidFill>
            <a:prstDash val="solid"/>
          </a:ln>
        </p:spPr>
      </p:sp>
      <p:sp>
        <p:nvSpPr>
          <p:cNvPr id="16" name="Shape 14"/>
          <p:cNvSpPr/>
          <p:nvPr/>
        </p:nvSpPr>
        <p:spPr>
          <a:xfrm>
            <a:off x="4572000" y="1874520"/>
            <a:ext cx="1920240" cy="1508760"/>
          </a:xfrm>
          <a:prstGeom prst="rect">
            <a:avLst/>
          </a:prstGeom>
          <a:solidFill>
            <a:srgbClr val="1A3C1A"/>
          </a:solidFill>
          <a:ln w="12700">
            <a:solidFill>
              <a:srgbClr val="1A3C1A"/>
            </a:solidFill>
            <a:prstDash val="solid"/>
          </a:ln>
        </p:spPr>
      </p:sp>
      <p:sp>
        <p:nvSpPr>
          <p:cNvPr id="17" name="Text 15"/>
          <p:cNvSpPr/>
          <p:nvPr/>
        </p:nvSpPr>
        <p:spPr>
          <a:xfrm>
            <a:off x="4572000" y="1892808"/>
            <a:ext cx="192024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Sprint 3</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Weeks 7–8</a:t>
            </a:r>
            <a:endParaRPr lang="en-US" sz="1100" dirty="0"/>
          </a:p>
        </p:txBody>
      </p:sp>
      <p:sp>
        <p:nvSpPr>
          <p:cNvPr id="18" name="Shape 16"/>
          <p:cNvSpPr/>
          <p:nvPr/>
        </p:nvSpPr>
        <p:spPr>
          <a:xfrm>
            <a:off x="4663440" y="2377440"/>
            <a:ext cx="1737360" cy="0"/>
          </a:xfrm>
          <a:prstGeom prst="line">
            <a:avLst/>
          </a:prstGeom>
          <a:noFill/>
          <a:ln w="10160">
            <a:solidFill>
              <a:srgbClr val="A5D6A7"/>
            </a:solidFill>
            <a:prstDash val="solid"/>
          </a:ln>
        </p:spPr>
      </p:sp>
      <p:sp>
        <p:nvSpPr>
          <p:cNvPr id="19" name="Text 17"/>
          <p:cNvSpPr/>
          <p:nvPr/>
        </p:nvSpPr>
        <p:spPr>
          <a:xfrm>
            <a:off x="4663440" y="2414016"/>
            <a:ext cx="1737360" cy="914400"/>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Teacher dashboard</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Attendance recording</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Grade entry</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Parent view</a:t>
            </a:r>
            <a:endParaRPr lang="en-US" sz="1000" dirty="0"/>
          </a:p>
        </p:txBody>
      </p:sp>
      <p:sp>
        <p:nvSpPr>
          <p:cNvPr id="20" name="Shape 18"/>
          <p:cNvSpPr/>
          <p:nvPr/>
        </p:nvSpPr>
        <p:spPr>
          <a:xfrm>
            <a:off x="6492240" y="2578608"/>
            <a:ext cx="182880" cy="0"/>
          </a:xfrm>
          <a:prstGeom prst="line">
            <a:avLst/>
          </a:prstGeom>
          <a:noFill/>
          <a:ln w="25400">
            <a:solidFill>
              <a:srgbClr val="2E7D32"/>
            </a:solidFill>
            <a:prstDash val="solid"/>
          </a:ln>
        </p:spPr>
      </p:sp>
      <p:sp>
        <p:nvSpPr>
          <p:cNvPr id="21" name="Shape 19"/>
          <p:cNvSpPr/>
          <p:nvPr/>
        </p:nvSpPr>
        <p:spPr>
          <a:xfrm>
            <a:off x="6675120" y="1874520"/>
            <a:ext cx="1920240" cy="1508760"/>
          </a:xfrm>
          <a:prstGeom prst="rect">
            <a:avLst/>
          </a:prstGeom>
          <a:solidFill>
            <a:srgbClr val="2E7D32"/>
          </a:solidFill>
          <a:ln w="12700">
            <a:solidFill>
              <a:srgbClr val="1A3C1A"/>
            </a:solidFill>
            <a:prstDash val="solid"/>
          </a:ln>
        </p:spPr>
      </p:sp>
      <p:sp>
        <p:nvSpPr>
          <p:cNvPr id="22" name="Text 20"/>
          <p:cNvSpPr/>
          <p:nvPr/>
        </p:nvSpPr>
        <p:spPr>
          <a:xfrm>
            <a:off x="6675120" y="1892808"/>
            <a:ext cx="192024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Sprint 4</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Weeks 9–10</a:t>
            </a:r>
            <a:endParaRPr lang="en-US" sz="1100" dirty="0"/>
          </a:p>
        </p:txBody>
      </p:sp>
      <p:sp>
        <p:nvSpPr>
          <p:cNvPr id="23" name="Shape 21"/>
          <p:cNvSpPr/>
          <p:nvPr/>
        </p:nvSpPr>
        <p:spPr>
          <a:xfrm>
            <a:off x="6766560" y="2377440"/>
            <a:ext cx="1737360" cy="0"/>
          </a:xfrm>
          <a:prstGeom prst="line">
            <a:avLst/>
          </a:prstGeom>
          <a:noFill/>
          <a:ln w="10160">
            <a:solidFill>
              <a:srgbClr val="A5D6A7"/>
            </a:solidFill>
            <a:prstDash val="solid"/>
          </a:ln>
        </p:spPr>
      </p:sp>
      <p:sp>
        <p:nvSpPr>
          <p:cNvPr id="24" name="Text 22"/>
          <p:cNvSpPr/>
          <p:nvPr/>
        </p:nvSpPr>
        <p:spPr>
          <a:xfrm>
            <a:off x="6766560" y="2414016"/>
            <a:ext cx="1737360" cy="914400"/>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Admin panel</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Full integration</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Integration testing</a:t>
            </a:r>
            <a:endParaRPr lang="en-US" sz="1000" dirty="0"/>
          </a:p>
        </p:txBody>
      </p:sp>
      <p:sp>
        <p:nvSpPr>
          <p:cNvPr id="25" name="Text 23"/>
          <p:cNvSpPr/>
          <p:nvPr/>
        </p:nvSpPr>
        <p:spPr>
          <a:xfrm>
            <a:off x="365760" y="3520440"/>
            <a:ext cx="8412480" cy="274320"/>
          </a:xfrm>
          <a:prstGeom prst="rect">
            <a:avLst/>
          </a:prstGeom>
          <a:noFill/>
          <a:ln/>
        </p:spPr>
        <p:txBody>
          <a:bodyPr wrap="square" lIns="0" tIns="0" rIns="0" bIns="0" rtlCol="0" anchor="ctr"/>
          <a:lstStyle/>
          <a:p>
            <a:pPr marL="0" indent="0">
              <a:buNone/>
            </a:pPr>
            <a:r>
              <a:rPr lang="en-US" sz="1200" b="1" dirty="0">
                <a:solidFill>
                  <a:srgbClr val="1A3C1A"/>
                </a:solidFill>
                <a:latin typeface="Calibri" pitchFamily="34" charset="0"/>
                <a:ea typeface="Calibri" pitchFamily="34" charset="-122"/>
                <a:cs typeface="Calibri" pitchFamily="34" charset="-120"/>
              </a:rPr>
              <a:t>Each sprint included: Sprint Planning  →  2 weeks of building  →  Sprint Review  →  Retrospective</a:t>
            </a:r>
            <a:endParaRPr lang="en-US" sz="1200" dirty="0"/>
          </a:p>
        </p:txBody>
      </p:sp>
      <p:sp>
        <p:nvSpPr>
          <p:cNvPr id="26" name="Text 24"/>
          <p:cNvSpPr/>
          <p:nvPr/>
        </p:nvSpPr>
        <p:spPr>
          <a:xfrm>
            <a:off x="365760" y="3886200"/>
            <a:ext cx="8412480" cy="237744"/>
          </a:xfrm>
          <a:prstGeom prst="rect">
            <a:avLst/>
          </a:prstGeom>
          <a:noFill/>
          <a:ln/>
        </p:spPr>
        <p:txBody>
          <a:bodyPr wrap="square" lIns="0" tIns="0" rIns="0" bIns="0" rtlCol="0" anchor="ctr"/>
          <a:lstStyle/>
          <a:p>
            <a:pPr marL="0" indent="0">
              <a:buNone/>
            </a:pPr>
            <a:r>
              <a:rPr lang="en-US" sz="1200" b="1" dirty="0">
                <a:solidFill>
                  <a:srgbClr val="1A3C1A"/>
                </a:solidFill>
                <a:latin typeface="Calibri" pitchFamily="34" charset="0"/>
                <a:ea typeface="Calibri" pitchFamily="34" charset="-122"/>
                <a:cs typeface="Calibri" pitchFamily="34" charset="-120"/>
              </a:rPr>
              <a:t>Peer Feedback During Sprints:</a:t>
            </a:r>
            <a:endParaRPr lang="en-US" sz="1200" dirty="0"/>
          </a:p>
        </p:txBody>
      </p:sp>
      <p:sp>
        <p:nvSpPr>
          <p:cNvPr id="27" name="Text 25"/>
          <p:cNvSpPr/>
          <p:nvPr/>
        </p:nvSpPr>
        <p:spPr>
          <a:xfrm>
            <a:off x="365760" y="4151376"/>
            <a:ext cx="8412480" cy="502920"/>
          </a:xfrm>
          <a:prstGeom prst="rect">
            <a:avLst/>
          </a:prstGeom>
          <a:noFill/>
          <a:ln/>
        </p:spPr>
        <p:txBody>
          <a:bodyPr wrap="square" lIns="0" tIns="0" rIns="0" bIns="0" rtlCol="0" anchor="ctr"/>
          <a:lstStyle/>
          <a:p>
            <a:pPr marL="0" indent="0">
              <a:buNone/>
            </a:pPr>
            <a:r>
              <a:rPr lang="en-US" sz="1100" dirty="0">
                <a:solidFill>
                  <a:srgbClr val="212121"/>
                </a:solidFill>
                <a:latin typeface="Calibri" pitchFamily="34" charset="0"/>
                <a:ea typeface="Calibri" pitchFamily="34" charset="-122"/>
                <a:cs typeface="Calibri" pitchFamily="34" charset="-120"/>
              </a:rPr>
              <a:t>Peers raised concerns about UI complexity after the pitch. Role-based dashboards, simpler navigation, and plain error messages were implemented in response. Final UAT confirmed the interface was clear and easy to use.</a:t>
            </a:r>
            <a:endParaRPr lang="en-US" sz="1100" dirty="0"/>
          </a:p>
        </p:txBody>
      </p:sp>
      <p:sp>
        <p:nvSpPr>
          <p:cNvPr id="28" name="Text 26"/>
          <p:cNvSpPr/>
          <p:nvPr/>
        </p:nvSpPr>
        <p:spPr>
          <a:xfrm>
            <a:off x="365760" y="4892040"/>
            <a:ext cx="8412480" cy="201168"/>
          </a:xfrm>
          <a:prstGeom prst="rect">
            <a:avLst/>
          </a:prstGeom>
          <a:noFill/>
          <a:ln/>
        </p:spPr>
        <p:txBody>
          <a:bodyPr wrap="square" lIns="0" tIns="0" rIns="0" bIns="0" rtlCol="0" anchor="ctr"/>
          <a:lstStyle/>
          <a:p>
            <a:pPr marL="0" indent="0" algn="r">
              <a:buNone/>
            </a:pPr>
            <a:r>
              <a:rPr lang="en-US" sz="900" i="1" dirty="0">
                <a:solidFill>
                  <a:srgbClr val="AAAAAA"/>
                </a:solidFill>
                <a:latin typeface="Calibri" pitchFamily="34" charset="0"/>
                <a:ea typeface="Calibri" pitchFamily="34" charset="-122"/>
                <a:cs typeface="Calibri" pitchFamily="34" charset="-120"/>
              </a:rPr>
              <a:t>Avishek Pandey  |  IT Project Management  |  IT Student Management System</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C1A"/>
          </a:solidFill>
          <a:ln w="12700">
            <a:solidFill>
              <a:srgbClr val="1A3C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Section 6  |  Solution Implementation – Detailed Timeline</a:t>
            </a:r>
            <a:endParaRPr lang="en-US" sz="2400" dirty="0"/>
          </a:p>
        </p:txBody>
      </p:sp>
      <p:sp>
        <p:nvSpPr>
          <p:cNvPr id="4" name="Shape 2"/>
          <p:cNvSpPr/>
          <p:nvPr/>
        </p:nvSpPr>
        <p:spPr>
          <a:xfrm>
            <a:off x="365760" y="1024128"/>
            <a:ext cx="914400" cy="420624"/>
          </a:xfrm>
          <a:prstGeom prst="rect">
            <a:avLst/>
          </a:prstGeom>
          <a:solidFill>
            <a:srgbClr val="1A3C1A"/>
          </a:solidFill>
          <a:ln w="12700">
            <a:solidFill>
              <a:srgbClr val="1A3C1A"/>
            </a:solidFill>
            <a:prstDash val="solid"/>
          </a:ln>
        </p:spPr>
      </p:sp>
      <p:sp>
        <p:nvSpPr>
          <p:cNvPr id="5" name="Text 3"/>
          <p:cNvSpPr/>
          <p:nvPr/>
        </p:nvSpPr>
        <p:spPr>
          <a:xfrm>
            <a:off x="365760" y="1024128"/>
            <a:ext cx="914400" cy="42062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Week 1</a:t>
            </a:r>
            <a:endParaRPr lang="en-US" sz="900" dirty="0"/>
          </a:p>
        </p:txBody>
      </p:sp>
      <p:sp>
        <p:nvSpPr>
          <p:cNvPr id="6" name="Shape 4"/>
          <p:cNvSpPr/>
          <p:nvPr/>
        </p:nvSpPr>
        <p:spPr>
          <a:xfrm>
            <a:off x="1371600" y="1024128"/>
            <a:ext cx="1188720" cy="420624"/>
          </a:xfrm>
          <a:prstGeom prst="rect">
            <a:avLst/>
          </a:prstGeom>
          <a:solidFill>
            <a:srgbClr val="E8F5E9"/>
          </a:solidFill>
          <a:ln w="6350">
            <a:solidFill>
              <a:srgbClr val="C8E6C9"/>
            </a:solidFill>
            <a:prstDash val="solid"/>
          </a:ln>
        </p:spPr>
      </p:sp>
      <p:sp>
        <p:nvSpPr>
          <p:cNvPr id="7" name="Text 5"/>
          <p:cNvSpPr/>
          <p:nvPr/>
        </p:nvSpPr>
        <p:spPr>
          <a:xfrm>
            <a:off x="1371600" y="1024128"/>
            <a:ext cx="1188720" cy="420624"/>
          </a:xfrm>
          <a:prstGeom prst="rect">
            <a:avLst/>
          </a:prstGeom>
          <a:noFill/>
          <a:ln/>
        </p:spPr>
        <p:txBody>
          <a:bodyPr wrap="square" rtlCol="0" anchor="ctr"/>
          <a:lstStyle/>
          <a:p>
            <a:pPr marL="0" indent="0" algn="ctr">
              <a:buNone/>
            </a:pPr>
            <a:r>
              <a:rPr lang="en-US" sz="950" b="1" dirty="0">
                <a:solidFill>
                  <a:srgbClr val="1A3C1A"/>
                </a:solidFill>
                <a:latin typeface="Calibri" pitchFamily="34" charset="0"/>
                <a:ea typeface="Calibri" pitchFamily="34" charset="-122"/>
                <a:cs typeface="Calibri" pitchFamily="34" charset="-120"/>
              </a:rPr>
              <a:t>Project Planning</a:t>
            </a:r>
            <a:endParaRPr lang="en-US" sz="950" dirty="0"/>
          </a:p>
        </p:txBody>
      </p:sp>
      <p:sp>
        <p:nvSpPr>
          <p:cNvPr id="8" name="Shape 6"/>
          <p:cNvSpPr/>
          <p:nvPr/>
        </p:nvSpPr>
        <p:spPr>
          <a:xfrm>
            <a:off x="2651760" y="1024128"/>
            <a:ext cx="6126480" cy="420624"/>
          </a:xfrm>
          <a:prstGeom prst="rect">
            <a:avLst/>
          </a:prstGeom>
          <a:solidFill>
            <a:srgbClr val="F9F9F9"/>
          </a:solidFill>
          <a:ln w="6350">
            <a:solidFill>
              <a:srgbClr val="E0E0E0"/>
            </a:solidFill>
            <a:prstDash val="solid"/>
          </a:ln>
        </p:spPr>
      </p:sp>
      <p:sp>
        <p:nvSpPr>
          <p:cNvPr id="9" name="Text 7"/>
          <p:cNvSpPr/>
          <p:nvPr/>
        </p:nvSpPr>
        <p:spPr>
          <a:xfrm>
            <a:off x="2761488" y="1060704"/>
            <a:ext cx="5907024" cy="347472"/>
          </a:xfrm>
          <a:prstGeom prst="rect">
            <a:avLst/>
          </a:prstGeom>
          <a:noFill/>
          <a:ln/>
        </p:spPr>
        <p:txBody>
          <a:bodyPr wrap="square" lIns="0" tIns="0" rIns="0" bIns="0" rtlCol="0" anchor="ctr"/>
          <a:lstStyle/>
          <a:p>
            <a:pPr marL="0" indent="0">
              <a:buNone/>
            </a:pPr>
            <a:r>
              <a:rPr lang="en-US" sz="950" dirty="0">
                <a:solidFill>
                  <a:srgbClr val="212121"/>
                </a:solidFill>
                <a:latin typeface="Calibri" pitchFamily="34" charset="0"/>
                <a:ea typeface="Calibri" pitchFamily="34" charset="-122"/>
                <a:cs typeface="Calibri" pitchFamily="34" charset="-120"/>
              </a:rPr>
              <a:t>Defined scope, identified Admin, Teacher, Student, Parent as users, set timeline and success goals.</a:t>
            </a:r>
            <a:endParaRPr lang="en-US" sz="950" dirty="0"/>
          </a:p>
        </p:txBody>
      </p:sp>
      <p:sp>
        <p:nvSpPr>
          <p:cNvPr id="10" name="Shape 8"/>
          <p:cNvSpPr/>
          <p:nvPr/>
        </p:nvSpPr>
        <p:spPr>
          <a:xfrm>
            <a:off x="365760" y="1513332"/>
            <a:ext cx="914400" cy="420624"/>
          </a:xfrm>
          <a:prstGeom prst="rect">
            <a:avLst/>
          </a:prstGeom>
          <a:solidFill>
            <a:srgbClr val="2E7D32"/>
          </a:solidFill>
          <a:ln w="12700">
            <a:solidFill>
              <a:srgbClr val="2E7D32"/>
            </a:solidFill>
            <a:prstDash val="solid"/>
          </a:ln>
        </p:spPr>
      </p:sp>
      <p:sp>
        <p:nvSpPr>
          <p:cNvPr id="11" name="Text 9"/>
          <p:cNvSpPr/>
          <p:nvPr/>
        </p:nvSpPr>
        <p:spPr>
          <a:xfrm>
            <a:off x="365760" y="1513332"/>
            <a:ext cx="914400" cy="42062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Week 2</a:t>
            </a:r>
            <a:endParaRPr lang="en-US" sz="900" dirty="0"/>
          </a:p>
        </p:txBody>
      </p:sp>
      <p:sp>
        <p:nvSpPr>
          <p:cNvPr id="12" name="Shape 10"/>
          <p:cNvSpPr/>
          <p:nvPr/>
        </p:nvSpPr>
        <p:spPr>
          <a:xfrm>
            <a:off x="1371600" y="1513332"/>
            <a:ext cx="1188720" cy="420624"/>
          </a:xfrm>
          <a:prstGeom prst="rect">
            <a:avLst/>
          </a:prstGeom>
          <a:solidFill>
            <a:srgbClr val="E8F5E9"/>
          </a:solidFill>
          <a:ln w="6350">
            <a:solidFill>
              <a:srgbClr val="C8E6C9"/>
            </a:solidFill>
            <a:prstDash val="solid"/>
          </a:ln>
        </p:spPr>
      </p:sp>
      <p:sp>
        <p:nvSpPr>
          <p:cNvPr id="13" name="Text 11"/>
          <p:cNvSpPr/>
          <p:nvPr/>
        </p:nvSpPr>
        <p:spPr>
          <a:xfrm>
            <a:off x="1371600" y="1513332"/>
            <a:ext cx="1188720" cy="420624"/>
          </a:xfrm>
          <a:prstGeom prst="rect">
            <a:avLst/>
          </a:prstGeom>
          <a:noFill/>
          <a:ln/>
        </p:spPr>
        <p:txBody>
          <a:bodyPr wrap="square" rtlCol="0" anchor="ctr"/>
          <a:lstStyle/>
          <a:p>
            <a:pPr marL="0" indent="0" algn="ctr">
              <a:buNone/>
            </a:pPr>
            <a:r>
              <a:rPr lang="en-US" sz="950" b="1" dirty="0">
                <a:solidFill>
                  <a:srgbClr val="2E7D32"/>
                </a:solidFill>
                <a:latin typeface="Calibri" pitchFamily="34" charset="0"/>
                <a:ea typeface="Calibri" pitchFamily="34" charset="-122"/>
                <a:cs typeface="Calibri" pitchFamily="34" charset="-120"/>
              </a:rPr>
              <a:t>System Design</a:t>
            </a:r>
            <a:endParaRPr lang="en-US" sz="950" dirty="0"/>
          </a:p>
        </p:txBody>
      </p:sp>
      <p:sp>
        <p:nvSpPr>
          <p:cNvPr id="14" name="Shape 12"/>
          <p:cNvSpPr/>
          <p:nvPr/>
        </p:nvSpPr>
        <p:spPr>
          <a:xfrm>
            <a:off x="2651760" y="1513332"/>
            <a:ext cx="6126480" cy="420624"/>
          </a:xfrm>
          <a:prstGeom prst="rect">
            <a:avLst/>
          </a:prstGeom>
          <a:solidFill>
            <a:srgbClr val="FFFFFF"/>
          </a:solidFill>
          <a:ln w="6350">
            <a:solidFill>
              <a:srgbClr val="E0E0E0"/>
            </a:solidFill>
            <a:prstDash val="solid"/>
          </a:ln>
        </p:spPr>
      </p:sp>
      <p:sp>
        <p:nvSpPr>
          <p:cNvPr id="15" name="Text 13"/>
          <p:cNvSpPr/>
          <p:nvPr/>
        </p:nvSpPr>
        <p:spPr>
          <a:xfrm>
            <a:off x="2761488" y="1549908"/>
            <a:ext cx="5907024" cy="347472"/>
          </a:xfrm>
          <a:prstGeom prst="rect">
            <a:avLst/>
          </a:prstGeom>
          <a:noFill/>
          <a:ln/>
        </p:spPr>
        <p:txBody>
          <a:bodyPr wrap="square" lIns="0" tIns="0" rIns="0" bIns="0" rtlCol="0" anchor="ctr"/>
          <a:lstStyle/>
          <a:p>
            <a:pPr marL="0" indent="0">
              <a:buNone/>
            </a:pPr>
            <a:r>
              <a:rPr lang="en-US" sz="950" dirty="0">
                <a:solidFill>
                  <a:srgbClr val="212121"/>
                </a:solidFill>
                <a:latin typeface="Calibri" pitchFamily="34" charset="0"/>
                <a:ea typeface="Calibri" pitchFamily="34" charset="-122"/>
                <a:cs typeface="Calibri" pitchFamily="34" charset="-120"/>
              </a:rPr>
              <a:t>Designed database tables (users, classes, resources, attendance, grades). Drew wireframes. Planned security.</a:t>
            </a:r>
            <a:endParaRPr lang="en-US" sz="950" dirty="0"/>
          </a:p>
        </p:txBody>
      </p:sp>
      <p:sp>
        <p:nvSpPr>
          <p:cNvPr id="16" name="Shape 14"/>
          <p:cNvSpPr/>
          <p:nvPr/>
        </p:nvSpPr>
        <p:spPr>
          <a:xfrm>
            <a:off x="365760" y="2002536"/>
            <a:ext cx="914400" cy="420624"/>
          </a:xfrm>
          <a:prstGeom prst="rect">
            <a:avLst/>
          </a:prstGeom>
          <a:solidFill>
            <a:srgbClr val="1A3C1A"/>
          </a:solidFill>
          <a:ln w="12700">
            <a:solidFill>
              <a:srgbClr val="1A3C1A"/>
            </a:solidFill>
            <a:prstDash val="solid"/>
          </a:ln>
        </p:spPr>
      </p:sp>
      <p:sp>
        <p:nvSpPr>
          <p:cNvPr id="17" name="Text 15"/>
          <p:cNvSpPr/>
          <p:nvPr/>
        </p:nvSpPr>
        <p:spPr>
          <a:xfrm>
            <a:off x="365760" y="2002536"/>
            <a:ext cx="914400" cy="42062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Weeks 3–4</a:t>
            </a:r>
            <a:endParaRPr lang="en-US" sz="900" dirty="0"/>
          </a:p>
        </p:txBody>
      </p:sp>
      <p:sp>
        <p:nvSpPr>
          <p:cNvPr id="18" name="Shape 16"/>
          <p:cNvSpPr/>
          <p:nvPr/>
        </p:nvSpPr>
        <p:spPr>
          <a:xfrm>
            <a:off x="1371600" y="2002536"/>
            <a:ext cx="1188720" cy="420624"/>
          </a:xfrm>
          <a:prstGeom prst="rect">
            <a:avLst/>
          </a:prstGeom>
          <a:solidFill>
            <a:srgbClr val="E8F5E9"/>
          </a:solidFill>
          <a:ln w="6350">
            <a:solidFill>
              <a:srgbClr val="C8E6C9"/>
            </a:solidFill>
            <a:prstDash val="solid"/>
          </a:ln>
        </p:spPr>
      </p:sp>
      <p:sp>
        <p:nvSpPr>
          <p:cNvPr id="19" name="Text 17"/>
          <p:cNvSpPr/>
          <p:nvPr/>
        </p:nvSpPr>
        <p:spPr>
          <a:xfrm>
            <a:off x="1371600" y="2002536"/>
            <a:ext cx="1188720" cy="420624"/>
          </a:xfrm>
          <a:prstGeom prst="rect">
            <a:avLst/>
          </a:prstGeom>
          <a:noFill/>
          <a:ln/>
        </p:spPr>
        <p:txBody>
          <a:bodyPr wrap="square" rtlCol="0" anchor="ctr"/>
          <a:lstStyle/>
          <a:p>
            <a:pPr marL="0" indent="0" algn="ctr">
              <a:buNone/>
            </a:pPr>
            <a:r>
              <a:rPr lang="en-US" sz="950" b="1" dirty="0">
                <a:solidFill>
                  <a:srgbClr val="1A3C1A"/>
                </a:solidFill>
                <a:latin typeface="Calibri" pitchFamily="34" charset="0"/>
                <a:ea typeface="Calibri" pitchFamily="34" charset="-122"/>
                <a:cs typeface="Calibri" pitchFamily="34" charset="-120"/>
              </a:rPr>
              <a:t>Sprint 1</a:t>
            </a:r>
            <a:endParaRPr lang="en-US" sz="950" dirty="0"/>
          </a:p>
        </p:txBody>
      </p:sp>
      <p:sp>
        <p:nvSpPr>
          <p:cNvPr id="20" name="Shape 18"/>
          <p:cNvSpPr/>
          <p:nvPr/>
        </p:nvSpPr>
        <p:spPr>
          <a:xfrm>
            <a:off x="2651760" y="2002536"/>
            <a:ext cx="6126480" cy="420624"/>
          </a:xfrm>
          <a:prstGeom prst="rect">
            <a:avLst/>
          </a:prstGeom>
          <a:solidFill>
            <a:srgbClr val="F9F9F9"/>
          </a:solidFill>
          <a:ln w="6350">
            <a:solidFill>
              <a:srgbClr val="E0E0E0"/>
            </a:solidFill>
            <a:prstDash val="solid"/>
          </a:ln>
        </p:spPr>
      </p:sp>
      <p:sp>
        <p:nvSpPr>
          <p:cNvPr id="21" name="Text 19"/>
          <p:cNvSpPr/>
          <p:nvPr/>
        </p:nvSpPr>
        <p:spPr>
          <a:xfrm>
            <a:off x="2761488" y="2039112"/>
            <a:ext cx="5907024" cy="347472"/>
          </a:xfrm>
          <a:prstGeom prst="rect">
            <a:avLst/>
          </a:prstGeom>
          <a:noFill/>
          <a:ln/>
        </p:spPr>
        <p:txBody>
          <a:bodyPr wrap="square" lIns="0" tIns="0" rIns="0" bIns="0" rtlCol="0" anchor="ctr"/>
          <a:lstStyle/>
          <a:p>
            <a:pPr marL="0" indent="0">
              <a:buNone/>
            </a:pPr>
            <a:r>
              <a:rPr lang="en-US" sz="950" dirty="0">
                <a:solidFill>
                  <a:srgbClr val="212121"/>
                </a:solidFill>
                <a:latin typeface="Calibri" pitchFamily="34" charset="0"/>
                <a:ea typeface="Calibri" pitchFamily="34" charset="-122"/>
                <a:cs typeface="Calibri" pitchFamily="34" charset="-120"/>
              </a:rPr>
              <a:t>Built: login/logout, admin account, role dashboards, student profile model, class assignment. Tested: authentication.</a:t>
            </a:r>
            <a:endParaRPr lang="en-US" sz="950" dirty="0"/>
          </a:p>
        </p:txBody>
      </p:sp>
      <p:sp>
        <p:nvSpPr>
          <p:cNvPr id="22" name="Shape 20"/>
          <p:cNvSpPr/>
          <p:nvPr/>
        </p:nvSpPr>
        <p:spPr>
          <a:xfrm>
            <a:off x="365760" y="2491740"/>
            <a:ext cx="914400" cy="420624"/>
          </a:xfrm>
          <a:prstGeom prst="rect">
            <a:avLst/>
          </a:prstGeom>
          <a:solidFill>
            <a:srgbClr val="2E7D32"/>
          </a:solidFill>
          <a:ln w="12700">
            <a:solidFill>
              <a:srgbClr val="2E7D32"/>
            </a:solidFill>
            <a:prstDash val="solid"/>
          </a:ln>
        </p:spPr>
      </p:sp>
      <p:sp>
        <p:nvSpPr>
          <p:cNvPr id="23" name="Text 21"/>
          <p:cNvSpPr/>
          <p:nvPr/>
        </p:nvSpPr>
        <p:spPr>
          <a:xfrm>
            <a:off x="365760" y="2491740"/>
            <a:ext cx="914400" cy="42062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Weeks 5–6</a:t>
            </a:r>
            <a:endParaRPr lang="en-US" sz="900" dirty="0"/>
          </a:p>
        </p:txBody>
      </p:sp>
      <p:sp>
        <p:nvSpPr>
          <p:cNvPr id="24" name="Shape 22"/>
          <p:cNvSpPr/>
          <p:nvPr/>
        </p:nvSpPr>
        <p:spPr>
          <a:xfrm>
            <a:off x="1371600" y="2491740"/>
            <a:ext cx="1188720" cy="420624"/>
          </a:xfrm>
          <a:prstGeom prst="rect">
            <a:avLst/>
          </a:prstGeom>
          <a:solidFill>
            <a:srgbClr val="E8F5E9"/>
          </a:solidFill>
          <a:ln w="6350">
            <a:solidFill>
              <a:srgbClr val="C8E6C9"/>
            </a:solidFill>
            <a:prstDash val="solid"/>
          </a:ln>
        </p:spPr>
      </p:sp>
      <p:sp>
        <p:nvSpPr>
          <p:cNvPr id="25" name="Text 23"/>
          <p:cNvSpPr/>
          <p:nvPr/>
        </p:nvSpPr>
        <p:spPr>
          <a:xfrm>
            <a:off x="1371600" y="2491740"/>
            <a:ext cx="1188720" cy="420624"/>
          </a:xfrm>
          <a:prstGeom prst="rect">
            <a:avLst/>
          </a:prstGeom>
          <a:noFill/>
          <a:ln/>
        </p:spPr>
        <p:txBody>
          <a:bodyPr wrap="square" rtlCol="0" anchor="ctr"/>
          <a:lstStyle/>
          <a:p>
            <a:pPr marL="0" indent="0" algn="ctr">
              <a:buNone/>
            </a:pPr>
            <a:r>
              <a:rPr lang="en-US" sz="950" b="1" dirty="0">
                <a:solidFill>
                  <a:srgbClr val="2E7D32"/>
                </a:solidFill>
                <a:latin typeface="Calibri" pitchFamily="34" charset="0"/>
                <a:ea typeface="Calibri" pitchFamily="34" charset="-122"/>
                <a:cs typeface="Calibri" pitchFamily="34" charset="-120"/>
              </a:rPr>
              <a:t>Sprint 2</a:t>
            </a:r>
            <a:endParaRPr lang="en-US" sz="950" dirty="0"/>
          </a:p>
        </p:txBody>
      </p:sp>
      <p:sp>
        <p:nvSpPr>
          <p:cNvPr id="26" name="Shape 24"/>
          <p:cNvSpPr/>
          <p:nvPr/>
        </p:nvSpPr>
        <p:spPr>
          <a:xfrm>
            <a:off x="2651760" y="2491740"/>
            <a:ext cx="6126480" cy="420624"/>
          </a:xfrm>
          <a:prstGeom prst="rect">
            <a:avLst/>
          </a:prstGeom>
          <a:solidFill>
            <a:srgbClr val="FFFFFF"/>
          </a:solidFill>
          <a:ln w="6350">
            <a:solidFill>
              <a:srgbClr val="E0E0E0"/>
            </a:solidFill>
            <a:prstDash val="solid"/>
          </a:ln>
        </p:spPr>
      </p:sp>
      <p:sp>
        <p:nvSpPr>
          <p:cNvPr id="27" name="Text 25"/>
          <p:cNvSpPr/>
          <p:nvPr/>
        </p:nvSpPr>
        <p:spPr>
          <a:xfrm>
            <a:off x="2761488" y="2528316"/>
            <a:ext cx="5907024" cy="347472"/>
          </a:xfrm>
          <a:prstGeom prst="rect">
            <a:avLst/>
          </a:prstGeom>
          <a:noFill/>
          <a:ln/>
        </p:spPr>
        <p:txBody>
          <a:bodyPr wrap="square" lIns="0" tIns="0" rIns="0" bIns="0" rtlCol="0" anchor="ctr"/>
          <a:lstStyle/>
          <a:p>
            <a:pPr marL="0" indent="0">
              <a:buNone/>
            </a:pPr>
            <a:r>
              <a:rPr lang="en-US" sz="950" dirty="0">
                <a:solidFill>
                  <a:srgbClr val="212121"/>
                </a:solidFill>
                <a:latin typeface="Calibri" pitchFamily="34" charset="0"/>
                <a:ea typeface="Calibri" pitchFamily="34" charset="-122"/>
                <a:cs typeface="Calibri" pitchFamily="34" charset="-120"/>
              </a:rPr>
              <a:t>Built: teacher file upload, class-linked resources, student access restricted to own class, URL manipulation blocked.</a:t>
            </a:r>
            <a:endParaRPr lang="en-US" sz="950" dirty="0"/>
          </a:p>
        </p:txBody>
      </p:sp>
      <p:sp>
        <p:nvSpPr>
          <p:cNvPr id="28" name="Shape 26"/>
          <p:cNvSpPr/>
          <p:nvPr/>
        </p:nvSpPr>
        <p:spPr>
          <a:xfrm>
            <a:off x="365760" y="2980944"/>
            <a:ext cx="914400" cy="420624"/>
          </a:xfrm>
          <a:prstGeom prst="rect">
            <a:avLst/>
          </a:prstGeom>
          <a:solidFill>
            <a:srgbClr val="1A3C1A"/>
          </a:solidFill>
          <a:ln w="12700">
            <a:solidFill>
              <a:srgbClr val="1A3C1A"/>
            </a:solidFill>
            <a:prstDash val="solid"/>
          </a:ln>
        </p:spPr>
      </p:sp>
      <p:sp>
        <p:nvSpPr>
          <p:cNvPr id="29" name="Text 27"/>
          <p:cNvSpPr/>
          <p:nvPr/>
        </p:nvSpPr>
        <p:spPr>
          <a:xfrm>
            <a:off x="365760" y="2980944"/>
            <a:ext cx="914400" cy="42062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Weeks 7–8</a:t>
            </a:r>
            <a:endParaRPr lang="en-US" sz="900" dirty="0"/>
          </a:p>
        </p:txBody>
      </p:sp>
      <p:sp>
        <p:nvSpPr>
          <p:cNvPr id="30" name="Shape 28"/>
          <p:cNvSpPr/>
          <p:nvPr/>
        </p:nvSpPr>
        <p:spPr>
          <a:xfrm>
            <a:off x="1371600" y="2980944"/>
            <a:ext cx="1188720" cy="420624"/>
          </a:xfrm>
          <a:prstGeom prst="rect">
            <a:avLst/>
          </a:prstGeom>
          <a:solidFill>
            <a:srgbClr val="E8F5E9"/>
          </a:solidFill>
          <a:ln w="6350">
            <a:solidFill>
              <a:srgbClr val="C8E6C9"/>
            </a:solidFill>
            <a:prstDash val="solid"/>
          </a:ln>
        </p:spPr>
      </p:sp>
      <p:sp>
        <p:nvSpPr>
          <p:cNvPr id="31" name="Text 29"/>
          <p:cNvSpPr/>
          <p:nvPr/>
        </p:nvSpPr>
        <p:spPr>
          <a:xfrm>
            <a:off x="1371600" y="2980944"/>
            <a:ext cx="1188720" cy="420624"/>
          </a:xfrm>
          <a:prstGeom prst="rect">
            <a:avLst/>
          </a:prstGeom>
          <a:noFill/>
          <a:ln/>
        </p:spPr>
        <p:txBody>
          <a:bodyPr wrap="square" rtlCol="0" anchor="ctr"/>
          <a:lstStyle/>
          <a:p>
            <a:pPr marL="0" indent="0" algn="ctr">
              <a:buNone/>
            </a:pPr>
            <a:r>
              <a:rPr lang="en-US" sz="950" b="1" dirty="0">
                <a:solidFill>
                  <a:srgbClr val="1A3C1A"/>
                </a:solidFill>
                <a:latin typeface="Calibri" pitchFamily="34" charset="0"/>
                <a:ea typeface="Calibri" pitchFamily="34" charset="-122"/>
                <a:cs typeface="Calibri" pitchFamily="34" charset="-120"/>
              </a:rPr>
              <a:t>Sprint 3</a:t>
            </a:r>
            <a:endParaRPr lang="en-US" sz="950" dirty="0"/>
          </a:p>
        </p:txBody>
      </p:sp>
      <p:sp>
        <p:nvSpPr>
          <p:cNvPr id="32" name="Shape 30"/>
          <p:cNvSpPr/>
          <p:nvPr/>
        </p:nvSpPr>
        <p:spPr>
          <a:xfrm>
            <a:off x="2651760" y="2980944"/>
            <a:ext cx="6126480" cy="420624"/>
          </a:xfrm>
          <a:prstGeom prst="rect">
            <a:avLst/>
          </a:prstGeom>
          <a:solidFill>
            <a:srgbClr val="F9F9F9"/>
          </a:solidFill>
          <a:ln w="6350">
            <a:solidFill>
              <a:srgbClr val="E0E0E0"/>
            </a:solidFill>
            <a:prstDash val="solid"/>
          </a:ln>
        </p:spPr>
      </p:sp>
      <p:sp>
        <p:nvSpPr>
          <p:cNvPr id="33" name="Text 31"/>
          <p:cNvSpPr/>
          <p:nvPr/>
        </p:nvSpPr>
        <p:spPr>
          <a:xfrm>
            <a:off x="2761488" y="3017520"/>
            <a:ext cx="5907024" cy="347472"/>
          </a:xfrm>
          <a:prstGeom prst="rect">
            <a:avLst/>
          </a:prstGeom>
          <a:noFill/>
          <a:ln/>
        </p:spPr>
        <p:txBody>
          <a:bodyPr wrap="square" lIns="0" tIns="0" rIns="0" bIns="0" rtlCol="0" anchor="ctr"/>
          <a:lstStyle/>
          <a:p>
            <a:pPr marL="0" indent="0">
              <a:buNone/>
            </a:pPr>
            <a:r>
              <a:rPr lang="en-US" sz="950" dirty="0">
                <a:solidFill>
                  <a:srgbClr val="212121"/>
                </a:solidFill>
                <a:latin typeface="Calibri" pitchFamily="34" charset="0"/>
                <a:ea typeface="Calibri" pitchFamily="34" charset="-122"/>
                <a:cs typeface="Calibri" pitchFamily="34" charset="-120"/>
              </a:rPr>
              <a:t>Built: teacher dashboard, attendance recording, grade entry, class restrictions, parent view of child data.</a:t>
            </a:r>
            <a:endParaRPr lang="en-US" sz="950" dirty="0"/>
          </a:p>
        </p:txBody>
      </p:sp>
      <p:sp>
        <p:nvSpPr>
          <p:cNvPr id="34" name="Shape 32"/>
          <p:cNvSpPr/>
          <p:nvPr/>
        </p:nvSpPr>
        <p:spPr>
          <a:xfrm>
            <a:off x="365760" y="3470148"/>
            <a:ext cx="914400" cy="420624"/>
          </a:xfrm>
          <a:prstGeom prst="rect">
            <a:avLst/>
          </a:prstGeom>
          <a:solidFill>
            <a:srgbClr val="2E7D32"/>
          </a:solidFill>
          <a:ln w="12700">
            <a:solidFill>
              <a:srgbClr val="2E7D32"/>
            </a:solidFill>
            <a:prstDash val="solid"/>
          </a:ln>
        </p:spPr>
      </p:sp>
      <p:sp>
        <p:nvSpPr>
          <p:cNvPr id="35" name="Text 33"/>
          <p:cNvSpPr/>
          <p:nvPr/>
        </p:nvSpPr>
        <p:spPr>
          <a:xfrm>
            <a:off x="365760" y="3470148"/>
            <a:ext cx="914400" cy="42062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Weeks 9–10</a:t>
            </a:r>
            <a:endParaRPr lang="en-US" sz="900" dirty="0"/>
          </a:p>
        </p:txBody>
      </p:sp>
      <p:sp>
        <p:nvSpPr>
          <p:cNvPr id="36" name="Shape 34"/>
          <p:cNvSpPr/>
          <p:nvPr/>
        </p:nvSpPr>
        <p:spPr>
          <a:xfrm>
            <a:off x="1371600" y="3470148"/>
            <a:ext cx="1188720" cy="420624"/>
          </a:xfrm>
          <a:prstGeom prst="rect">
            <a:avLst/>
          </a:prstGeom>
          <a:solidFill>
            <a:srgbClr val="E8F5E9"/>
          </a:solidFill>
          <a:ln w="6350">
            <a:solidFill>
              <a:srgbClr val="C8E6C9"/>
            </a:solidFill>
            <a:prstDash val="solid"/>
          </a:ln>
        </p:spPr>
      </p:sp>
      <p:sp>
        <p:nvSpPr>
          <p:cNvPr id="37" name="Text 35"/>
          <p:cNvSpPr/>
          <p:nvPr/>
        </p:nvSpPr>
        <p:spPr>
          <a:xfrm>
            <a:off x="1371600" y="3470148"/>
            <a:ext cx="1188720" cy="420624"/>
          </a:xfrm>
          <a:prstGeom prst="rect">
            <a:avLst/>
          </a:prstGeom>
          <a:noFill/>
          <a:ln/>
        </p:spPr>
        <p:txBody>
          <a:bodyPr wrap="square" rtlCol="0" anchor="ctr"/>
          <a:lstStyle/>
          <a:p>
            <a:pPr marL="0" indent="0" algn="ctr">
              <a:buNone/>
            </a:pPr>
            <a:r>
              <a:rPr lang="en-US" sz="950" b="1" dirty="0">
                <a:solidFill>
                  <a:srgbClr val="2E7D32"/>
                </a:solidFill>
                <a:latin typeface="Calibri" pitchFamily="34" charset="0"/>
                <a:ea typeface="Calibri" pitchFamily="34" charset="-122"/>
                <a:cs typeface="Calibri" pitchFamily="34" charset="-120"/>
              </a:rPr>
              <a:t>Sprint 4</a:t>
            </a:r>
            <a:endParaRPr lang="en-US" sz="950" dirty="0"/>
          </a:p>
        </p:txBody>
      </p:sp>
      <p:sp>
        <p:nvSpPr>
          <p:cNvPr id="38" name="Shape 36"/>
          <p:cNvSpPr/>
          <p:nvPr/>
        </p:nvSpPr>
        <p:spPr>
          <a:xfrm>
            <a:off x="2651760" y="3470148"/>
            <a:ext cx="6126480" cy="420624"/>
          </a:xfrm>
          <a:prstGeom prst="rect">
            <a:avLst/>
          </a:prstGeom>
          <a:solidFill>
            <a:srgbClr val="FFFFFF"/>
          </a:solidFill>
          <a:ln w="6350">
            <a:solidFill>
              <a:srgbClr val="E0E0E0"/>
            </a:solidFill>
            <a:prstDash val="solid"/>
          </a:ln>
        </p:spPr>
      </p:sp>
      <p:sp>
        <p:nvSpPr>
          <p:cNvPr id="39" name="Text 37"/>
          <p:cNvSpPr/>
          <p:nvPr/>
        </p:nvSpPr>
        <p:spPr>
          <a:xfrm>
            <a:off x="2761488" y="3506724"/>
            <a:ext cx="5907024" cy="347472"/>
          </a:xfrm>
          <a:prstGeom prst="rect">
            <a:avLst/>
          </a:prstGeom>
          <a:noFill/>
          <a:ln/>
        </p:spPr>
        <p:txBody>
          <a:bodyPr wrap="square" lIns="0" tIns="0" rIns="0" bIns="0" rtlCol="0" anchor="ctr"/>
          <a:lstStyle/>
          <a:p>
            <a:pPr marL="0" indent="0">
              <a:buNone/>
            </a:pPr>
            <a:r>
              <a:rPr lang="en-US" sz="950" dirty="0">
                <a:solidFill>
                  <a:srgbClr val="212121"/>
                </a:solidFill>
                <a:latin typeface="Calibri" pitchFamily="34" charset="0"/>
                <a:ea typeface="Calibri" pitchFamily="34" charset="-122"/>
                <a:cs typeface="Calibri" pitchFamily="34" charset="-120"/>
              </a:rPr>
              <a:t>Built: admin control panel, user creation, class assignment tools, full module integration. Integration tested.</a:t>
            </a:r>
            <a:endParaRPr lang="en-US" sz="950" dirty="0"/>
          </a:p>
        </p:txBody>
      </p:sp>
      <p:sp>
        <p:nvSpPr>
          <p:cNvPr id="40" name="Shape 38"/>
          <p:cNvSpPr/>
          <p:nvPr/>
        </p:nvSpPr>
        <p:spPr>
          <a:xfrm>
            <a:off x="365760" y="3959352"/>
            <a:ext cx="914400" cy="420624"/>
          </a:xfrm>
          <a:prstGeom prst="rect">
            <a:avLst/>
          </a:prstGeom>
          <a:solidFill>
            <a:srgbClr val="1A3C1A"/>
          </a:solidFill>
          <a:ln w="12700">
            <a:solidFill>
              <a:srgbClr val="1A3C1A"/>
            </a:solidFill>
            <a:prstDash val="solid"/>
          </a:ln>
        </p:spPr>
      </p:sp>
      <p:sp>
        <p:nvSpPr>
          <p:cNvPr id="41" name="Text 39"/>
          <p:cNvSpPr/>
          <p:nvPr/>
        </p:nvSpPr>
        <p:spPr>
          <a:xfrm>
            <a:off x="365760" y="3959352"/>
            <a:ext cx="914400" cy="42062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Weeks 11–12</a:t>
            </a:r>
            <a:endParaRPr lang="en-US" sz="900" dirty="0"/>
          </a:p>
        </p:txBody>
      </p:sp>
      <p:sp>
        <p:nvSpPr>
          <p:cNvPr id="42" name="Shape 40"/>
          <p:cNvSpPr/>
          <p:nvPr/>
        </p:nvSpPr>
        <p:spPr>
          <a:xfrm>
            <a:off x="1371600" y="3959352"/>
            <a:ext cx="1188720" cy="420624"/>
          </a:xfrm>
          <a:prstGeom prst="rect">
            <a:avLst/>
          </a:prstGeom>
          <a:solidFill>
            <a:srgbClr val="E8F5E9"/>
          </a:solidFill>
          <a:ln w="6350">
            <a:solidFill>
              <a:srgbClr val="C8E6C9"/>
            </a:solidFill>
            <a:prstDash val="solid"/>
          </a:ln>
        </p:spPr>
      </p:sp>
      <p:sp>
        <p:nvSpPr>
          <p:cNvPr id="43" name="Text 41"/>
          <p:cNvSpPr/>
          <p:nvPr/>
        </p:nvSpPr>
        <p:spPr>
          <a:xfrm>
            <a:off x="1371600" y="3959352"/>
            <a:ext cx="1188720" cy="420624"/>
          </a:xfrm>
          <a:prstGeom prst="rect">
            <a:avLst/>
          </a:prstGeom>
          <a:noFill/>
          <a:ln/>
        </p:spPr>
        <p:txBody>
          <a:bodyPr wrap="square" rtlCol="0" anchor="ctr"/>
          <a:lstStyle/>
          <a:p>
            <a:pPr marL="0" indent="0" algn="ctr">
              <a:buNone/>
            </a:pPr>
            <a:r>
              <a:rPr lang="en-US" sz="950" b="1" dirty="0">
                <a:solidFill>
                  <a:srgbClr val="1A3C1A"/>
                </a:solidFill>
                <a:latin typeface="Calibri" pitchFamily="34" charset="0"/>
                <a:ea typeface="Calibri" pitchFamily="34" charset="-122"/>
                <a:cs typeface="Calibri" pitchFamily="34" charset="-120"/>
              </a:rPr>
              <a:t>Testing</a:t>
            </a:r>
            <a:endParaRPr lang="en-US" sz="950" dirty="0"/>
          </a:p>
        </p:txBody>
      </p:sp>
      <p:sp>
        <p:nvSpPr>
          <p:cNvPr id="44" name="Shape 42"/>
          <p:cNvSpPr/>
          <p:nvPr/>
        </p:nvSpPr>
        <p:spPr>
          <a:xfrm>
            <a:off x="2651760" y="3959352"/>
            <a:ext cx="6126480" cy="420624"/>
          </a:xfrm>
          <a:prstGeom prst="rect">
            <a:avLst/>
          </a:prstGeom>
          <a:solidFill>
            <a:srgbClr val="F9F9F9"/>
          </a:solidFill>
          <a:ln w="6350">
            <a:solidFill>
              <a:srgbClr val="E0E0E0"/>
            </a:solidFill>
            <a:prstDash val="solid"/>
          </a:ln>
        </p:spPr>
      </p:sp>
      <p:sp>
        <p:nvSpPr>
          <p:cNvPr id="45" name="Text 43"/>
          <p:cNvSpPr/>
          <p:nvPr/>
        </p:nvSpPr>
        <p:spPr>
          <a:xfrm>
            <a:off x="2761488" y="3995928"/>
            <a:ext cx="5907024" cy="347472"/>
          </a:xfrm>
          <a:prstGeom prst="rect">
            <a:avLst/>
          </a:prstGeom>
          <a:noFill/>
          <a:ln/>
        </p:spPr>
        <p:txBody>
          <a:bodyPr wrap="square" lIns="0" tIns="0" rIns="0" bIns="0" rtlCol="0" anchor="ctr"/>
          <a:lstStyle/>
          <a:p>
            <a:pPr marL="0" indent="0">
              <a:buNone/>
            </a:pPr>
            <a:r>
              <a:rPr lang="en-US" sz="950" dirty="0">
                <a:solidFill>
                  <a:srgbClr val="212121"/>
                </a:solidFill>
                <a:latin typeface="Calibri" pitchFamily="34" charset="0"/>
                <a:ea typeface="Calibri" pitchFamily="34" charset="-122"/>
                <a:cs typeface="Calibri" pitchFamily="34" charset="-120"/>
              </a:rPr>
              <a:t>Functional testing, integration testing, security testing, user acceptance testing with peers. Bugs fixed.</a:t>
            </a:r>
            <a:endParaRPr lang="en-US" sz="950" dirty="0"/>
          </a:p>
        </p:txBody>
      </p:sp>
      <p:sp>
        <p:nvSpPr>
          <p:cNvPr id="46" name="Shape 44"/>
          <p:cNvSpPr/>
          <p:nvPr/>
        </p:nvSpPr>
        <p:spPr>
          <a:xfrm>
            <a:off x="365760" y="4448556"/>
            <a:ext cx="914400" cy="420624"/>
          </a:xfrm>
          <a:prstGeom prst="rect">
            <a:avLst/>
          </a:prstGeom>
          <a:solidFill>
            <a:srgbClr val="2E7D32"/>
          </a:solidFill>
          <a:ln w="12700">
            <a:solidFill>
              <a:srgbClr val="2E7D32"/>
            </a:solidFill>
            <a:prstDash val="solid"/>
          </a:ln>
        </p:spPr>
      </p:sp>
      <p:sp>
        <p:nvSpPr>
          <p:cNvPr id="47" name="Text 45"/>
          <p:cNvSpPr/>
          <p:nvPr/>
        </p:nvSpPr>
        <p:spPr>
          <a:xfrm>
            <a:off x="365760" y="4448556"/>
            <a:ext cx="914400" cy="42062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Week 13</a:t>
            </a:r>
            <a:endParaRPr lang="en-US" sz="900" dirty="0"/>
          </a:p>
        </p:txBody>
      </p:sp>
      <p:sp>
        <p:nvSpPr>
          <p:cNvPr id="48" name="Shape 46"/>
          <p:cNvSpPr/>
          <p:nvPr/>
        </p:nvSpPr>
        <p:spPr>
          <a:xfrm>
            <a:off x="1371600" y="4448556"/>
            <a:ext cx="1188720" cy="420624"/>
          </a:xfrm>
          <a:prstGeom prst="rect">
            <a:avLst/>
          </a:prstGeom>
          <a:solidFill>
            <a:srgbClr val="E8F5E9"/>
          </a:solidFill>
          <a:ln w="6350">
            <a:solidFill>
              <a:srgbClr val="C8E6C9"/>
            </a:solidFill>
            <a:prstDash val="solid"/>
          </a:ln>
        </p:spPr>
      </p:sp>
      <p:sp>
        <p:nvSpPr>
          <p:cNvPr id="49" name="Text 47"/>
          <p:cNvSpPr/>
          <p:nvPr/>
        </p:nvSpPr>
        <p:spPr>
          <a:xfrm>
            <a:off x="1371600" y="4448556"/>
            <a:ext cx="1188720" cy="420624"/>
          </a:xfrm>
          <a:prstGeom prst="rect">
            <a:avLst/>
          </a:prstGeom>
          <a:noFill/>
          <a:ln/>
        </p:spPr>
        <p:txBody>
          <a:bodyPr wrap="square" rtlCol="0" anchor="ctr"/>
          <a:lstStyle/>
          <a:p>
            <a:pPr marL="0" indent="0" algn="ctr">
              <a:buNone/>
            </a:pPr>
            <a:r>
              <a:rPr lang="en-US" sz="950" b="1" dirty="0">
                <a:solidFill>
                  <a:srgbClr val="2E7D32"/>
                </a:solidFill>
                <a:latin typeface="Calibri" pitchFamily="34" charset="0"/>
                <a:ea typeface="Calibri" pitchFamily="34" charset="-122"/>
                <a:cs typeface="Calibri" pitchFamily="34" charset="-120"/>
              </a:rPr>
              <a:t>Deployment &amp; Docs</a:t>
            </a:r>
            <a:endParaRPr lang="en-US" sz="950" dirty="0"/>
          </a:p>
        </p:txBody>
      </p:sp>
      <p:sp>
        <p:nvSpPr>
          <p:cNvPr id="50" name="Shape 48"/>
          <p:cNvSpPr/>
          <p:nvPr/>
        </p:nvSpPr>
        <p:spPr>
          <a:xfrm>
            <a:off x="2651760" y="4448556"/>
            <a:ext cx="6126480" cy="420624"/>
          </a:xfrm>
          <a:prstGeom prst="rect">
            <a:avLst/>
          </a:prstGeom>
          <a:solidFill>
            <a:srgbClr val="FFFFFF"/>
          </a:solidFill>
          <a:ln w="6350">
            <a:solidFill>
              <a:srgbClr val="E0E0E0"/>
            </a:solidFill>
            <a:prstDash val="solid"/>
          </a:ln>
        </p:spPr>
      </p:sp>
      <p:sp>
        <p:nvSpPr>
          <p:cNvPr id="51" name="Text 49"/>
          <p:cNvSpPr/>
          <p:nvPr/>
        </p:nvSpPr>
        <p:spPr>
          <a:xfrm>
            <a:off x="2761488" y="4485132"/>
            <a:ext cx="5907024" cy="347472"/>
          </a:xfrm>
          <a:prstGeom prst="rect">
            <a:avLst/>
          </a:prstGeom>
          <a:noFill/>
          <a:ln/>
        </p:spPr>
        <p:txBody>
          <a:bodyPr wrap="square" lIns="0" tIns="0" rIns="0" bIns="0" rtlCol="0" anchor="ctr"/>
          <a:lstStyle/>
          <a:p>
            <a:pPr marL="0" indent="0">
              <a:buNone/>
            </a:pPr>
            <a:r>
              <a:rPr lang="en-US" sz="950" dirty="0">
                <a:solidFill>
                  <a:srgbClr val="212121"/>
                </a:solidFill>
                <a:latin typeface="Calibri" pitchFamily="34" charset="0"/>
                <a:ea typeface="Calibri" pitchFamily="34" charset="-122"/>
                <a:cs typeface="Calibri" pitchFamily="34" charset="-120"/>
              </a:rPr>
              <a:t>Final version deployed. README, user guide, and all documentation completed. GitHub repository organised.</a:t>
            </a:r>
            <a:endParaRPr lang="en-US" sz="950" dirty="0"/>
          </a:p>
        </p:txBody>
      </p:sp>
      <p:sp>
        <p:nvSpPr>
          <p:cNvPr id="52" name="Text 50"/>
          <p:cNvSpPr/>
          <p:nvPr/>
        </p:nvSpPr>
        <p:spPr>
          <a:xfrm>
            <a:off x="365760" y="4892040"/>
            <a:ext cx="8412480" cy="201168"/>
          </a:xfrm>
          <a:prstGeom prst="rect">
            <a:avLst/>
          </a:prstGeom>
          <a:noFill/>
          <a:ln/>
        </p:spPr>
        <p:txBody>
          <a:bodyPr wrap="square" lIns="0" tIns="0" rIns="0" bIns="0" rtlCol="0" anchor="ctr"/>
          <a:lstStyle/>
          <a:p>
            <a:pPr marL="0" indent="0" algn="r">
              <a:buNone/>
            </a:pPr>
            <a:r>
              <a:rPr lang="en-US" sz="900" i="1" dirty="0">
                <a:solidFill>
                  <a:srgbClr val="AAAAAA"/>
                </a:solidFill>
                <a:latin typeface="Calibri" pitchFamily="34" charset="0"/>
                <a:ea typeface="Calibri" pitchFamily="34" charset="-122"/>
                <a:cs typeface="Calibri" pitchFamily="34" charset="-120"/>
              </a:rPr>
              <a:t>Avishek Pandey  |  IT Project Management  |  IT Student Management System</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C1A"/>
          </a:solidFill>
          <a:ln w="12700">
            <a:solidFill>
              <a:srgbClr val="1A3C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Section 6  |  Solution Implementation – Budget</a:t>
            </a:r>
            <a:endParaRPr lang="en-US" sz="2400" dirty="0"/>
          </a:p>
        </p:txBody>
      </p:sp>
      <p:sp>
        <p:nvSpPr>
          <p:cNvPr id="4" name="Shape 2"/>
          <p:cNvSpPr/>
          <p:nvPr/>
        </p:nvSpPr>
        <p:spPr>
          <a:xfrm>
            <a:off x="365760" y="914400"/>
            <a:ext cx="4206240" cy="329184"/>
          </a:xfrm>
          <a:prstGeom prst="rect">
            <a:avLst/>
          </a:prstGeom>
          <a:solidFill>
            <a:srgbClr val="1A3C1A"/>
          </a:solidFill>
          <a:ln w="12700">
            <a:solidFill>
              <a:srgbClr val="1A3C1A"/>
            </a:solidFill>
            <a:prstDash val="solid"/>
          </a:ln>
        </p:spPr>
      </p:sp>
      <p:sp>
        <p:nvSpPr>
          <p:cNvPr id="5" name="Text 3"/>
          <p:cNvSpPr/>
          <p:nvPr/>
        </p:nvSpPr>
        <p:spPr>
          <a:xfrm>
            <a:off x="365760" y="914400"/>
            <a:ext cx="4206240"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Expense</a:t>
            </a:r>
            <a:endParaRPr lang="en-US" sz="1200" dirty="0"/>
          </a:p>
        </p:txBody>
      </p:sp>
      <p:sp>
        <p:nvSpPr>
          <p:cNvPr id="6" name="Shape 4"/>
          <p:cNvSpPr/>
          <p:nvPr/>
        </p:nvSpPr>
        <p:spPr>
          <a:xfrm>
            <a:off x="4663440" y="914400"/>
            <a:ext cx="2011680" cy="329184"/>
          </a:xfrm>
          <a:prstGeom prst="rect">
            <a:avLst/>
          </a:prstGeom>
          <a:solidFill>
            <a:srgbClr val="1A3C1A"/>
          </a:solidFill>
          <a:ln w="12700">
            <a:solidFill>
              <a:srgbClr val="1A3C1A"/>
            </a:solidFill>
            <a:prstDash val="solid"/>
          </a:ln>
        </p:spPr>
      </p:sp>
      <p:sp>
        <p:nvSpPr>
          <p:cNvPr id="7" name="Text 5"/>
          <p:cNvSpPr/>
          <p:nvPr/>
        </p:nvSpPr>
        <p:spPr>
          <a:xfrm>
            <a:off x="4663440" y="914400"/>
            <a:ext cx="2011680"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Category</a:t>
            </a:r>
            <a:endParaRPr lang="en-US" sz="1200" dirty="0"/>
          </a:p>
        </p:txBody>
      </p:sp>
      <p:sp>
        <p:nvSpPr>
          <p:cNvPr id="8" name="Shape 6"/>
          <p:cNvSpPr/>
          <p:nvPr/>
        </p:nvSpPr>
        <p:spPr>
          <a:xfrm>
            <a:off x="6766560" y="914400"/>
            <a:ext cx="1645920" cy="329184"/>
          </a:xfrm>
          <a:prstGeom prst="rect">
            <a:avLst/>
          </a:prstGeom>
          <a:solidFill>
            <a:srgbClr val="1A3C1A"/>
          </a:solidFill>
          <a:ln w="12700">
            <a:solidFill>
              <a:srgbClr val="1A3C1A"/>
            </a:solidFill>
            <a:prstDash val="solid"/>
          </a:ln>
        </p:spPr>
      </p:sp>
      <p:sp>
        <p:nvSpPr>
          <p:cNvPr id="9" name="Text 7"/>
          <p:cNvSpPr/>
          <p:nvPr/>
        </p:nvSpPr>
        <p:spPr>
          <a:xfrm>
            <a:off x="6766560" y="914400"/>
            <a:ext cx="1645920"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Cost (AUD)</a:t>
            </a:r>
            <a:endParaRPr lang="en-US" sz="1200" dirty="0"/>
          </a:p>
        </p:txBody>
      </p:sp>
      <p:sp>
        <p:nvSpPr>
          <p:cNvPr id="10" name="Shape 8"/>
          <p:cNvSpPr/>
          <p:nvPr/>
        </p:nvSpPr>
        <p:spPr>
          <a:xfrm>
            <a:off x="365760" y="1280160"/>
            <a:ext cx="4206240" cy="310896"/>
          </a:xfrm>
          <a:prstGeom prst="rect">
            <a:avLst/>
          </a:prstGeom>
          <a:solidFill>
            <a:srgbClr val="E8F5E9"/>
          </a:solidFill>
          <a:ln w="6350">
            <a:solidFill>
              <a:srgbClr val="DDDDDD"/>
            </a:solidFill>
            <a:prstDash val="solid"/>
          </a:ln>
        </p:spPr>
      </p:sp>
      <p:sp>
        <p:nvSpPr>
          <p:cNvPr id="11" name="Text 9"/>
          <p:cNvSpPr/>
          <p:nvPr/>
        </p:nvSpPr>
        <p:spPr>
          <a:xfrm>
            <a:off x="457200" y="1280160"/>
            <a:ext cx="4096512" cy="310896"/>
          </a:xfrm>
          <a:prstGeom prst="rect">
            <a:avLst/>
          </a:prstGeom>
          <a:noFill/>
          <a:ln/>
        </p:spPr>
        <p:txBody>
          <a:bodyPr wrap="square" lIns="0" tIns="0" rIns="0" bIns="0" rtlCol="0" anchor="ctr"/>
          <a:lstStyle/>
          <a:p>
            <a:pPr marL="0" indent="0" algn="l">
              <a:buNone/>
            </a:pPr>
            <a:r>
              <a:rPr lang="en-US" sz="1100" dirty="0">
                <a:solidFill>
                  <a:srgbClr val="212121"/>
                </a:solidFill>
                <a:latin typeface="Calibri" pitchFamily="34" charset="0"/>
                <a:ea typeface="Calibri" pitchFamily="34" charset="-122"/>
                <a:cs typeface="Calibri" pitchFamily="34" charset="-120"/>
              </a:rPr>
              <a:t>Development Laptop (hardware cost)</a:t>
            </a:r>
            <a:endParaRPr lang="en-US" sz="1100" dirty="0"/>
          </a:p>
        </p:txBody>
      </p:sp>
      <p:sp>
        <p:nvSpPr>
          <p:cNvPr id="12" name="Shape 10"/>
          <p:cNvSpPr/>
          <p:nvPr/>
        </p:nvSpPr>
        <p:spPr>
          <a:xfrm>
            <a:off x="4663440" y="1280160"/>
            <a:ext cx="2011680" cy="310896"/>
          </a:xfrm>
          <a:prstGeom prst="rect">
            <a:avLst/>
          </a:prstGeom>
          <a:solidFill>
            <a:srgbClr val="E8F5E9"/>
          </a:solidFill>
          <a:ln w="6350">
            <a:solidFill>
              <a:srgbClr val="DDDDDD"/>
            </a:solidFill>
            <a:prstDash val="solid"/>
          </a:ln>
        </p:spPr>
      </p:sp>
      <p:sp>
        <p:nvSpPr>
          <p:cNvPr id="13" name="Text 11"/>
          <p:cNvSpPr/>
          <p:nvPr/>
        </p:nvSpPr>
        <p:spPr>
          <a:xfrm>
            <a:off x="4754880" y="1280160"/>
            <a:ext cx="1901952" cy="310896"/>
          </a:xfrm>
          <a:prstGeom prst="rect">
            <a:avLst/>
          </a:prstGeom>
          <a:noFill/>
          <a:ln/>
        </p:spPr>
        <p:txBody>
          <a:bodyPr wrap="square" lIns="0" tIns="0" rIns="0" bIns="0" rtlCol="0" anchor="ctr"/>
          <a:lstStyle/>
          <a:p>
            <a:pPr marL="0" indent="0" algn="l">
              <a:buNone/>
            </a:pPr>
            <a:r>
              <a:rPr lang="en-US" sz="1100" dirty="0">
                <a:solidFill>
                  <a:srgbClr val="212121"/>
                </a:solidFill>
                <a:latin typeface="Calibri" pitchFamily="34" charset="0"/>
                <a:ea typeface="Calibri" pitchFamily="34" charset="-122"/>
                <a:cs typeface="Calibri" pitchFamily="34" charset="-120"/>
              </a:rPr>
              <a:t>Technical</a:t>
            </a:r>
            <a:endParaRPr lang="en-US" sz="1100" dirty="0"/>
          </a:p>
        </p:txBody>
      </p:sp>
      <p:sp>
        <p:nvSpPr>
          <p:cNvPr id="14" name="Shape 12"/>
          <p:cNvSpPr/>
          <p:nvPr/>
        </p:nvSpPr>
        <p:spPr>
          <a:xfrm>
            <a:off x="6766560" y="1280160"/>
            <a:ext cx="1645920" cy="310896"/>
          </a:xfrm>
          <a:prstGeom prst="rect">
            <a:avLst/>
          </a:prstGeom>
          <a:solidFill>
            <a:srgbClr val="E8F5E9"/>
          </a:solidFill>
          <a:ln w="6350">
            <a:solidFill>
              <a:srgbClr val="DDDDDD"/>
            </a:solidFill>
            <a:prstDash val="solid"/>
          </a:ln>
        </p:spPr>
      </p:sp>
      <p:sp>
        <p:nvSpPr>
          <p:cNvPr id="15" name="Text 13"/>
          <p:cNvSpPr/>
          <p:nvPr/>
        </p:nvSpPr>
        <p:spPr>
          <a:xfrm>
            <a:off x="6858000" y="1280160"/>
            <a:ext cx="1536192" cy="310896"/>
          </a:xfrm>
          <a:prstGeom prst="rect">
            <a:avLst/>
          </a:prstGeom>
          <a:noFill/>
          <a:ln/>
        </p:spPr>
        <p:txBody>
          <a:bodyPr wrap="square" lIns="0" tIns="0" rIns="0" bIns="0" rtlCol="0" anchor="ctr"/>
          <a:lstStyle/>
          <a:p>
            <a:pPr marL="0" indent="0" algn="ctr">
              <a:buNone/>
            </a:pPr>
            <a:r>
              <a:rPr lang="en-US" sz="1100" dirty="0">
                <a:solidFill>
                  <a:srgbClr val="212121"/>
                </a:solidFill>
                <a:latin typeface="Calibri" pitchFamily="34" charset="0"/>
                <a:ea typeface="Calibri" pitchFamily="34" charset="-122"/>
                <a:cs typeface="Calibri" pitchFamily="34" charset="-120"/>
              </a:rPr>
              <a:t>$1,200</a:t>
            </a:r>
            <a:endParaRPr lang="en-US" sz="1100" dirty="0"/>
          </a:p>
        </p:txBody>
      </p:sp>
      <p:sp>
        <p:nvSpPr>
          <p:cNvPr id="16" name="Shape 14"/>
          <p:cNvSpPr/>
          <p:nvPr/>
        </p:nvSpPr>
        <p:spPr>
          <a:xfrm>
            <a:off x="365760" y="1618488"/>
            <a:ext cx="4206240" cy="310896"/>
          </a:xfrm>
          <a:prstGeom prst="rect">
            <a:avLst/>
          </a:prstGeom>
          <a:solidFill>
            <a:srgbClr val="FFFFFF"/>
          </a:solidFill>
          <a:ln w="6350">
            <a:solidFill>
              <a:srgbClr val="DDDDDD"/>
            </a:solidFill>
            <a:prstDash val="solid"/>
          </a:ln>
        </p:spPr>
      </p:sp>
      <p:sp>
        <p:nvSpPr>
          <p:cNvPr id="17" name="Text 15"/>
          <p:cNvSpPr/>
          <p:nvPr/>
        </p:nvSpPr>
        <p:spPr>
          <a:xfrm>
            <a:off x="457200" y="1618488"/>
            <a:ext cx="4096512" cy="310896"/>
          </a:xfrm>
          <a:prstGeom prst="rect">
            <a:avLst/>
          </a:prstGeom>
          <a:noFill/>
          <a:ln/>
        </p:spPr>
        <p:txBody>
          <a:bodyPr wrap="square" lIns="0" tIns="0" rIns="0" bIns="0" rtlCol="0" anchor="ctr"/>
          <a:lstStyle/>
          <a:p>
            <a:pPr marL="0" indent="0" algn="l">
              <a:buNone/>
            </a:pPr>
            <a:r>
              <a:rPr lang="en-US" sz="1100" dirty="0">
                <a:solidFill>
                  <a:srgbClr val="212121"/>
                </a:solidFill>
                <a:latin typeface="Calibri" pitchFamily="34" charset="0"/>
                <a:ea typeface="Calibri" pitchFamily="34" charset="-122"/>
                <a:cs typeface="Calibri" pitchFamily="34" charset="-120"/>
              </a:rPr>
              <a:t>Internet and electricity</a:t>
            </a:r>
            <a:endParaRPr lang="en-US" sz="1100" dirty="0"/>
          </a:p>
        </p:txBody>
      </p:sp>
      <p:sp>
        <p:nvSpPr>
          <p:cNvPr id="18" name="Shape 16"/>
          <p:cNvSpPr/>
          <p:nvPr/>
        </p:nvSpPr>
        <p:spPr>
          <a:xfrm>
            <a:off x="4663440" y="1618488"/>
            <a:ext cx="2011680" cy="310896"/>
          </a:xfrm>
          <a:prstGeom prst="rect">
            <a:avLst/>
          </a:prstGeom>
          <a:solidFill>
            <a:srgbClr val="FFFFFF"/>
          </a:solidFill>
          <a:ln w="6350">
            <a:solidFill>
              <a:srgbClr val="DDDDDD"/>
            </a:solidFill>
            <a:prstDash val="solid"/>
          </a:ln>
        </p:spPr>
      </p:sp>
      <p:sp>
        <p:nvSpPr>
          <p:cNvPr id="19" name="Text 17"/>
          <p:cNvSpPr/>
          <p:nvPr/>
        </p:nvSpPr>
        <p:spPr>
          <a:xfrm>
            <a:off x="4754880" y="1618488"/>
            <a:ext cx="1901952" cy="310896"/>
          </a:xfrm>
          <a:prstGeom prst="rect">
            <a:avLst/>
          </a:prstGeom>
          <a:noFill/>
          <a:ln/>
        </p:spPr>
        <p:txBody>
          <a:bodyPr wrap="square" lIns="0" tIns="0" rIns="0" bIns="0" rtlCol="0" anchor="ctr"/>
          <a:lstStyle/>
          <a:p>
            <a:pPr marL="0" indent="0" algn="l">
              <a:buNone/>
            </a:pPr>
            <a:r>
              <a:rPr lang="en-US" sz="1100" dirty="0">
                <a:solidFill>
                  <a:srgbClr val="212121"/>
                </a:solidFill>
                <a:latin typeface="Calibri" pitchFamily="34" charset="0"/>
                <a:ea typeface="Calibri" pitchFamily="34" charset="-122"/>
                <a:cs typeface="Calibri" pitchFamily="34" charset="-120"/>
              </a:rPr>
              <a:t>Operational</a:t>
            </a:r>
            <a:endParaRPr lang="en-US" sz="1100" dirty="0"/>
          </a:p>
        </p:txBody>
      </p:sp>
      <p:sp>
        <p:nvSpPr>
          <p:cNvPr id="20" name="Shape 18"/>
          <p:cNvSpPr/>
          <p:nvPr/>
        </p:nvSpPr>
        <p:spPr>
          <a:xfrm>
            <a:off x="6766560" y="1618488"/>
            <a:ext cx="1645920" cy="310896"/>
          </a:xfrm>
          <a:prstGeom prst="rect">
            <a:avLst/>
          </a:prstGeom>
          <a:solidFill>
            <a:srgbClr val="FFFFFF"/>
          </a:solidFill>
          <a:ln w="6350">
            <a:solidFill>
              <a:srgbClr val="DDDDDD"/>
            </a:solidFill>
            <a:prstDash val="solid"/>
          </a:ln>
        </p:spPr>
      </p:sp>
      <p:sp>
        <p:nvSpPr>
          <p:cNvPr id="21" name="Text 19"/>
          <p:cNvSpPr/>
          <p:nvPr/>
        </p:nvSpPr>
        <p:spPr>
          <a:xfrm>
            <a:off x="6858000" y="1618488"/>
            <a:ext cx="1536192" cy="310896"/>
          </a:xfrm>
          <a:prstGeom prst="rect">
            <a:avLst/>
          </a:prstGeom>
          <a:noFill/>
          <a:ln/>
        </p:spPr>
        <p:txBody>
          <a:bodyPr wrap="square" lIns="0" tIns="0" rIns="0" bIns="0" rtlCol="0" anchor="ctr"/>
          <a:lstStyle/>
          <a:p>
            <a:pPr marL="0" indent="0" algn="ctr">
              <a:buNone/>
            </a:pPr>
            <a:r>
              <a:rPr lang="en-US" sz="1100" dirty="0">
                <a:solidFill>
                  <a:srgbClr val="212121"/>
                </a:solidFill>
                <a:latin typeface="Calibri" pitchFamily="34" charset="0"/>
                <a:ea typeface="Calibri" pitchFamily="34" charset="-122"/>
                <a:cs typeface="Calibri" pitchFamily="34" charset="-120"/>
              </a:rPr>
              <a:t>$100</a:t>
            </a:r>
            <a:endParaRPr lang="en-US" sz="1100" dirty="0"/>
          </a:p>
        </p:txBody>
      </p:sp>
      <p:sp>
        <p:nvSpPr>
          <p:cNvPr id="22" name="Shape 20"/>
          <p:cNvSpPr/>
          <p:nvPr/>
        </p:nvSpPr>
        <p:spPr>
          <a:xfrm>
            <a:off x="365760" y="1956816"/>
            <a:ext cx="4206240" cy="310896"/>
          </a:xfrm>
          <a:prstGeom prst="rect">
            <a:avLst/>
          </a:prstGeom>
          <a:solidFill>
            <a:srgbClr val="E8F5E9"/>
          </a:solidFill>
          <a:ln w="6350">
            <a:solidFill>
              <a:srgbClr val="DDDDDD"/>
            </a:solidFill>
            <a:prstDash val="solid"/>
          </a:ln>
        </p:spPr>
      </p:sp>
      <p:sp>
        <p:nvSpPr>
          <p:cNvPr id="23" name="Text 21"/>
          <p:cNvSpPr/>
          <p:nvPr/>
        </p:nvSpPr>
        <p:spPr>
          <a:xfrm>
            <a:off x="457200" y="1956816"/>
            <a:ext cx="4096512" cy="310896"/>
          </a:xfrm>
          <a:prstGeom prst="rect">
            <a:avLst/>
          </a:prstGeom>
          <a:noFill/>
          <a:ln/>
        </p:spPr>
        <p:txBody>
          <a:bodyPr wrap="square" lIns="0" tIns="0" rIns="0" bIns="0" rtlCol="0" anchor="ctr"/>
          <a:lstStyle/>
          <a:p>
            <a:pPr marL="0" indent="0" algn="l">
              <a:buNone/>
            </a:pPr>
            <a:r>
              <a:rPr lang="en-US" sz="1100" dirty="0">
                <a:solidFill>
                  <a:srgbClr val="212121"/>
                </a:solidFill>
                <a:latin typeface="Calibri" pitchFamily="34" charset="0"/>
                <a:ea typeface="Calibri" pitchFamily="34" charset="-122"/>
                <a:cs typeface="Calibri" pitchFamily="34" charset="-120"/>
              </a:rPr>
              <a:t>Django framework</a:t>
            </a:r>
            <a:endParaRPr lang="en-US" sz="1100" dirty="0"/>
          </a:p>
        </p:txBody>
      </p:sp>
      <p:sp>
        <p:nvSpPr>
          <p:cNvPr id="24" name="Shape 22"/>
          <p:cNvSpPr/>
          <p:nvPr/>
        </p:nvSpPr>
        <p:spPr>
          <a:xfrm>
            <a:off x="4663440" y="1956816"/>
            <a:ext cx="2011680" cy="310896"/>
          </a:xfrm>
          <a:prstGeom prst="rect">
            <a:avLst/>
          </a:prstGeom>
          <a:solidFill>
            <a:srgbClr val="E8F5E9"/>
          </a:solidFill>
          <a:ln w="6350">
            <a:solidFill>
              <a:srgbClr val="DDDDDD"/>
            </a:solidFill>
            <a:prstDash val="solid"/>
          </a:ln>
        </p:spPr>
      </p:sp>
      <p:sp>
        <p:nvSpPr>
          <p:cNvPr id="25" name="Text 23"/>
          <p:cNvSpPr/>
          <p:nvPr/>
        </p:nvSpPr>
        <p:spPr>
          <a:xfrm>
            <a:off x="4754880" y="1956816"/>
            <a:ext cx="1901952" cy="310896"/>
          </a:xfrm>
          <a:prstGeom prst="rect">
            <a:avLst/>
          </a:prstGeom>
          <a:noFill/>
          <a:ln/>
        </p:spPr>
        <p:txBody>
          <a:bodyPr wrap="square" lIns="0" tIns="0" rIns="0" bIns="0" rtlCol="0" anchor="ctr"/>
          <a:lstStyle/>
          <a:p>
            <a:pPr marL="0" indent="0" algn="l">
              <a:buNone/>
            </a:pPr>
            <a:r>
              <a:rPr lang="en-US" sz="1100" dirty="0">
                <a:solidFill>
                  <a:srgbClr val="212121"/>
                </a:solidFill>
                <a:latin typeface="Calibri" pitchFamily="34" charset="0"/>
                <a:ea typeface="Calibri" pitchFamily="34" charset="-122"/>
                <a:cs typeface="Calibri" pitchFamily="34" charset="-120"/>
              </a:rPr>
              <a:t>Software</a:t>
            </a:r>
            <a:endParaRPr lang="en-US" sz="1100" dirty="0"/>
          </a:p>
        </p:txBody>
      </p:sp>
      <p:sp>
        <p:nvSpPr>
          <p:cNvPr id="26" name="Shape 24"/>
          <p:cNvSpPr/>
          <p:nvPr/>
        </p:nvSpPr>
        <p:spPr>
          <a:xfrm>
            <a:off x="6766560" y="1956816"/>
            <a:ext cx="1645920" cy="310896"/>
          </a:xfrm>
          <a:prstGeom prst="rect">
            <a:avLst/>
          </a:prstGeom>
          <a:solidFill>
            <a:srgbClr val="E8F5E9"/>
          </a:solidFill>
          <a:ln w="6350">
            <a:solidFill>
              <a:srgbClr val="DDDDDD"/>
            </a:solidFill>
            <a:prstDash val="solid"/>
          </a:ln>
        </p:spPr>
      </p:sp>
      <p:sp>
        <p:nvSpPr>
          <p:cNvPr id="27" name="Text 25"/>
          <p:cNvSpPr/>
          <p:nvPr/>
        </p:nvSpPr>
        <p:spPr>
          <a:xfrm>
            <a:off x="6858000" y="1956816"/>
            <a:ext cx="1536192" cy="310896"/>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$0</a:t>
            </a:r>
            <a:endParaRPr lang="en-US" sz="1100" dirty="0"/>
          </a:p>
        </p:txBody>
      </p:sp>
      <p:sp>
        <p:nvSpPr>
          <p:cNvPr id="28" name="Shape 26"/>
          <p:cNvSpPr/>
          <p:nvPr/>
        </p:nvSpPr>
        <p:spPr>
          <a:xfrm>
            <a:off x="365760" y="2295144"/>
            <a:ext cx="4206240" cy="310896"/>
          </a:xfrm>
          <a:prstGeom prst="rect">
            <a:avLst/>
          </a:prstGeom>
          <a:solidFill>
            <a:srgbClr val="FFFFFF"/>
          </a:solidFill>
          <a:ln w="6350">
            <a:solidFill>
              <a:srgbClr val="DDDDDD"/>
            </a:solidFill>
            <a:prstDash val="solid"/>
          </a:ln>
        </p:spPr>
      </p:sp>
      <p:sp>
        <p:nvSpPr>
          <p:cNvPr id="29" name="Text 27"/>
          <p:cNvSpPr/>
          <p:nvPr/>
        </p:nvSpPr>
        <p:spPr>
          <a:xfrm>
            <a:off x="457200" y="2295144"/>
            <a:ext cx="4096512" cy="310896"/>
          </a:xfrm>
          <a:prstGeom prst="rect">
            <a:avLst/>
          </a:prstGeom>
          <a:noFill/>
          <a:ln/>
        </p:spPr>
        <p:txBody>
          <a:bodyPr wrap="square" lIns="0" tIns="0" rIns="0" bIns="0" rtlCol="0" anchor="ctr"/>
          <a:lstStyle/>
          <a:p>
            <a:pPr marL="0" indent="0" algn="l">
              <a:buNone/>
            </a:pPr>
            <a:r>
              <a:rPr lang="en-US" sz="1100" dirty="0">
                <a:solidFill>
                  <a:srgbClr val="212121"/>
                </a:solidFill>
                <a:latin typeface="Calibri" pitchFamily="34" charset="0"/>
                <a:ea typeface="Calibri" pitchFamily="34" charset="-122"/>
                <a:cs typeface="Calibri" pitchFamily="34" charset="-120"/>
              </a:rPr>
              <a:t>SQLite database</a:t>
            </a:r>
            <a:endParaRPr lang="en-US" sz="1100" dirty="0"/>
          </a:p>
        </p:txBody>
      </p:sp>
      <p:sp>
        <p:nvSpPr>
          <p:cNvPr id="30" name="Shape 28"/>
          <p:cNvSpPr/>
          <p:nvPr/>
        </p:nvSpPr>
        <p:spPr>
          <a:xfrm>
            <a:off x="4663440" y="2295144"/>
            <a:ext cx="2011680" cy="310896"/>
          </a:xfrm>
          <a:prstGeom prst="rect">
            <a:avLst/>
          </a:prstGeom>
          <a:solidFill>
            <a:srgbClr val="FFFFFF"/>
          </a:solidFill>
          <a:ln w="6350">
            <a:solidFill>
              <a:srgbClr val="DDDDDD"/>
            </a:solidFill>
            <a:prstDash val="solid"/>
          </a:ln>
        </p:spPr>
      </p:sp>
      <p:sp>
        <p:nvSpPr>
          <p:cNvPr id="31" name="Text 29"/>
          <p:cNvSpPr/>
          <p:nvPr/>
        </p:nvSpPr>
        <p:spPr>
          <a:xfrm>
            <a:off x="4754880" y="2295144"/>
            <a:ext cx="1901952" cy="310896"/>
          </a:xfrm>
          <a:prstGeom prst="rect">
            <a:avLst/>
          </a:prstGeom>
          <a:noFill/>
          <a:ln/>
        </p:spPr>
        <p:txBody>
          <a:bodyPr wrap="square" lIns="0" tIns="0" rIns="0" bIns="0" rtlCol="0" anchor="ctr"/>
          <a:lstStyle/>
          <a:p>
            <a:pPr marL="0" indent="0" algn="l">
              <a:buNone/>
            </a:pPr>
            <a:r>
              <a:rPr lang="en-US" sz="1100" dirty="0">
                <a:solidFill>
                  <a:srgbClr val="212121"/>
                </a:solidFill>
                <a:latin typeface="Calibri" pitchFamily="34" charset="0"/>
                <a:ea typeface="Calibri" pitchFamily="34" charset="-122"/>
                <a:cs typeface="Calibri" pitchFamily="34" charset="-120"/>
              </a:rPr>
              <a:t>Software</a:t>
            </a:r>
            <a:endParaRPr lang="en-US" sz="1100" dirty="0"/>
          </a:p>
        </p:txBody>
      </p:sp>
      <p:sp>
        <p:nvSpPr>
          <p:cNvPr id="32" name="Shape 30"/>
          <p:cNvSpPr/>
          <p:nvPr/>
        </p:nvSpPr>
        <p:spPr>
          <a:xfrm>
            <a:off x="6766560" y="2295144"/>
            <a:ext cx="1645920" cy="310896"/>
          </a:xfrm>
          <a:prstGeom prst="rect">
            <a:avLst/>
          </a:prstGeom>
          <a:solidFill>
            <a:srgbClr val="FFFFFF"/>
          </a:solidFill>
          <a:ln w="6350">
            <a:solidFill>
              <a:srgbClr val="DDDDDD"/>
            </a:solidFill>
            <a:prstDash val="solid"/>
          </a:ln>
        </p:spPr>
      </p:sp>
      <p:sp>
        <p:nvSpPr>
          <p:cNvPr id="33" name="Text 31"/>
          <p:cNvSpPr/>
          <p:nvPr/>
        </p:nvSpPr>
        <p:spPr>
          <a:xfrm>
            <a:off x="6858000" y="2295144"/>
            <a:ext cx="1536192" cy="310896"/>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$0</a:t>
            </a:r>
            <a:endParaRPr lang="en-US" sz="1100" dirty="0"/>
          </a:p>
        </p:txBody>
      </p:sp>
      <p:sp>
        <p:nvSpPr>
          <p:cNvPr id="34" name="Shape 32"/>
          <p:cNvSpPr/>
          <p:nvPr/>
        </p:nvSpPr>
        <p:spPr>
          <a:xfrm>
            <a:off x="365760" y="2633472"/>
            <a:ext cx="4206240" cy="310896"/>
          </a:xfrm>
          <a:prstGeom prst="rect">
            <a:avLst/>
          </a:prstGeom>
          <a:solidFill>
            <a:srgbClr val="E8F5E9"/>
          </a:solidFill>
          <a:ln w="6350">
            <a:solidFill>
              <a:srgbClr val="DDDDDD"/>
            </a:solidFill>
            <a:prstDash val="solid"/>
          </a:ln>
        </p:spPr>
      </p:sp>
      <p:sp>
        <p:nvSpPr>
          <p:cNvPr id="35" name="Text 33"/>
          <p:cNvSpPr/>
          <p:nvPr/>
        </p:nvSpPr>
        <p:spPr>
          <a:xfrm>
            <a:off x="457200" y="2633472"/>
            <a:ext cx="4096512" cy="310896"/>
          </a:xfrm>
          <a:prstGeom prst="rect">
            <a:avLst/>
          </a:prstGeom>
          <a:noFill/>
          <a:ln/>
        </p:spPr>
        <p:txBody>
          <a:bodyPr wrap="square" lIns="0" tIns="0" rIns="0" bIns="0" rtlCol="0" anchor="ctr"/>
          <a:lstStyle/>
          <a:p>
            <a:pPr marL="0" indent="0" algn="l">
              <a:buNone/>
            </a:pPr>
            <a:r>
              <a:rPr lang="en-US" sz="1100" dirty="0">
                <a:solidFill>
                  <a:srgbClr val="212121"/>
                </a:solidFill>
                <a:latin typeface="Calibri" pitchFamily="34" charset="0"/>
                <a:ea typeface="Calibri" pitchFamily="34" charset="-122"/>
                <a:cs typeface="Calibri" pitchFamily="34" charset="-120"/>
              </a:rPr>
              <a:t>Design and prototype Tools</a:t>
            </a:r>
            <a:endParaRPr lang="en-US" sz="1100" dirty="0"/>
          </a:p>
        </p:txBody>
      </p:sp>
      <p:sp>
        <p:nvSpPr>
          <p:cNvPr id="36" name="Shape 34"/>
          <p:cNvSpPr/>
          <p:nvPr/>
        </p:nvSpPr>
        <p:spPr>
          <a:xfrm>
            <a:off x="4663440" y="2633472"/>
            <a:ext cx="2011680" cy="310896"/>
          </a:xfrm>
          <a:prstGeom prst="rect">
            <a:avLst/>
          </a:prstGeom>
          <a:solidFill>
            <a:srgbClr val="E8F5E9"/>
          </a:solidFill>
          <a:ln w="6350">
            <a:solidFill>
              <a:srgbClr val="DDDDDD"/>
            </a:solidFill>
            <a:prstDash val="solid"/>
          </a:ln>
        </p:spPr>
      </p:sp>
      <p:sp>
        <p:nvSpPr>
          <p:cNvPr id="37" name="Text 35"/>
          <p:cNvSpPr/>
          <p:nvPr/>
        </p:nvSpPr>
        <p:spPr>
          <a:xfrm>
            <a:off x="4754880" y="2633472"/>
            <a:ext cx="1901952" cy="310896"/>
          </a:xfrm>
          <a:prstGeom prst="rect">
            <a:avLst/>
          </a:prstGeom>
          <a:noFill/>
          <a:ln/>
        </p:spPr>
        <p:txBody>
          <a:bodyPr wrap="square" lIns="0" tIns="0" rIns="0" bIns="0" rtlCol="0" anchor="ctr"/>
          <a:lstStyle/>
          <a:p>
            <a:pPr marL="0" indent="0" algn="l">
              <a:buNone/>
            </a:pPr>
            <a:r>
              <a:rPr lang="en-US" sz="1100" dirty="0">
                <a:solidFill>
                  <a:srgbClr val="212121"/>
                </a:solidFill>
                <a:latin typeface="Calibri" pitchFamily="34" charset="0"/>
                <a:ea typeface="Calibri" pitchFamily="34" charset="-122"/>
                <a:cs typeface="Calibri" pitchFamily="34" charset="-120"/>
              </a:rPr>
              <a:t>Software</a:t>
            </a:r>
            <a:endParaRPr lang="en-US" sz="1100" dirty="0"/>
          </a:p>
        </p:txBody>
      </p:sp>
      <p:sp>
        <p:nvSpPr>
          <p:cNvPr id="38" name="Shape 36"/>
          <p:cNvSpPr/>
          <p:nvPr/>
        </p:nvSpPr>
        <p:spPr>
          <a:xfrm>
            <a:off x="6766560" y="2633472"/>
            <a:ext cx="1645920" cy="310896"/>
          </a:xfrm>
          <a:prstGeom prst="rect">
            <a:avLst/>
          </a:prstGeom>
          <a:solidFill>
            <a:srgbClr val="E8F5E9"/>
          </a:solidFill>
          <a:ln w="6350">
            <a:solidFill>
              <a:srgbClr val="DDDDDD"/>
            </a:solidFill>
            <a:prstDash val="solid"/>
          </a:ln>
        </p:spPr>
      </p:sp>
      <p:sp>
        <p:nvSpPr>
          <p:cNvPr id="39" name="Text 37"/>
          <p:cNvSpPr/>
          <p:nvPr/>
        </p:nvSpPr>
        <p:spPr>
          <a:xfrm>
            <a:off x="6858000" y="2633472"/>
            <a:ext cx="1536192" cy="310896"/>
          </a:xfrm>
          <a:prstGeom prst="rect">
            <a:avLst/>
          </a:prstGeom>
          <a:noFill/>
          <a:ln/>
        </p:spPr>
        <p:txBody>
          <a:bodyPr wrap="square" lIns="0" tIns="0" rIns="0" bIns="0" rtlCol="0" anchor="ctr"/>
          <a:lstStyle/>
          <a:p>
            <a:pPr marL="0" indent="0" algn="ctr">
              <a:buNone/>
            </a:pPr>
            <a:r>
              <a:rPr lang="en-US" sz="1100" dirty="0">
                <a:latin typeface="Calibri" pitchFamily="34" charset="0"/>
                <a:ea typeface="Calibri" pitchFamily="34" charset="-122"/>
                <a:cs typeface="Calibri" pitchFamily="34" charset="-120"/>
              </a:rPr>
              <a:t>$100</a:t>
            </a:r>
            <a:endParaRPr lang="en-US" sz="1100" dirty="0"/>
          </a:p>
        </p:txBody>
      </p:sp>
      <p:sp>
        <p:nvSpPr>
          <p:cNvPr id="40" name="Shape 38"/>
          <p:cNvSpPr/>
          <p:nvPr/>
        </p:nvSpPr>
        <p:spPr>
          <a:xfrm>
            <a:off x="365760" y="2971800"/>
            <a:ext cx="4206240" cy="310896"/>
          </a:xfrm>
          <a:prstGeom prst="rect">
            <a:avLst/>
          </a:prstGeom>
          <a:solidFill>
            <a:srgbClr val="FFFFFF"/>
          </a:solidFill>
          <a:ln w="6350">
            <a:solidFill>
              <a:srgbClr val="DDDDDD"/>
            </a:solidFill>
            <a:prstDash val="solid"/>
          </a:ln>
        </p:spPr>
      </p:sp>
      <p:sp>
        <p:nvSpPr>
          <p:cNvPr id="41" name="Text 39"/>
          <p:cNvSpPr/>
          <p:nvPr/>
        </p:nvSpPr>
        <p:spPr>
          <a:xfrm>
            <a:off x="457200" y="2971800"/>
            <a:ext cx="4096512" cy="310896"/>
          </a:xfrm>
          <a:prstGeom prst="rect">
            <a:avLst/>
          </a:prstGeom>
          <a:noFill/>
          <a:ln/>
        </p:spPr>
        <p:txBody>
          <a:bodyPr wrap="square" lIns="0" tIns="0" rIns="0" bIns="0" rtlCol="0" anchor="ctr"/>
          <a:lstStyle/>
          <a:p>
            <a:pPr marL="0" indent="0" algn="l">
              <a:buNone/>
            </a:pPr>
            <a:r>
              <a:rPr lang="en-US" sz="1100" dirty="0">
                <a:solidFill>
                  <a:srgbClr val="212121"/>
                </a:solidFill>
                <a:latin typeface="Calibri" pitchFamily="34" charset="0"/>
                <a:ea typeface="Calibri" pitchFamily="34" charset="-122"/>
                <a:cs typeface="Calibri" pitchFamily="34" charset="-120"/>
              </a:rPr>
              <a:t>Visual Studio Code</a:t>
            </a:r>
            <a:endParaRPr lang="en-US" sz="1100" dirty="0"/>
          </a:p>
        </p:txBody>
      </p:sp>
      <p:sp>
        <p:nvSpPr>
          <p:cNvPr id="42" name="Shape 40"/>
          <p:cNvSpPr/>
          <p:nvPr/>
        </p:nvSpPr>
        <p:spPr>
          <a:xfrm>
            <a:off x="4663440" y="2971800"/>
            <a:ext cx="2011680" cy="310896"/>
          </a:xfrm>
          <a:prstGeom prst="rect">
            <a:avLst/>
          </a:prstGeom>
          <a:solidFill>
            <a:srgbClr val="FFFFFF"/>
          </a:solidFill>
          <a:ln w="6350">
            <a:solidFill>
              <a:srgbClr val="DDDDDD"/>
            </a:solidFill>
            <a:prstDash val="solid"/>
          </a:ln>
        </p:spPr>
      </p:sp>
      <p:sp>
        <p:nvSpPr>
          <p:cNvPr id="43" name="Text 41"/>
          <p:cNvSpPr/>
          <p:nvPr/>
        </p:nvSpPr>
        <p:spPr>
          <a:xfrm>
            <a:off x="4754880" y="2971800"/>
            <a:ext cx="1901952" cy="310896"/>
          </a:xfrm>
          <a:prstGeom prst="rect">
            <a:avLst/>
          </a:prstGeom>
          <a:noFill/>
          <a:ln/>
        </p:spPr>
        <p:txBody>
          <a:bodyPr wrap="square" lIns="0" tIns="0" rIns="0" bIns="0" rtlCol="0" anchor="ctr"/>
          <a:lstStyle/>
          <a:p>
            <a:pPr marL="0" indent="0" algn="l">
              <a:buNone/>
            </a:pPr>
            <a:r>
              <a:rPr lang="en-US" sz="1100" dirty="0">
                <a:solidFill>
                  <a:srgbClr val="212121"/>
                </a:solidFill>
                <a:latin typeface="Calibri" pitchFamily="34" charset="0"/>
                <a:ea typeface="Calibri" pitchFamily="34" charset="-122"/>
                <a:cs typeface="Calibri" pitchFamily="34" charset="-120"/>
              </a:rPr>
              <a:t>Software</a:t>
            </a:r>
            <a:endParaRPr lang="en-US" sz="1100" dirty="0"/>
          </a:p>
        </p:txBody>
      </p:sp>
      <p:sp>
        <p:nvSpPr>
          <p:cNvPr id="44" name="Shape 42"/>
          <p:cNvSpPr/>
          <p:nvPr/>
        </p:nvSpPr>
        <p:spPr>
          <a:xfrm>
            <a:off x="6766560" y="2971800"/>
            <a:ext cx="1645920" cy="310896"/>
          </a:xfrm>
          <a:prstGeom prst="rect">
            <a:avLst/>
          </a:prstGeom>
          <a:solidFill>
            <a:srgbClr val="FFFFFF"/>
          </a:solidFill>
          <a:ln w="6350">
            <a:solidFill>
              <a:srgbClr val="DDDDDD"/>
            </a:solidFill>
            <a:prstDash val="solid"/>
          </a:ln>
        </p:spPr>
      </p:sp>
      <p:sp>
        <p:nvSpPr>
          <p:cNvPr id="45" name="Text 43"/>
          <p:cNvSpPr/>
          <p:nvPr/>
        </p:nvSpPr>
        <p:spPr>
          <a:xfrm>
            <a:off x="6858000" y="2971800"/>
            <a:ext cx="1536192" cy="310896"/>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$0</a:t>
            </a:r>
            <a:endParaRPr lang="en-US" sz="1100" dirty="0"/>
          </a:p>
        </p:txBody>
      </p:sp>
      <p:sp>
        <p:nvSpPr>
          <p:cNvPr id="46" name="Shape 44"/>
          <p:cNvSpPr/>
          <p:nvPr/>
        </p:nvSpPr>
        <p:spPr>
          <a:xfrm>
            <a:off x="365760" y="3310128"/>
            <a:ext cx="4206240" cy="310896"/>
          </a:xfrm>
          <a:prstGeom prst="rect">
            <a:avLst/>
          </a:prstGeom>
          <a:solidFill>
            <a:srgbClr val="E8F5E9"/>
          </a:solidFill>
          <a:ln w="6350">
            <a:solidFill>
              <a:srgbClr val="DDDDDD"/>
            </a:solidFill>
            <a:prstDash val="solid"/>
          </a:ln>
        </p:spPr>
      </p:sp>
      <p:sp>
        <p:nvSpPr>
          <p:cNvPr id="47" name="Text 45"/>
          <p:cNvSpPr/>
          <p:nvPr/>
        </p:nvSpPr>
        <p:spPr>
          <a:xfrm>
            <a:off x="457200" y="3310128"/>
            <a:ext cx="4096512" cy="310896"/>
          </a:xfrm>
          <a:prstGeom prst="rect">
            <a:avLst/>
          </a:prstGeom>
          <a:noFill/>
          <a:ln/>
        </p:spPr>
        <p:txBody>
          <a:bodyPr wrap="square" lIns="0" tIns="0" rIns="0" bIns="0" rtlCol="0" anchor="ctr"/>
          <a:lstStyle/>
          <a:p>
            <a:pPr marL="0" indent="0" algn="l">
              <a:buNone/>
            </a:pPr>
            <a:r>
              <a:rPr lang="en-US" sz="1100" dirty="0">
                <a:solidFill>
                  <a:srgbClr val="212121"/>
                </a:solidFill>
                <a:latin typeface="Calibri" pitchFamily="34" charset="0"/>
                <a:ea typeface="Calibri" pitchFamily="34" charset="-122"/>
                <a:cs typeface="Calibri" pitchFamily="34" charset="-120"/>
              </a:rPr>
              <a:t>Peer testing (done for free)</a:t>
            </a:r>
            <a:endParaRPr lang="en-US" sz="1100" dirty="0"/>
          </a:p>
        </p:txBody>
      </p:sp>
      <p:sp>
        <p:nvSpPr>
          <p:cNvPr id="48" name="Shape 46"/>
          <p:cNvSpPr/>
          <p:nvPr/>
        </p:nvSpPr>
        <p:spPr>
          <a:xfrm>
            <a:off x="4663440" y="3310128"/>
            <a:ext cx="2011680" cy="310896"/>
          </a:xfrm>
          <a:prstGeom prst="rect">
            <a:avLst/>
          </a:prstGeom>
          <a:solidFill>
            <a:srgbClr val="E8F5E9"/>
          </a:solidFill>
          <a:ln w="6350">
            <a:solidFill>
              <a:srgbClr val="DDDDDD"/>
            </a:solidFill>
            <a:prstDash val="solid"/>
          </a:ln>
        </p:spPr>
      </p:sp>
      <p:sp>
        <p:nvSpPr>
          <p:cNvPr id="49" name="Text 47"/>
          <p:cNvSpPr/>
          <p:nvPr/>
        </p:nvSpPr>
        <p:spPr>
          <a:xfrm>
            <a:off x="4754880" y="3310128"/>
            <a:ext cx="1901952" cy="310896"/>
          </a:xfrm>
          <a:prstGeom prst="rect">
            <a:avLst/>
          </a:prstGeom>
          <a:noFill/>
          <a:ln/>
        </p:spPr>
        <p:txBody>
          <a:bodyPr wrap="square" lIns="0" tIns="0" rIns="0" bIns="0" rtlCol="0" anchor="ctr"/>
          <a:lstStyle/>
          <a:p>
            <a:pPr marL="0" indent="0" algn="l">
              <a:buNone/>
            </a:pPr>
            <a:r>
              <a:rPr lang="en-US" sz="1100" dirty="0">
                <a:solidFill>
                  <a:srgbClr val="212121"/>
                </a:solidFill>
                <a:latin typeface="Calibri" pitchFamily="34" charset="0"/>
                <a:ea typeface="Calibri" pitchFamily="34" charset="-122"/>
                <a:cs typeface="Calibri" pitchFamily="34" charset="-120"/>
              </a:rPr>
              <a:t>Testing</a:t>
            </a:r>
            <a:endParaRPr lang="en-US" sz="1100" dirty="0"/>
          </a:p>
        </p:txBody>
      </p:sp>
      <p:sp>
        <p:nvSpPr>
          <p:cNvPr id="50" name="Shape 48"/>
          <p:cNvSpPr/>
          <p:nvPr/>
        </p:nvSpPr>
        <p:spPr>
          <a:xfrm>
            <a:off x="6766560" y="3310128"/>
            <a:ext cx="1645920" cy="310896"/>
          </a:xfrm>
          <a:prstGeom prst="rect">
            <a:avLst/>
          </a:prstGeom>
          <a:solidFill>
            <a:srgbClr val="E8F5E9"/>
          </a:solidFill>
          <a:ln w="6350">
            <a:solidFill>
              <a:srgbClr val="DDDDDD"/>
            </a:solidFill>
            <a:prstDash val="solid"/>
          </a:ln>
        </p:spPr>
      </p:sp>
      <p:sp>
        <p:nvSpPr>
          <p:cNvPr id="51" name="Text 49"/>
          <p:cNvSpPr/>
          <p:nvPr/>
        </p:nvSpPr>
        <p:spPr>
          <a:xfrm>
            <a:off x="6858000" y="3310128"/>
            <a:ext cx="1536192" cy="310896"/>
          </a:xfrm>
          <a:prstGeom prst="rect">
            <a:avLst/>
          </a:prstGeom>
          <a:noFill/>
          <a:ln/>
        </p:spPr>
        <p:txBody>
          <a:bodyPr wrap="square" lIns="0" tIns="0" rIns="0" bIns="0" rtlCol="0" anchor="ctr"/>
          <a:lstStyle/>
          <a:p>
            <a:pPr marL="0" indent="0" algn="ctr">
              <a:buNone/>
            </a:pPr>
            <a:r>
              <a:rPr lang="en-US" sz="1100" b="1" dirty="0">
                <a:solidFill>
                  <a:srgbClr val="2E7D32"/>
                </a:solidFill>
                <a:latin typeface="Calibri" pitchFamily="34" charset="0"/>
                <a:ea typeface="Calibri" pitchFamily="34" charset="-122"/>
                <a:cs typeface="Calibri" pitchFamily="34" charset="-120"/>
              </a:rPr>
              <a:t>$0</a:t>
            </a:r>
            <a:endParaRPr lang="en-US" sz="1100" dirty="0"/>
          </a:p>
        </p:txBody>
      </p:sp>
      <p:sp>
        <p:nvSpPr>
          <p:cNvPr id="52" name="Shape 50"/>
          <p:cNvSpPr/>
          <p:nvPr/>
        </p:nvSpPr>
        <p:spPr>
          <a:xfrm>
            <a:off x="365760" y="3648456"/>
            <a:ext cx="4206240" cy="310896"/>
          </a:xfrm>
          <a:prstGeom prst="rect">
            <a:avLst/>
          </a:prstGeom>
          <a:solidFill>
            <a:srgbClr val="FFFFFF"/>
          </a:solidFill>
          <a:ln w="6350">
            <a:solidFill>
              <a:srgbClr val="DDDDDD"/>
            </a:solidFill>
            <a:prstDash val="solid"/>
          </a:ln>
        </p:spPr>
      </p:sp>
      <p:sp>
        <p:nvSpPr>
          <p:cNvPr id="53" name="Text 51"/>
          <p:cNvSpPr/>
          <p:nvPr/>
        </p:nvSpPr>
        <p:spPr>
          <a:xfrm>
            <a:off x="457200" y="3648456"/>
            <a:ext cx="4096512" cy="310896"/>
          </a:xfrm>
          <a:prstGeom prst="rect">
            <a:avLst/>
          </a:prstGeom>
          <a:noFill/>
          <a:ln/>
        </p:spPr>
        <p:txBody>
          <a:bodyPr wrap="square" lIns="0" tIns="0" rIns="0" bIns="0" rtlCol="0" anchor="ctr"/>
          <a:lstStyle/>
          <a:p>
            <a:pPr marL="0" indent="0" algn="l">
              <a:buNone/>
            </a:pPr>
            <a:r>
              <a:rPr lang="en-US" sz="1100" dirty="0">
                <a:solidFill>
                  <a:srgbClr val="212121"/>
                </a:solidFill>
                <a:latin typeface="Calibri" pitchFamily="34" charset="0"/>
                <a:ea typeface="Calibri" pitchFamily="34" charset="-122"/>
                <a:cs typeface="Calibri" pitchFamily="34" charset="-120"/>
              </a:rPr>
              <a:t>Printing and small expenses</a:t>
            </a:r>
            <a:endParaRPr lang="en-US" sz="1100" dirty="0"/>
          </a:p>
        </p:txBody>
      </p:sp>
      <p:sp>
        <p:nvSpPr>
          <p:cNvPr id="54" name="Shape 52"/>
          <p:cNvSpPr/>
          <p:nvPr/>
        </p:nvSpPr>
        <p:spPr>
          <a:xfrm>
            <a:off x="4663440" y="3648456"/>
            <a:ext cx="2011680" cy="310896"/>
          </a:xfrm>
          <a:prstGeom prst="rect">
            <a:avLst/>
          </a:prstGeom>
          <a:solidFill>
            <a:srgbClr val="FFFFFF"/>
          </a:solidFill>
          <a:ln w="6350">
            <a:solidFill>
              <a:srgbClr val="DDDDDD"/>
            </a:solidFill>
            <a:prstDash val="solid"/>
          </a:ln>
        </p:spPr>
      </p:sp>
      <p:sp>
        <p:nvSpPr>
          <p:cNvPr id="55" name="Text 53"/>
          <p:cNvSpPr/>
          <p:nvPr/>
        </p:nvSpPr>
        <p:spPr>
          <a:xfrm>
            <a:off x="4754880" y="3648456"/>
            <a:ext cx="1901952" cy="310896"/>
          </a:xfrm>
          <a:prstGeom prst="rect">
            <a:avLst/>
          </a:prstGeom>
          <a:noFill/>
          <a:ln/>
        </p:spPr>
        <p:txBody>
          <a:bodyPr wrap="square" lIns="0" tIns="0" rIns="0" bIns="0" rtlCol="0" anchor="ctr"/>
          <a:lstStyle/>
          <a:p>
            <a:pPr marL="0" indent="0" algn="l">
              <a:buNone/>
            </a:pPr>
            <a:r>
              <a:rPr lang="en-US" sz="1100" dirty="0">
                <a:solidFill>
                  <a:srgbClr val="212121"/>
                </a:solidFill>
                <a:latin typeface="Calibri" pitchFamily="34" charset="0"/>
                <a:ea typeface="Calibri" pitchFamily="34" charset="-122"/>
                <a:cs typeface="Calibri" pitchFamily="34" charset="-120"/>
              </a:rPr>
              <a:t>Operational</a:t>
            </a:r>
            <a:endParaRPr lang="en-US" sz="1100" dirty="0"/>
          </a:p>
        </p:txBody>
      </p:sp>
      <p:sp>
        <p:nvSpPr>
          <p:cNvPr id="56" name="Shape 54"/>
          <p:cNvSpPr/>
          <p:nvPr/>
        </p:nvSpPr>
        <p:spPr>
          <a:xfrm>
            <a:off x="6766560" y="3648456"/>
            <a:ext cx="1645920" cy="310896"/>
          </a:xfrm>
          <a:prstGeom prst="rect">
            <a:avLst/>
          </a:prstGeom>
          <a:solidFill>
            <a:srgbClr val="FFFFFF"/>
          </a:solidFill>
          <a:ln w="6350">
            <a:solidFill>
              <a:srgbClr val="DDDDDD"/>
            </a:solidFill>
            <a:prstDash val="solid"/>
          </a:ln>
        </p:spPr>
      </p:sp>
      <p:sp>
        <p:nvSpPr>
          <p:cNvPr id="57" name="Text 55"/>
          <p:cNvSpPr/>
          <p:nvPr/>
        </p:nvSpPr>
        <p:spPr>
          <a:xfrm>
            <a:off x="6858000" y="3648456"/>
            <a:ext cx="1536192" cy="310896"/>
          </a:xfrm>
          <a:prstGeom prst="rect">
            <a:avLst/>
          </a:prstGeom>
          <a:noFill/>
          <a:ln/>
        </p:spPr>
        <p:txBody>
          <a:bodyPr wrap="square" lIns="0" tIns="0" rIns="0" bIns="0" rtlCol="0" anchor="ctr"/>
          <a:lstStyle/>
          <a:p>
            <a:pPr marL="0" indent="0" algn="ctr">
              <a:buNone/>
            </a:pPr>
            <a:r>
              <a:rPr lang="en-US" sz="1100" dirty="0">
                <a:solidFill>
                  <a:srgbClr val="212121"/>
                </a:solidFill>
                <a:latin typeface="Calibri" pitchFamily="34" charset="0"/>
                <a:ea typeface="Calibri" pitchFamily="34" charset="-122"/>
                <a:cs typeface="Calibri" pitchFamily="34" charset="-120"/>
              </a:rPr>
              <a:t>$100</a:t>
            </a:r>
            <a:endParaRPr lang="en-US" sz="1100" dirty="0"/>
          </a:p>
        </p:txBody>
      </p:sp>
      <p:sp>
        <p:nvSpPr>
          <p:cNvPr id="58" name="Shape 56"/>
          <p:cNvSpPr/>
          <p:nvPr/>
        </p:nvSpPr>
        <p:spPr>
          <a:xfrm>
            <a:off x="365760" y="3986784"/>
            <a:ext cx="4206240" cy="338328"/>
          </a:xfrm>
          <a:prstGeom prst="rect">
            <a:avLst/>
          </a:prstGeom>
          <a:solidFill>
            <a:srgbClr val="1A3C1A"/>
          </a:solidFill>
          <a:ln w="12700">
            <a:solidFill>
              <a:srgbClr val="1A3C1A"/>
            </a:solidFill>
            <a:prstDash val="solid"/>
          </a:ln>
        </p:spPr>
      </p:sp>
      <p:sp>
        <p:nvSpPr>
          <p:cNvPr id="59" name="Text 57"/>
          <p:cNvSpPr/>
          <p:nvPr/>
        </p:nvSpPr>
        <p:spPr>
          <a:xfrm>
            <a:off x="365760" y="3986784"/>
            <a:ext cx="4206240" cy="338328"/>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 TOTAL</a:t>
            </a:r>
            <a:endParaRPr lang="en-US" sz="1200" dirty="0"/>
          </a:p>
        </p:txBody>
      </p:sp>
      <p:sp>
        <p:nvSpPr>
          <p:cNvPr id="60" name="Shape 58"/>
          <p:cNvSpPr/>
          <p:nvPr/>
        </p:nvSpPr>
        <p:spPr>
          <a:xfrm>
            <a:off x="4663440" y="3986784"/>
            <a:ext cx="2011680" cy="338328"/>
          </a:xfrm>
          <a:prstGeom prst="rect">
            <a:avLst/>
          </a:prstGeom>
          <a:solidFill>
            <a:srgbClr val="1A3C1A"/>
          </a:solidFill>
          <a:ln w="12700">
            <a:solidFill>
              <a:srgbClr val="1A3C1A"/>
            </a:solidFill>
            <a:prstDash val="solid"/>
          </a:ln>
        </p:spPr>
      </p:sp>
      <p:sp>
        <p:nvSpPr>
          <p:cNvPr id="61" name="Text 59"/>
          <p:cNvSpPr/>
          <p:nvPr/>
        </p:nvSpPr>
        <p:spPr>
          <a:xfrm>
            <a:off x="4663440" y="3986784"/>
            <a:ext cx="2011680" cy="338328"/>
          </a:xfrm>
          <a:prstGeom prst="rect">
            <a:avLst/>
          </a:prstGeom>
          <a:noFill/>
          <a:ln/>
        </p:spPr>
        <p:txBody>
          <a:bodyPr wrap="square" lIns="0" tIns="0" rIns="0" bIns="0" rtlCol="0" anchor="ctr"/>
          <a:lstStyle/>
          <a:p>
            <a:pPr marL="0" indent="0" algn="l">
              <a:buNone/>
            </a:pPr>
            <a:endParaRPr lang="en-US" sz="1200" dirty="0"/>
          </a:p>
        </p:txBody>
      </p:sp>
      <p:sp>
        <p:nvSpPr>
          <p:cNvPr id="62" name="Shape 60"/>
          <p:cNvSpPr/>
          <p:nvPr/>
        </p:nvSpPr>
        <p:spPr>
          <a:xfrm>
            <a:off x="6766560" y="3986784"/>
            <a:ext cx="1645920" cy="338328"/>
          </a:xfrm>
          <a:prstGeom prst="rect">
            <a:avLst/>
          </a:prstGeom>
          <a:solidFill>
            <a:srgbClr val="1A3C1A"/>
          </a:solidFill>
          <a:ln w="12700">
            <a:solidFill>
              <a:srgbClr val="1A3C1A"/>
            </a:solidFill>
            <a:prstDash val="solid"/>
          </a:ln>
        </p:spPr>
      </p:sp>
      <p:sp>
        <p:nvSpPr>
          <p:cNvPr id="63" name="Text 61"/>
          <p:cNvSpPr/>
          <p:nvPr/>
        </p:nvSpPr>
        <p:spPr>
          <a:xfrm>
            <a:off x="6766560" y="3986784"/>
            <a:ext cx="1645920" cy="3383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~$1,600</a:t>
            </a:r>
            <a:endParaRPr lang="en-US" sz="1200" dirty="0"/>
          </a:p>
        </p:txBody>
      </p:sp>
      <p:sp>
        <p:nvSpPr>
          <p:cNvPr id="64" name="Text 62"/>
          <p:cNvSpPr/>
          <p:nvPr/>
        </p:nvSpPr>
        <p:spPr>
          <a:xfrm>
            <a:off x="365760" y="4407408"/>
            <a:ext cx="8412480" cy="320040"/>
          </a:xfrm>
          <a:prstGeom prst="rect">
            <a:avLst/>
          </a:prstGeom>
          <a:noFill/>
          <a:ln/>
        </p:spPr>
        <p:txBody>
          <a:bodyPr wrap="square" lIns="0" tIns="0" rIns="0" bIns="0" rtlCol="0" anchor="ctr"/>
          <a:lstStyle/>
          <a:p>
            <a:pPr marL="0" indent="0">
              <a:buNone/>
            </a:pPr>
            <a:r>
              <a:rPr lang="en-US" sz="1100" dirty="0">
                <a:solidFill>
                  <a:srgbClr val="212121"/>
                </a:solidFill>
                <a:latin typeface="Calibri" pitchFamily="34" charset="0"/>
                <a:ea typeface="Calibri" pitchFamily="34" charset="-122"/>
                <a:cs typeface="Calibri" pitchFamily="34" charset="-120"/>
              </a:rPr>
              <a:t>All software was free and open-source. Total estimated cost: ~$1,600 AUD — affordable for any institution.</a:t>
            </a:r>
            <a:endParaRPr lang="en-US" sz="1100" dirty="0"/>
          </a:p>
        </p:txBody>
      </p:sp>
      <p:sp>
        <p:nvSpPr>
          <p:cNvPr id="65" name="Text 63"/>
          <p:cNvSpPr/>
          <p:nvPr/>
        </p:nvSpPr>
        <p:spPr>
          <a:xfrm>
            <a:off x="365760" y="4892040"/>
            <a:ext cx="8412480" cy="201168"/>
          </a:xfrm>
          <a:prstGeom prst="rect">
            <a:avLst/>
          </a:prstGeom>
          <a:noFill/>
          <a:ln/>
        </p:spPr>
        <p:txBody>
          <a:bodyPr wrap="square" lIns="0" tIns="0" rIns="0" bIns="0" rtlCol="0" anchor="ctr"/>
          <a:lstStyle/>
          <a:p>
            <a:pPr marL="0" indent="0" algn="r">
              <a:buNone/>
            </a:pPr>
            <a:r>
              <a:rPr lang="en-US" sz="900" i="1" dirty="0">
                <a:solidFill>
                  <a:srgbClr val="AAAAAA"/>
                </a:solidFill>
                <a:latin typeface="Calibri" pitchFamily="34" charset="0"/>
                <a:ea typeface="Calibri" pitchFamily="34" charset="-122"/>
                <a:cs typeface="Calibri" pitchFamily="34" charset="-120"/>
              </a:rPr>
              <a:t>Avishek Pandey  |  IT Project Management  |  IT Student Management System</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C1A"/>
          </a:solidFill>
          <a:ln w="12700">
            <a:solidFill>
              <a:srgbClr val="1A3C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Section 6  |  Solution Implementation – Testing &amp; Results</a:t>
            </a:r>
            <a:endParaRPr lang="en-US" sz="2400" dirty="0"/>
          </a:p>
        </p:txBody>
      </p:sp>
      <p:sp>
        <p:nvSpPr>
          <p:cNvPr id="4" name="Shape 2"/>
          <p:cNvSpPr/>
          <p:nvPr/>
        </p:nvSpPr>
        <p:spPr>
          <a:xfrm>
            <a:off x="365760" y="960120"/>
            <a:ext cx="4023360" cy="1874520"/>
          </a:xfrm>
          <a:prstGeom prst="rect">
            <a:avLst/>
          </a:prstGeom>
          <a:solidFill>
            <a:srgbClr val="E8F5E9"/>
          </a:solidFill>
          <a:ln w="7620">
            <a:solidFill>
              <a:srgbClr val="C8E6C9"/>
            </a:solidFill>
            <a:prstDash val="solid"/>
          </a:ln>
        </p:spPr>
      </p:sp>
      <p:sp>
        <p:nvSpPr>
          <p:cNvPr id="5" name="Shape 3"/>
          <p:cNvSpPr/>
          <p:nvPr/>
        </p:nvSpPr>
        <p:spPr>
          <a:xfrm>
            <a:off x="365760" y="960120"/>
            <a:ext cx="4023360" cy="54864"/>
          </a:xfrm>
          <a:prstGeom prst="rect">
            <a:avLst/>
          </a:prstGeom>
          <a:solidFill>
            <a:srgbClr val="2E7D32"/>
          </a:solidFill>
          <a:ln w="12700">
            <a:solidFill>
              <a:srgbClr val="2E7D32"/>
            </a:solidFill>
            <a:prstDash val="solid"/>
          </a:ln>
        </p:spPr>
      </p:sp>
      <p:sp>
        <p:nvSpPr>
          <p:cNvPr id="6" name="Text 4"/>
          <p:cNvSpPr/>
          <p:nvPr/>
        </p:nvSpPr>
        <p:spPr>
          <a:xfrm>
            <a:off x="475488" y="1051560"/>
            <a:ext cx="3200400" cy="365760"/>
          </a:xfrm>
          <a:prstGeom prst="rect">
            <a:avLst/>
          </a:prstGeom>
          <a:noFill/>
          <a:ln/>
        </p:spPr>
        <p:txBody>
          <a:bodyPr wrap="square" lIns="0" tIns="0" rIns="0" bIns="0" rtlCol="0" anchor="ctr"/>
          <a:lstStyle/>
          <a:p>
            <a:pPr marL="0" indent="0">
              <a:buNone/>
            </a:pPr>
            <a:r>
              <a:rPr lang="en-US" sz="1250" b="1" dirty="0">
                <a:solidFill>
                  <a:srgbClr val="1A3C1A"/>
                </a:solidFill>
                <a:latin typeface="Calibri" pitchFamily="34" charset="0"/>
                <a:ea typeface="Calibri" pitchFamily="34" charset="-122"/>
                <a:cs typeface="Calibri" pitchFamily="34" charset="-120"/>
              </a:rPr>
              <a:t>Functional Testing</a:t>
            </a:r>
            <a:endParaRPr lang="en-US" sz="1250" dirty="0"/>
          </a:p>
        </p:txBody>
      </p:sp>
      <p:sp>
        <p:nvSpPr>
          <p:cNvPr id="7" name="Shape 5"/>
          <p:cNvSpPr/>
          <p:nvPr/>
        </p:nvSpPr>
        <p:spPr>
          <a:xfrm>
            <a:off x="3383280" y="1069848"/>
            <a:ext cx="896112" cy="256032"/>
          </a:xfrm>
          <a:prstGeom prst="rect">
            <a:avLst/>
          </a:prstGeom>
          <a:solidFill>
            <a:srgbClr val="2E7D32"/>
          </a:solidFill>
          <a:ln w="12700">
            <a:solidFill>
              <a:srgbClr val="2E7D32"/>
            </a:solidFill>
            <a:prstDash val="solid"/>
          </a:ln>
        </p:spPr>
      </p:sp>
      <p:sp>
        <p:nvSpPr>
          <p:cNvPr id="8" name="Text 6"/>
          <p:cNvSpPr/>
          <p:nvPr/>
        </p:nvSpPr>
        <p:spPr>
          <a:xfrm>
            <a:off x="3383280" y="1069848"/>
            <a:ext cx="89611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PASSED</a:t>
            </a:r>
            <a:endParaRPr lang="en-US" sz="900" dirty="0"/>
          </a:p>
        </p:txBody>
      </p:sp>
      <p:sp>
        <p:nvSpPr>
          <p:cNvPr id="9" name="Text 7"/>
          <p:cNvSpPr/>
          <p:nvPr/>
        </p:nvSpPr>
        <p:spPr>
          <a:xfrm>
            <a:off x="475488" y="1453896"/>
            <a:ext cx="3794760" cy="777240"/>
          </a:xfrm>
          <a:prstGeom prst="rect">
            <a:avLst/>
          </a:prstGeom>
          <a:noFill/>
          <a:ln/>
        </p:spPr>
        <p:txBody>
          <a:bodyPr wrap="square" lIns="0" tIns="0" rIns="0" bIns="0" rtlCol="0" anchor="t"/>
          <a:lstStyle/>
          <a:p>
            <a:pPr marL="0" indent="0">
              <a:buNone/>
            </a:pPr>
            <a:r>
              <a:rPr lang="en-US" sz="1100" dirty="0">
                <a:solidFill>
                  <a:srgbClr val="212121"/>
                </a:solidFill>
                <a:latin typeface="Calibri" pitchFamily="34" charset="0"/>
                <a:ea typeface="Calibri" pitchFamily="34" charset="-122"/>
                <a:cs typeface="Calibri" pitchFamily="34" charset="-120"/>
              </a:rPr>
              <a:t>Checked every feature works for each user role — login, file upload, attendance, grades, admin tools.</a:t>
            </a:r>
            <a:endParaRPr lang="en-US" sz="1100" dirty="0"/>
          </a:p>
        </p:txBody>
      </p:sp>
      <p:sp>
        <p:nvSpPr>
          <p:cNvPr id="10" name="Shape 8"/>
          <p:cNvSpPr/>
          <p:nvPr/>
        </p:nvSpPr>
        <p:spPr>
          <a:xfrm>
            <a:off x="475488" y="2377440"/>
            <a:ext cx="3794760" cy="347472"/>
          </a:xfrm>
          <a:prstGeom prst="rect">
            <a:avLst/>
          </a:prstGeom>
          <a:solidFill>
            <a:srgbClr val="1A3C1A"/>
          </a:solidFill>
          <a:ln w="12700">
            <a:solidFill>
              <a:srgbClr val="1A3C1A"/>
            </a:solidFill>
            <a:prstDash val="solid"/>
          </a:ln>
        </p:spPr>
      </p:sp>
      <p:sp>
        <p:nvSpPr>
          <p:cNvPr id="11" name="Text 9"/>
          <p:cNvSpPr/>
          <p:nvPr/>
        </p:nvSpPr>
        <p:spPr>
          <a:xfrm>
            <a:off x="493776" y="2377440"/>
            <a:ext cx="3749040"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Result: All features passed</a:t>
            </a:r>
            <a:endParaRPr lang="en-US" sz="1050" dirty="0"/>
          </a:p>
        </p:txBody>
      </p:sp>
      <p:sp>
        <p:nvSpPr>
          <p:cNvPr id="12" name="Shape 10"/>
          <p:cNvSpPr/>
          <p:nvPr/>
        </p:nvSpPr>
        <p:spPr>
          <a:xfrm>
            <a:off x="4663440" y="960120"/>
            <a:ext cx="4023360" cy="1874520"/>
          </a:xfrm>
          <a:prstGeom prst="rect">
            <a:avLst/>
          </a:prstGeom>
          <a:solidFill>
            <a:srgbClr val="E8F5E9"/>
          </a:solidFill>
          <a:ln w="7620">
            <a:solidFill>
              <a:srgbClr val="C8E6C9"/>
            </a:solidFill>
            <a:prstDash val="solid"/>
          </a:ln>
        </p:spPr>
      </p:sp>
      <p:sp>
        <p:nvSpPr>
          <p:cNvPr id="13" name="Shape 11"/>
          <p:cNvSpPr/>
          <p:nvPr/>
        </p:nvSpPr>
        <p:spPr>
          <a:xfrm>
            <a:off x="4663440" y="960120"/>
            <a:ext cx="4023360" cy="54864"/>
          </a:xfrm>
          <a:prstGeom prst="rect">
            <a:avLst/>
          </a:prstGeom>
          <a:solidFill>
            <a:srgbClr val="2E7D32"/>
          </a:solidFill>
          <a:ln w="12700">
            <a:solidFill>
              <a:srgbClr val="2E7D32"/>
            </a:solidFill>
            <a:prstDash val="solid"/>
          </a:ln>
        </p:spPr>
      </p:sp>
      <p:sp>
        <p:nvSpPr>
          <p:cNvPr id="14" name="Text 12"/>
          <p:cNvSpPr/>
          <p:nvPr/>
        </p:nvSpPr>
        <p:spPr>
          <a:xfrm>
            <a:off x="4773168" y="1051560"/>
            <a:ext cx="3200400" cy="365760"/>
          </a:xfrm>
          <a:prstGeom prst="rect">
            <a:avLst/>
          </a:prstGeom>
          <a:noFill/>
          <a:ln/>
        </p:spPr>
        <p:txBody>
          <a:bodyPr wrap="square" lIns="0" tIns="0" rIns="0" bIns="0" rtlCol="0" anchor="ctr"/>
          <a:lstStyle/>
          <a:p>
            <a:pPr marL="0" indent="0">
              <a:buNone/>
            </a:pPr>
            <a:r>
              <a:rPr lang="en-US" sz="1250" b="1" dirty="0">
                <a:solidFill>
                  <a:srgbClr val="1A3C1A"/>
                </a:solidFill>
                <a:latin typeface="Calibri" pitchFamily="34" charset="0"/>
                <a:ea typeface="Calibri" pitchFamily="34" charset="-122"/>
                <a:cs typeface="Calibri" pitchFamily="34" charset="-120"/>
              </a:rPr>
              <a:t>Integration Testing</a:t>
            </a:r>
            <a:endParaRPr lang="en-US" sz="1250" dirty="0"/>
          </a:p>
        </p:txBody>
      </p:sp>
      <p:sp>
        <p:nvSpPr>
          <p:cNvPr id="15" name="Shape 13"/>
          <p:cNvSpPr/>
          <p:nvPr/>
        </p:nvSpPr>
        <p:spPr>
          <a:xfrm>
            <a:off x="7680960" y="1069848"/>
            <a:ext cx="896112" cy="256032"/>
          </a:xfrm>
          <a:prstGeom prst="rect">
            <a:avLst/>
          </a:prstGeom>
          <a:solidFill>
            <a:srgbClr val="2E7D32"/>
          </a:solidFill>
          <a:ln w="12700">
            <a:solidFill>
              <a:srgbClr val="2E7D32"/>
            </a:solidFill>
            <a:prstDash val="solid"/>
          </a:ln>
        </p:spPr>
      </p:sp>
      <p:sp>
        <p:nvSpPr>
          <p:cNvPr id="16" name="Text 14"/>
          <p:cNvSpPr/>
          <p:nvPr/>
        </p:nvSpPr>
        <p:spPr>
          <a:xfrm>
            <a:off x="7680960" y="1069848"/>
            <a:ext cx="89611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PASSED</a:t>
            </a:r>
            <a:endParaRPr lang="en-US" sz="900" dirty="0"/>
          </a:p>
        </p:txBody>
      </p:sp>
      <p:sp>
        <p:nvSpPr>
          <p:cNvPr id="17" name="Text 15"/>
          <p:cNvSpPr/>
          <p:nvPr/>
        </p:nvSpPr>
        <p:spPr>
          <a:xfrm>
            <a:off x="4773168" y="1453896"/>
            <a:ext cx="3794760" cy="777240"/>
          </a:xfrm>
          <a:prstGeom prst="rect">
            <a:avLst/>
          </a:prstGeom>
          <a:noFill/>
          <a:ln/>
        </p:spPr>
        <p:txBody>
          <a:bodyPr wrap="square" lIns="0" tIns="0" rIns="0" bIns="0" rtlCol="0" anchor="t"/>
          <a:lstStyle/>
          <a:p>
            <a:pPr marL="0" indent="0">
              <a:buNone/>
            </a:pPr>
            <a:r>
              <a:rPr lang="en-US" sz="1100" dirty="0">
                <a:solidFill>
                  <a:srgbClr val="212121"/>
                </a:solidFill>
                <a:latin typeface="Calibri" pitchFamily="34" charset="0"/>
                <a:ea typeface="Calibri" pitchFamily="34" charset="-122"/>
                <a:cs typeface="Calibri" pitchFamily="34" charset="-120"/>
              </a:rPr>
              <a:t>Confirmed data moves correctly between all four modules — e.g. teacher uploads appear instantly for students.</a:t>
            </a:r>
            <a:endParaRPr lang="en-US" sz="1100" dirty="0"/>
          </a:p>
        </p:txBody>
      </p:sp>
      <p:sp>
        <p:nvSpPr>
          <p:cNvPr id="18" name="Shape 16"/>
          <p:cNvSpPr/>
          <p:nvPr/>
        </p:nvSpPr>
        <p:spPr>
          <a:xfrm>
            <a:off x="4773168" y="2377440"/>
            <a:ext cx="3794760" cy="347472"/>
          </a:xfrm>
          <a:prstGeom prst="rect">
            <a:avLst/>
          </a:prstGeom>
          <a:solidFill>
            <a:srgbClr val="1A3C1A"/>
          </a:solidFill>
          <a:ln w="12700">
            <a:solidFill>
              <a:srgbClr val="1A3C1A"/>
            </a:solidFill>
            <a:prstDash val="solid"/>
          </a:ln>
        </p:spPr>
      </p:sp>
      <p:sp>
        <p:nvSpPr>
          <p:cNvPr id="19" name="Text 17"/>
          <p:cNvSpPr/>
          <p:nvPr/>
        </p:nvSpPr>
        <p:spPr>
          <a:xfrm>
            <a:off x="4791456" y="2377440"/>
            <a:ext cx="3749040"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Result: Seamless across all modules</a:t>
            </a:r>
            <a:endParaRPr lang="en-US" sz="1050" dirty="0"/>
          </a:p>
        </p:txBody>
      </p:sp>
      <p:sp>
        <p:nvSpPr>
          <p:cNvPr id="20" name="Shape 18"/>
          <p:cNvSpPr/>
          <p:nvPr/>
        </p:nvSpPr>
        <p:spPr>
          <a:xfrm>
            <a:off x="365760" y="2953512"/>
            <a:ext cx="4023360" cy="1874520"/>
          </a:xfrm>
          <a:prstGeom prst="rect">
            <a:avLst/>
          </a:prstGeom>
          <a:solidFill>
            <a:srgbClr val="E8F5E9"/>
          </a:solidFill>
          <a:ln w="7620">
            <a:solidFill>
              <a:srgbClr val="C8E6C9"/>
            </a:solidFill>
            <a:prstDash val="solid"/>
          </a:ln>
        </p:spPr>
      </p:sp>
      <p:sp>
        <p:nvSpPr>
          <p:cNvPr id="21" name="Shape 19"/>
          <p:cNvSpPr/>
          <p:nvPr/>
        </p:nvSpPr>
        <p:spPr>
          <a:xfrm>
            <a:off x="365760" y="2953512"/>
            <a:ext cx="4023360" cy="54864"/>
          </a:xfrm>
          <a:prstGeom prst="rect">
            <a:avLst/>
          </a:prstGeom>
          <a:solidFill>
            <a:srgbClr val="2E7D32"/>
          </a:solidFill>
          <a:ln w="12700">
            <a:solidFill>
              <a:srgbClr val="2E7D32"/>
            </a:solidFill>
            <a:prstDash val="solid"/>
          </a:ln>
        </p:spPr>
      </p:sp>
      <p:sp>
        <p:nvSpPr>
          <p:cNvPr id="22" name="Text 20"/>
          <p:cNvSpPr/>
          <p:nvPr/>
        </p:nvSpPr>
        <p:spPr>
          <a:xfrm>
            <a:off x="475488" y="3044952"/>
            <a:ext cx="3200400" cy="365760"/>
          </a:xfrm>
          <a:prstGeom prst="rect">
            <a:avLst/>
          </a:prstGeom>
          <a:noFill/>
          <a:ln/>
        </p:spPr>
        <p:txBody>
          <a:bodyPr wrap="square" lIns="0" tIns="0" rIns="0" bIns="0" rtlCol="0" anchor="ctr"/>
          <a:lstStyle/>
          <a:p>
            <a:pPr marL="0" indent="0">
              <a:buNone/>
            </a:pPr>
            <a:r>
              <a:rPr lang="en-US" sz="1250" b="1" dirty="0">
                <a:solidFill>
                  <a:srgbClr val="1A3C1A"/>
                </a:solidFill>
                <a:latin typeface="Calibri" pitchFamily="34" charset="0"/>
                <a:ea typeface="Calibri" pitchFamily="34" charset="-122"/>
                <a:cs typeface="Calibri" pitchFamily="34" charset="-120"/>
              </a:rPr>
              <a:t>Security Testing</a:t>
            </a:r>
            <a:endParaRPr lang="en-US" sz="1250" dirty="0"/>
          </a:p>
        </p:txBody>
      </p:sp>
      <p:sp>
        <p:nvSpPr>
          <p:cNvPr id="23" name="Shape 21"/>
          <p:cNvSpPr/>
          <p:nvPr/>
        </p:nvSpPr>
        <p:spPr>
          <a:xfrm>
            <a:off x="3383280" y="3063240"/>
            <a:ext cx="896112" cy="256032"/>
          </a:xfrm>
          <a:prstGeom prst="rect">
            <a:avLst/>
          </a:prstGeom>
          <a:solidFill>
            <a:srgbClr val="2E7D32"/>
          </a:solidFill>
          <a:ln w="12700">
            <a:solidFill>
              <a:srgbClr val="2E7D32"/>
            </a:solidFill>
            <a:prstDash val="solid"/>
          </a:ln>
        </p:spPr>
      </p:sp>
      <p:sp>
        <p:nvSpPr>
          <p:cNvPr id="24" name="Text 22"/>
          <p:cNvSpPr/>
          <p:nvPr/>
        </p:nvSpPr>
        <p:spPr>
          <a:xfrm>
            <a:off x="3383280" y="3063240"/>
            <a:ext cx="89611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PASSED</a:t>
            </a:r>
            <a:endParaRPr lang="en-US" sz="900" dirty="0"/>
          </a:p>
        </p:txBody>
      </p:sp>
      <p:sp>
        <p:nvSpPr>
          <p:cNvPr id="25" name="Text 23"/>
          <p:cNvSpPr/>
          <p:nvPr/>
        </p:nvSpPr>
        <p:spPr>
          <a:xfrm>
            <a:off x="475488" y="3447288"/>
            <a:ext cx="3794760" cy="777240"/>
          </a:xfrm>
          <a:prstGeom prst="rect">
            <a:avLst/>
          </a:prstGeom>
          <a:noFill/>
          <a:ln/>
        </p:spPr>
        <p:txBody>
          <a:bodyPr wrap="square" lIns="0" tIns="0" rIns="0" bIns="0" rtlCol="0" anchor="t"/>
          <a:lstStyle/>
          <a:p>
            <a:pPr marL="0" indent="0">
              <a:buNone/>
            </a:pPr>
            <a:r>
              <a:rPr lang="en-US" sz="1100" dirty="0">
                <a:solidFill>
                  <a:srgbClr val="212121"/>
                </a:solidFill>
                <a:latin typeface="Calibri" pitchFamily="34" charset="0"/>
                <a:ea typeface="Calibri" pitchFamily="34" charset="-122"/>
                <a:cs typeface="Calibri" pitchFamily="34" charset="-120"/>
              </a:rPr>
              <a:t>Attempted to access pages without permission and via direct URL manipulation. All attempts were blocked.</a:t>
            </a:r>
            <a:endParaRPr lang="en-US" sz="1100" dirty="0"/>
          </a:p>
        </p:txBody>
      </p:sp>
      <p:sp>
        <p:nvSpPr>
          <p:cNvPr id="26" name="Shape 24"/>
          <p:cNvSpPr/>
          <p:nvPr/>
        </p:nvSpPr>
        <p:spPr>
          <a:xfrm>
            <a:off x="475488" y="4370832"/>
            <a:ext cx="3794760" cy="347472"/>
          </a:xfrm>
          <a:prstGeom prst="rect">
            <a:avLst/>
          </a:prstGeom>
          <a:solidFill>
            <a:srgbClr val="1A3C1A"/>
          </a:solidFill>
          <a:ln w="12700">
            <a:solidFill>
              <a:srgbClr val="1A3C1A"/>
            </a:solidFill>
            <a:prstDash val="solid"/>
          </a:ln>
        </p:spPr>
      </p:sp>
      <p:sp>
        <p:nvSpPr>
          <p:cNvPr id="27" name="Text 25"/>
          <p:cNvSpPr/>
          <p:nvPr/>
        </p:nvSpPr>
        <p:spPr>
          <a:xfrm>
            <a:off x="493776" y="4370832"/>
            <a:ext cx="3749040"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Result: All access blocked</a:t>
            </a:r>
            <a:endParaRPr lang="en-US" sz="1050" dirty="0"/>
          </a:p>
        </p:txBody>
      </p:sp>
      <p:sp>
        <p:nvSpPr>
          <p:cNvPr id="28" name="Shape 26"/>
          <p:cNvSpPr/>
          <p:nvPr/>
        </p:nvSpPr>
        <p:spPr>
          <a:xfrm>
            <a:off x="4663440" y="2953512"/>
            <a:ext cx="4023360" cy="1874520"/>
          </a:xfrm>
          <a:prstGeom prst="rect">
            <a:avLst/>
          </a:prstGeom>
          <a:solidFill>
            <a:srgbClr val="E8F5E9"/>
          </a:solidFill>
          <a:ln w="7620">
            <a:solidFill>
              <a:srgbClr val="C8E6C9"/>
            </a:solidFill>
            <a:prstDash val="solid"/>
          </a:ln>
        </p:spPr>
      </p:sp>
      <p:sp>
        <p:nvSpPr>
          <p:cNvPr id="29" name="Shape 27"/>
          <p:cNvSpPr/>
          <p:nvPr/>
        </p:nvSpPr>
        <p:spPr>
          <a:xfrm>
            <a:off x="4663440" y="2953512"/>
            <a:ext cx="4023360" cy="54864"/>
          </a:xfrm>
          <a:prstGeom prst="rect">
            <a:avLst/>
          </a:prstGeom>
          <a:solidFill>
            <a:srgbClr val="2E7D32"/>
          </a:solidFill>
          <a:ln w="12700">
            <a:solidFill>
              <a:srgbClr val="2E7D32"/>
            </a:solidFill>
            <a:prstDash val="solid"/>
          </a:ln>
        </p:spPr>
      </p:sp>
      <p:sp>
        <p:nvSpPr>
          <p:cNvPr id="30" name="Text 28"/>
          <p:cNvSpPr/>
          <p:nvPr/>
        </p:nvSpPr>
        <p:spPr>
          <a:xfrm>
            <a:off x="4773168" y="3044952"/>
            <a:ext cx="3200400" cy="365760"/>
          </a:xfrm>
          <a:prstGeom prst="rect">
            <a:avLst/>
          </a:prstGeom>
          <a:noFill/>
          <a:ln/>
        </p:spPr>
        <p:txBody>
          <a:bodyPr wrap="square" lIns="0" tIns="0" rIns="0" bIns="0" rtlCol="0" anchor="ctr"/>
          <a:lstStyle/>
          <a:p>
            <a:pPr marL="0" indent="0">
              <a:buNone/>
            </a:pPr>
            <a:r>
              <a:rPr lang="en-US" sz="1250" b="1" dirty="0">
                <a:solidFill>
                  <a:srgbClr val="1A3C1A"/>
                </a:solidFill>
                <a:latin typeface="Calibri" pitchFamily="34" charset="0"/>
                <a:ea typeface="Calibri" pitchFamily="34" charset="-122"/>
                <a:cs typeface="Calibri" pitchFamily="34" charset="-120"/>
              </a:rPr>
              <a:t>User Acceptance Testing (UAT)</a:t>
            </a:r>
            <a:endParaRPr lang="en-US" sz="1250" dirty="0"/>
          </a:p>
        </p:txBody>
      </p:sp>
      <p:sp>
        <p:nvSpPr>
          <p:cNvPr id="31" name="Shape 29"/>
          <p:cNvSpPr/>
          <p:nvPr/>
        </p:nvSpPr>
        <p:spPr>
          <a:xfrm>
            <a:off x="7680960" y="3063240"/>
            <a:ext cx="896112" cy="256032"/>
          </a:xfrm>
          <a:prstGeom prst="rect">
            <a:avLst/>
          </a:prstGeom>
          <a:solidFill>
            <a:srgbClr val="2E7D32"/>
          </a:solidFill>
          <a:ln w="12700">
            <a:solidFill>
              <a:srgbClr val="2E7D32"/>
            </a:solidFill>
            <a:prstDash val="solid"/>
          </a:ln>
        </p:spPr>
      </p:sp>
      <p:sp>
        <p:nvSpPr>
          <p:cNvPr id="32" name="Text 30"/>
          <p:cNvSpPr/>
          <p:nvPr/>
        </p:nvSpPr>
        <p:spPr>
          <a:xfrm>
            <a:off x="7680960" y="3063240"/>
            <a:ext cx="896112" cy="256032"/>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PASSED</a:t>
            </a:r>
            <a:endParaRPr lang="en-US" sz="900" dirty="0"/>
          </a:p>
        </p:txBody>
      </p:sp>
      <p:sp>
        <p:nvSpPr>
          <p:cNvPr id="33" name="Text 31"/>
          <p:cNvSpPr/>
          <p:nvPr/>
        </p:nvSpPr>
        <p:spPr>
          <a:xfrm>
            <a:off x="4773168" y="3447288"/>
            <a:ext cx="3794760" cy="777240"/>
          </a:xfrm>
          <a:prstGeom prst="rect">
            <a:avLst/>
          </a:prstGeom>
          <a:noFill/>
          <a:ln/>
        </p:spPr>
        <p:txBody>
          <a:bodyPr wrap="square" lIns="0" tIns="0" rIns="0" bIns="0" rtlCol="0" anchor="t"/>
          <a:lstStyle/>
          <a:p>
            <a:pPr marL="0" indent="0">
              <a:buNone/>
            </a:pPr>
            <a:r>
              <a:rPr lang="en-US" sz="1100" dirty="0">
                <a:solidFill>
                  <a:srgbClr val="212121"/>
                </a:solidFill>
                <a:latin typeface="Calibri" pitchFamily="34" charset="0"/>
                <a:ea typeface="Calibri" pitchFamily="34" charset="-122"/>
                <a:cs typeface="Calibri" pitchFamily="34" charset="-120"/>
              </a:rPr>
              <a:t>Peers used the system as Admin, Teacher, Student, and Parent and gave feedback on ease of use.</a:t>
            </a:r>
            <a:endParaRPr lang="en-US" sz="1100" dirty="0"/>
          </a:p>
        </p:txBody>
      </p:sp>
      <p:sp>
        <p:nvSpPr>
          <p:cNvPr id="34" name="Shape 32"/>
          <p:cNvSpPr/>
          <p:nvPr/>
        </p:nvSpPr>
        <p:spPr>
          <a:xfrm>
            <a:off x="4773168" y="4370832"/>
            <a:ext cx="3794760" cy="347472"/>
          </a:xfrm>
          <a:prstGeom prst="rect">
            <a:avLst/>
          </a:prstGeom>
          <a:solidFill>
            <a:srgbClr val="1A3C1A"/>
          </a:solidFill>
          <a:ln w="12700">
            <a:solidFill>
              <a:srgbClr val="1A3C1A"/>
            </a:solidFill>
            <a:prstDash val="solid"/>
          </a:ln>
        </p:spPr>
      </p:sp>
      <p:sp>
        <p:nvSpPr>
          <p:cNvPr id="35" name="Text 33"/>
          <p:cNvSpPr/>
          <p:nvPr/>
        </p:nvSpPr>
        <p:spPr>
          <a:xfrm>
            <a:off x="4791456" y="4370832"/>
            <a:ext cx="3749040"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Result: Positive feedback received</a:t>
            </a:r>
            <a:endParaRPr lang="en-US" sz="1050" dirty="0"/>
          </a:p>
        </p:txBody>
      </p:sp>
      <p:sp>
        <p:nvSpPr>
          <p:cNvPr id="36" name="Text 34"/>
          <p:cNvSpPr/>
          <p:nvPr/>
        </p:nvSpPr>
        <p:spPr>
          <a:xfrm>
            <a:off x="365760" y="4892040"/>
            <a:ext cx="8412480" cy="201168"/>
          </a:xfrm>
          <a:prstGeom prst="rect">
            <a:avLst/>
          </a:prstGeom>
          <a:noFill/>
          <a:ln/>
        </p:spPr>
        <p:txBody>
          <a:bodyPr wrap="square" lIns="0" tIns="0" rIns="0" bIns="0" rtlCol="0" anchor="ctr"/>
          <a:lstStyle/>
          <a:p>
            <a:pPr marL="0" indent="0" algn="r">
              <a:buNone/>
            </a:pPr>
            <a:r>
              <a:rPr lang="en-US" sz="900" i="1" dirty="0">
                <a:solidFill>
                  <a:srgbClr val="AAAAAA"/>
                </a:solidFill>
                <a:latin typeface="Calibri" pitchFamily="34" charset="0"/>
                <a:ea typeface="Calibri" pitchFamily="34" charset="-122"/>
                <a:cs typeface="Calibri" pitchFamily="34" charset="-120"/>
              </a:rPr>
              <a:t>Avishek Pandey  |  IT Project Management  |  IT Student Management System</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C1A"/>
          </a:solidFill>
          <a:ln w="12700">
            <a:solidFill>
              <a:srgbClr val="1A3C1A"/>
            </a:solidFill>
            <a:prstDash val="solid"/>
          </a:ln>
        </p:spPr>
      </p:sp>
      <p:sp>
        <p:nvSpPr>
          <p:cNvPr id="3" name="Text 1"/>
          <p:cNvSpPr/>
          <p:nvPr/>
        </p:nvSpPr>
        <p:spPr>
          <a:xfrm>
            <a:off x="365760" y="0"/>
            <a:ext cx="8412480" cy="7772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Section 7  |  Areas for Further Development</a:t>
            </a:r>
            <a:endParaRPr lang="en-US" sz="2400" dirty="0"/>
          </a:p>
        </p:txBody>
      </p:sp>
      <p:sp>
        <p:nvSpPr>
          <p:cNvPr id="4" name="Shape 2"/>
          <p:cNvSpPr/>
          <p:nvPr/>
        </p:nvSpPr>
        <p:spPr>
          <a:xfrm>
            <a:off x="365760" y="932688"/>
            <a:ext cx="4023360" cy="1234440"/>
          </a:xfrm>
          <a:prstGeom prst="rect">
            <a:avLst/>
          </a:prstGeom>
          <a:solidFill>
            <a:srgbClr val="E8F5E9"/>
          </a:solidFill>
          <a:ln w="6350">
            <a:solidFill>
              <a:srgbClr val="C8E6C9"/>
            </a:solidFill>
            <a:prstDash val="solid"/>
          </a:ln>
        </p:spPr>
      </p:sp>
      <p:sp>
        <p:nvSpPr>
          <p:cNvPr id="5" name="Shape 3"/>
          <p:cNvSpPr/>
          <p:nvPr/>
        </p:nvSpPr>
        <p:spPr>
          <a:xfrm>
            <a:off x="475488" y="1024128"/>
            <a:ext cx="329184" cy="329184"/>
          </a:xfrm>
          <a:prstGeom prst="ellipse">
            <a:avLst/>
          </a:prstGeom>
          <a:solidFill>
            <a:srgbClr val="2E7D32"/>
          </a:solidFill>
          <a:ln w="12700">
            <a:solidFill>
              <a:srgbClr val="2E7D32"/>
            </a:solidFill>
            <a:prstDash val="solid"/>
          </a:ln>
        </p:spPr>
      </p:sp>
      <p:sp>
        <p:nvSpPr>
          <p:cNvPr id="6" name="Text 4"/>
          <p:cNvSpPr/>
          <p:nvPr/>
        </p:nvSpPr>
        <p:spPr>
          <a:xfrm>
            <a:off x="475488" y="10241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877824" y="1024128"/>
            <a:ext cx="3383280" cy="274320"/>
          </a:xfrm>
          <a:prstGeom prst="rect">
            <a:avLst/>
          </a:prstGeom>
          <a:noFill/>
          <a:ln/>
        </p:spPr>
        <p:txBody>
          <a:bodyPr wrap="square" lIns="0" tIns="0" rIns="0" bIns="0" rtlCol="0" anchor="ctr"/>
          <a:lstStyle/>
          <a:p>
            <a:pPr marL="0" indent="0">
              <a:buNone/>
            </a:pPr>
            <a:r>
              <a:rPr lang="en-US" sz="1250" b="1" dirty="0">
                <a:solidFill>
                  <a:srgbClr val="1A3C1A"/>
                </a:solidFill>
                <a:latin typeface="Calibri" pitchFamily="34" charset="0"/>
                <a:ea typeface="Calibri" pitchFamily="34" charset="-122"/>
                <a:cs typeface="Calibri" pitchFamily="34" charset="-120"/>
              </a:rPr>
              <a:t>Mobile-Friendly Design</a:t>
            </a:r>
            <a:endParaRPr lang="en-US" sz="1250" dirty="0"/>
          </a:p>
        </p:txBody>
      </p:sp>
      <p:sp>
        <p:nvSpPr>
          <p:cNvPr id="8" name="Text 6"/>
          <p:cNvSpPr/>
          <p:nvPr/>
        </p:nvSpPr>
        <p:spPr>
          <a:xfrm>
            <a:off x="493776" y="1353312"/>
            <a:ext cx="3749040" cy="731520"/>
          </a:xfrm>
          <a:prstGeom prst="rect">
            <a:avLst/>
          </a:prstGeom>
          <a:noFill/>
          <a:ln/>
        </p:spPr>
        <p:txBody>
          <a:bodyPr wrap="square" lIns="0" tIns="0" rIns="0" bIns="0" rtlCol="0" anchor="t"/>
          <a:lstStyle/>
          <a:p>
            <a:pPr marL="0" indent="0">
              <a:buNone/>
            </a:pPr>
            <a:r>
              <a:rPr lang="en-US" sz="1100" dirty="0">
                <a:solidFill>
                  <a:srgbClr val="212121"/>
                </a:solidFill>
                <a:latin typeface="Calibri" pitchFamily="34" charset="0"/>
                <a:ea typeface="Calibri" pitchFamily="34" charset="-122"/>
                <a:cs typeface="Calibri" pitchFamily="34" charset="-120"/>
              </a:rPr>
              <a:t>Make the website work well on phones. Most students and parents in Nepal, India, Bangladesh, and Pakistan use phones to access the internet, not computers.</a:t>
            </a:r>
            <a:endParaRPr lang="en-US" sz="1100" dirty="0"/>
          </a:p>
        </p:txBody>
      </p:sp>
      <p:sp>
        <p:nvSpPr>
          <p:cNvPr id="9" name="Shape 7"/>
          <p:cNvSpPr/>
          <p:nvPr/>
        </p:nvSpPr>
        <p:spPr>
          <a:xfrm>
            <a:off x="4663440" y="932688"/>
            <a:ext cx="4023360" cy="1234440"/>
          </a:xfrm>
          <a:prstGeom prst="rect">
            <a:avLst/>
          </a:prstGeom>
          <a:solidFill>
            <a:srgbClr val="FFFFFF"/>
          </a:solidFill>
          <a:ln w="6350">
            <a:solidFill>
              <a:srgbClr val="C8E6C9"/>
            </a:solidFill>
            <a:prstDash val="solid"/>
          </a:ln>
        </p:spPr>
      </p:sp>
      <p:sp>
        <p:nvSpPr>
          <p:cNvPr id="10" name="Shape 8"/>
          <p:cNvSpPr/>
          <p:nvPr/>
        </p:nvSpPr>
        <p:spPr>
          <a:xfrm>
            <a:off x="4773168" y="1024128"/>
            <a:ext cx="329184" cy="329184"/>
          </a:xfrm>
          <a:prstGeom prst="ellipse">
            <a:avLst/>
          </a:prstGeom>
          <a:solidFill>
            <a:srgbClr val="2E7D32"/>
          </a:solidFill>
          <a:ln w="12700">
            <a:solidFill>
              <a:srgbClr val="2E7D32"/>
            </a:solidFill>
            <a:prstDash val="solid"/>
          </a:ln>
        </p:spPr>
      </p:sp>
      <p:sp>
        <p:nvSpPr>
          <p:cNvPr id="11" name="Text 9"/>
          <p:cNvSpPr/>
          <p:nvPr/>
        </p:nvSpPr>
        <p:spPr>
          <a:xfrm>
            <a:off x="4773168" y="10241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5175504" y="1024128"/>
            <a:ext cx="3383280" cy="274320"/>
          </a:xfrm>
          <a:prstGeom prst="rect">
            <a:avLst/>
          </a:prstGeom>
          <a:noFill/>
          <a:ln/>
        </p:spPr>
        <p:txBody>
          <a:bodyPr wrap="square" lIns="0" tIns="0" rIns="0" bIns="0" rtlCol="0" anchor="ctr"/>
          <a:lstStyle/>
          <a:p>
            <a:pPr marL="0" indent="0">
              <a:buNone/>
            </a:pPr>
            <a:r>
              <a:rPr lang="en-US" sz="1250" b="1" dirty="0">
                <a:solidFill>
                  <a:srgbClr val="1A3C1A"/>
                </a:solidFill>
                <a:latin typeface="Calibri" pitchFamily="34" charset="0"/>
                <a:ea typeface="Calibri" pitchFamily="34" charset="-122"/>
                <a:cs typeface="Calibri" pitchFamily="34" charset="-120"/>
              </a:rPr>
              <a:t>Better Database</a:t>
            </a:r>
            <a:endParaRPr lang="en-US" sz="1250" dirty="0"/>
          </a:p>
        </p:txBody>
      </p:sp>
      <p:sp>
        <p:nvSpPr>
          <p:cNvPr id="13" name="Text 11"/>
          <p:cNvSpPr/>
          <p:nvPr/>
        </p:nvSpPr>
        <p:spPr>
          <a:xfrm>
            <a:off x="4791456" y="1353312"/>
            <a:ext cx="3749040" cy="731520"/>
          </a:xfrm>
          <a:prstGeom prst="rect">
            <a:avLst/>
          </a:prstGeom>
          <a:noFill/>
          <a:ln/>
        </p:spPr>
        <p:txBody>
          <a:bodyPr wrap="square" lIns="0" tIns="0" rIns="0" bIns="0" rtlCol="0" anchor="t"/>
          <a:lstStyle/>
          <a:p>
            <a:pPr marL="0" indent="0">
              <a:buNone/>
            </a:pPr>
            <a:r>
              <a:rPr lang="en-US" sz="1100" dirty="0">
                <a:solidFill>
                  <a:srgbClr val="212121"/>
                </a:solidFill>
                <a:latin typeface="Calibri" pitchFamily="34" charset="0"/>
                <a:ea typeface="Calibri" pitchFamily="34" charset="-122"/>
                <a:cs typeface="Calibri" pitchFamily="34" charset="-120"/>
              </a:rPr>
              <a:t>Switch from SQLite to PostgreSQL so the system can handle many users at the same time without slowing down.</a:t>
            </a:r>
            <a:endParaRPr lang="en-US" sz="1100" dirty="0"/>
          </a:p>
        </p:txBody>
      </p:sp>
      <p:sp>
        <p:nvSpPr>
          <p:cNvPr id="14" name="Shape 12"/>
          <p:cNvSpPr/>
          <p:nvPr/>
        </p:nvSpPr>
        <p:spPr>
          <a:xfrm>
            <a:off x="365760" y="2304288"/>
            <a:ext cx="4023360" cy="1234440"/>
          </a:xfrm>
          <a:prstGeom prst="rect">
            <a:avLst/>
          </a:prstGeom>
          <a:solidFill>
            <a:srgbClr val="E8F5E9"/>
          </a:solidFill>
          <a:ln w="6350">
            <a:solidFill>
              <a:srgbClr val="C8E6C9"/>
            </a:solidFill>
            <a:prstDash val="solid"/>
          </a:ln>
        </p:spPr>
      </p:sp>
      <p:sp>
        <p:nvSpPr>
          <p:cNvPr id="15" name="Shape 13"/>
          <p:cNvSpPr/>
          <p:nvPr/>
        </p:nvSpPr>
        <p:spPr>
          <a:xfrm>
            <a:off x="475488" y="2395728"/>
            <a:ext cx="329184" cy="329184"/>
          </a:xfrm>
          <a:prstGeom prst="ellipse">
            <a:avLst/>
          </a:prstGeom>
          <a:solidFill>
            <a:srgbClr val="2E7D32"/>
          </a:solidFill>
          <a:ln w="12700">
            <a:solidFill>
              <a:srgbClr val="2E7D32"/>
            </a:solidFill>
            <a:prstDash val="solid"/>
          </a:ln>
        </p:spPr>
      </p:sp>
      <p:sp>
        <p:nvSpPr>
          <p:cNvPr id="16" name="Text 14"/>
          <p:cNvSpPr/>
          <p:nvPr/>
        </p:nvSpPr>
        <p:spPr>
          <a:xfrm>
            <a:off x="475488" y="23957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877824" y="2395728"/>
            <a:ext cx="3383280" cy="274320"/>
          </a:xfrm>
          <a:prstGeom prst="rect">
            <a:avLst/>
          </a:prstGeom>
          <a:noFill/>
          <a:ln/>
        </p:spPr>
        <p:txBody>
          <a:bodyPr wrap="square" lIns="0" tIns="0" rIns="0" bIns="0" rtlCol="0" anchor="ctr"/>
          <a:lstStyle/>
          <a:p>
            <a:pPr marL="0" indent="0">
              <a:buNone/>
            </a:pPr>
            <a:r>
              <a:rPr lang="en-US" sz="1250" b="1" dirty="0">
                <a:solidFill>
                  <a:srgbClr val="1A3C1A"/>
                </a:solidFill>
                <a:latin typeface="Calibri" pitchFamily="34" charset="0"/>
                <a:ea typeface="Calibri" pitchFamily="34" charset="-122"/>
                <a:cs typeface="Calibri" pitchFamily="34" charset="-120"/>
              </a:rPr>
              <a:t>Host It Online</a:t>
            </a:r>
            <a:endParaRPr lang="en-US" sz="1250" dirty="0"/>
          </a:p>
        </p:txBody>
      </p:sp>
      <p:sp>
        <p:nvSpPr>
          <p:cNvPr id="18" name="Text 16"/>
          <p:cNvSpPr/>
          <p:nvPr/>
        </p:nvSpPr>
        <p:spPr>
          <a:xfrm>
            <a:off x="493776" y="2724912"/>
            <a:ext cx="3749040" cy="731520"/>
          </a:xfrm>
          <a:prstGeom prst="rect">
            <a:avLst/>
          </a:prstGeom>
          <a:noFill/>
          <a:ln/>
        </p:spPr>
        <p:txBody>
          <a:bodyPr wrap="square" lIns="0" tIns="0" rIns="0" bIns="0" rtlCol="0" anchor="t"/>
          <a:lstStyle/>
          <a:p>
            <a:pPr marL="0" indent="0">
              <a:buNone/>
            </a:pPr>
            <a:r>
              <a:rPr lang="en-US" sz="1100" dirty="0">
                <a:solidFill>
                  <a:srgbClr val="212121"/>
                </a:solidFill>
                <a:latin typeface="Calibri" pitchFamily="34" charset="0"/>
                <a:ea typeface="Calibri" pitchFamily="34" charset="-122"/>
                <a:cs typeface="Calibri" pitchFamily="34" charset="-120"/>
              </a:rPr>
              <a:t>Deploy to a cloud server (AWS or Heroku) so any school can access the system from anywhere — not just on a local network.</a:t>
            </a:r>
            <a:endParaRPr lang="en-US" sz="1100" dirty="0"/>
          </a:p>
        </p:txBody>
      </p:sp>
      <p:sp>
        <p:nvSpPr>
          <p:cNvPr id="19" name="Shape 17"/>
          <p:cNvSpPr/>
          <p:nvPr/>
        </p:nvSpPr>
        <p:spPr>
          <a:xfrm>
            <a:off x="4663440" y="2304288"/>
            <a:ext cx="4023360" cy="1234440"/>
          </a:xfrm>
          <a:prstGeom prst="rect">
            <a:avLst/>
          </a:prstGeom>
          <a:solidFill>
            <a:srgbClr val="FFFFFF"/>
          </a:solidFill>
          <a:ln w="6350">
            <a:solidFill>
              <a:srgbClr val="C8E6C9"/>
            </a:solidFill>
            <a:prstDash val="solid"/>
          </a:ln>
        </p:spPr>
      </p:sp>
      <p:sp>
        <p:nvSpPr>
          <p:cNvPr id="20" name="Shape 18"/>
          <p:cNvSpPr/>
          <p:nvPr/>
        </p:nvSpPr>
        <p:spPr>
          <a:xfrm>
            <a:off x="4773168" y="2395728"/>
            <a:ext cx="329184" cy="329184"/>
          </a:xfrm>
          <a:prstGeom prst="ellipse">
            <a:avLst/>
          </a:prstGeom>
          <a:solidFill>
            <a:srgbClr val="2E7D32"/>
          </a:solidFill>
          <a:ln w="12700">
            <a:solidFill>
              <a:srgbClr val="2E7D32"/>
            </a:solidFill>
            <a:prstDash val="solid"/>
          </a:ln>
        </p:spPr>
      </p:sp>
      <p:sp>
        <p:nvSpPr>
          <p:cNvPr id="21" name="Text 19"/>
          <p:cNvSpPr/>
          <p:nvPr/>
        </p:nvSpPr>
        <p:spPr>
          <a:xfrm>
            <a:off x="4773168" y="23957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5175504" y="2395728"/>
            <a:ext cx="3383280" cy="274320"/>
          </a:xfrm>
          <a:prstGeom prst="rect">
            <a:avLst/>
          </a:prstGeom>
          <a:noFill/>
          <a:ln/>
        </p:spPr>
        <p:txBody>
          <a:bodyPr wrap="square" lIns="0" tIns="0" rIns="0" bIns="0" rtlCol="0" anchor="ctr"/>
          <a:lstStyle/>
          <a:p>
            <a:pPr marL="0" indent="0">
              <a:buNone/>
            </a:pPr>
            <a:r>
              <a:rPr lang="en-US" sz="1250" b="1" dirty="0">
                <a:solidFill>
                  <a:srgbClr val="1A3C1A"/>
                </a:solidFill>
                <a:latin typeface="Calibri" pitchFamily="34" charset="0"/>
                <a:ea typeface="Calibri" pitchFamily="34" charset="-122"/>
                <a:cs typeface="Calibri" pitchFamily="34" charset="-120"/>
              </a:rPr>
              <a:t>Notifications</a:t>
            </a:r>
            <a:endParaRPr lang="en-US" sz="1250" dirty="0"/>
          </a:p>
        </p:txBody>
      </p:sp>
      <p:sp>
        <p:nvSpPr>
          <p:cNvPr id="23" name="Text 21"/>
          <p:cNvSpPr/>
          <p:nvPr/>
        </p:nvSpPr>
        <p:spPr>
          <a:xfrm>
            <a:off x="4791456" y="2724912"/>
            <a:ext cx="3749040" cy="731520"/>
          </a:xfrm>
          <a:prstGeom prst="rect">
            <a:avLst/>
          </a:prstGeom>
          <a:noFill/>
          <a:ln/>
        </p:spPr>
        <p:txBody>
          <a:bodyPr wrap="square" lIns="0" tIns="0" rIns="0" bIns="0" rtlCol="0" anchor="t"/>
          <a:lstStyle/>
          <a:p>
            <a:pPr marL="0" indent="0">
              <a:buNone/>
            </a:pPr>
            <a:r>
              <a:rPr lang="en-US" sz="1100" dirty="0">
                <a:solidFill>
                  <a:srgbClr val="212121"/>
                </a:solidFill>
                <a:latin typeface="Calibri" pitchFamily="34" charset="0"/>
                <a:ea typeface="Calibri" pitchFamily="34" charset="-122"/>
                <a:cs typeface="Calibri" pitchFamily="34" charset="-120"/>
              </a:rPr>
              <a:t>Send emails or in-app alerts when materials are uploaded, grades are updated, or a student's attendance is getting low.</a:t>
            </a:r>
            <a:endParaRPr lang="en-US" sz="1100" dirty="0"/>
          </a:p>
        </p:txBody>
      </p:sp>
      <p:sp>
        <p:nvSpPr>
          <p:cNvPr id="24" name="Shape 22"/>
          <p:cNvSpPr/>
          <p:nvPr/>
        </p:nvSpPr>
        <p:spPr>
          <a:xfrm>
            <a:off x="365760" y="3675888"/>
            <a:ext cx="4023360" cy="1234440"/>
          </a:xfrm>
          <a:prstGeom prst="rect">
            <a:avLst/>
          </a:prstGeom>
          <a:solidFill>
            <a:srgbClr val="E8F5E9"/>
          </a:solidFill>
          <a:ln w="6350">
            <a:solidFill>
              <a:srgbClr val="C8E6C9"/>
            </a:solidFill>
            <a:prstDash val="solid"/>
          </a:ln>
        </p:spPr>
      </p:sp>
      <p:sp>
        <p:nvSpPr>
          <p:cNvPr id="25" name="Shape 23"/>
          <p:cNvSpPr/>
          <p:nvPr/>
        </p:nvSpPr>
        <p:spPr>
          <a:xfrm>
            <a:off x="475488" y="3767328"/>
            <a:ext cx="329184" cy="329184"/>
          </a:xfrm>
          <a:prstGeom prst="ellipse">
            <a:avLst/>
          </a:prstGeom>
          <a:solidFill>
            <a:srgbClr val="2E7D32"/>
          </a:solidFill>
          <a:ln w="12700">
            <a:solidFill>
              <a:srgbClr val="2E7D32"/>
            </a:solidFill>
            <a:prstDash val="solid"/>
          </a:ln>
        </p:spPr>
      </p:sp>
      <p:sp>
        <p:nvSpPr>
          <p:cNvPr id="26" name="Text 24"/>
          <p:cNvSpPr/>
          <p:nvPr/>
        </p:nvSpPr>
        <p:spPr>
          <a:xfrm>
            <a:off x="475488" y="37673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877824" y="3767328"/>
            <a:ext cx="3383280" cy="274320"/>
          </a:xfrm>
          <a:prstGeom prst="rect">
            <a:avLst/>
          </a:prstGeom>
          <a:noFill/>
          <a:ln/>
        </p:spPr>
        <p:txBody>
          <a:bodyPr wrap="square" lIns="0" tIns="0" rIns="0" bIns="0" rtlCol="0" anchor="ctr"/>
          <a:lstStyle/>
          <a:p>
            <a:pPr marL="0" indent="0">
              <a:buNone/>
            </a:pPr>
            <a:r>
              <a:rPr lang="en-US" sz="1250" b="1" dirty="0">
                <a:solidFill>
                  <a:srgbClr val="1A3C1A"/>
                </a:solidFill>
                <a:latin typeface="Calibri" pitchFamily="34" charset="0"/>
                <a:ea typeface="Calibri" pitchFamily="34" charset="-122"/>
                <a:cs typeface="Calibri" pitchFamily="34" charset="-120"/>
              </a:rPr>
              <a:t>Reports &amp; Charts</a:t>
            </a:r>
            <a:endParaRPr lang="en-US" sz="1250" dirty="0"/>
          </a:p>
        </p:txBody>
      </p:sp>
      <p:sp>
        <p:nvSpPr>
          <p:cNvPr id="28" name="Text 26"/>
          <p:cNvSpPr/>
          <p:nvPr/>
        </p:nvSpPr>
        <p:spPr>
          <a:xfrm>
            <a:off x="493776" y="4096512"/>
            <a:ext cx="3749040" cy="731520"/>
          </a:xfrm>
          <a:prstGeom prst="rect">
            <a:avLst/>
          </a:prstGeom>
          <a:noFill/>
          <a:ln/>
        </p:spPr>
        <p:txBody>
          <a:bodyPr wrap="square" lIns="0" tIns="0" rIns="0" bIns="0" rtlCol="0" anchor="t"/>
          <a:lstStyle/>
          <a:p>
            <a:pPr marL="0" indent="0">
              <a:buNone/>
            </a:pPr>
            <a:r>
              <a:rPr lang="en-US" sz="1100" dirty="0">
                <a:solidFill>
                  <a:srgbClr val="212121"/>
                </a:solidFill>
                <a:latin typeface="Calibri" pitchFamily="34" charset="0"/>
                <a:ea typeface="Calibri" pitchFamily="34" charset="-122"/>
                <a:cs typeface="Calibri" pitchFamily="34" charset="-120"/>
              </a:rPr>
              <a:t>Add a simple analytics page for admins and parents showing attendance trends, grade summaries, and class performance.</a:t>
            </a:r>
            <a:endParaRPr lang="en-US" sz="1100" dirty="0"/>
          </a:p>
        </p:txBody>
      </p:sp>
      <p:sp>
        <p:nvSpPr>
          <p:cNvPr id="29" name="Shape 27"/>
          <p:cNvSpPr/>
          <p:nvPr/>
        </p:nvSpPr>
        <p:spPr>
          <a:xfrm>
            <a:off x="4663440" y="3675888"/>
            <a:ext cx="4023360" cy="1234440"/>
          </a:xfrm>
          <a:prstGeom prst="rect">
            <a:avLst/>
          </a:prstGeom>
          <a:solidFill>
            <a:srgbClr val="FFFFFF"/>
          </a:solidFill>
          <a:ln w="6350">
            <a:solidFill>
              <a:srgbClr val="C8E6C9"/>
            </a:solidFill>
            <a:prstDash val="solid"/>
          </a:ln>
        </p:spPr>
      </p:sp>
      <p:sp>
        <p:nvSpPr>
          <p:cNvPr id="30" name="Shape 28"/>
          <p:cNvSpPr/>
          <p:nvPr/>
        </p:nvSpPr>
        <p:spPr>
          <a:xfrm>
            <a:off x="4773168" y="3767328"/>
            <a:ext cx="329184" cy="329184"/>
          </a:xfrm>
          <a:prstGeom prst="ellipse">
            <a:avLst/>
          </a:prstGeom>
          <a:solidFill>
            <a:srgbClr val="2E7D32"/>
          </a:solidFill>
          <a:ln w="12700">
            <a:solidFill>
              <a:srgbClr val="2E7D32"/>
            </a:solidFill>
            <a:prstDash val="solid"/>
          </a:ln>
        </p:spPr>
      </p:sp>
      <p:sp>
        <p:nvSpPr>
          <p:cNvPr id="31" name="Text 29"/>
          <p:cNvSpPr/>
          <p:nvPr/>
        </p:nvSpPr>
        <p:spPr>
          <a:xfrm>
            <a:off x="4773168" y="37673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p:nvPr/>
        </p:nvSpPr>
        <p:spPr>
          <a:xfrm>
            <a:off x="5175504" y="3767328"/>
            <a:ext cx="3383280" cy="274320"/>
          </a:xfrm>
          <a:prstGeom prst="rect">
            <a:avLst/>
          </a:prstGeom>
          <a:noFill/>
          <a:ln/>
        </p:spPr>
        <p:txBody>
          <a:bodyPr wrap="square" lIns="0" tIns="0" rIns="0" bIns="0" rtlCol="0" anchor="ctr"/>
          <a:lstStyle/>
          <a:p>
            <a:pPr marL="0" indent="0">
              <a:buNone/>
            </a:pPr>
            <a:r>
              <a:rPr lang="en-US" sz="1250" b="1" dirty="0">
                <a:solidFill>
                  <a:srgbClr val="1A3C1A"/>
                </a:solidFill>
                <a:latin typeface="Calibri" pitchFamily="34" charset="0"/>
                <a:ea typeface="Calibri" pitchFamily="34" charset="-122"/>
                <a:cs typeface="Calibri" pitchFamily="34" charset="-120"/>
              </a:rPr>
              <a:t>More Languages</a:t>
            </a:r>
            <a:endParaRPr lang="en-US" sz="1250" dirty="0"/>
          </a:p>
        </p:txBody>
      </p:sp>
      <p:sp>
        <p:nvSpPr>
          <p:cNvPr id="33" name="Text 31"/>
          <p:cNvSpPr/>
          <p:nvPr/>
        </p:nvSpPr>
        <p:spPr>
          <a:xfrm>
            <a:off x="4791456" y="4096512"/>
            <a:ext cx="3749040" cy="731520"/>
          </a:xfrm>
          <a:prstGeom prst="rect">
            <a:avLst/>
          </a:prstGeom>
          <a:noFill/>
          <a:ln/>
        </p:spPr>
        <p:txBody>
          <a:bodyPr wrap="square" lIns="0" tIns="0" rIns="0" bIns="0" rtlCol="0" anchor="t"/>
          <a:lstStyle/>
          <a:p>
            <a:pPr marL="0" indent="0">
              <a:buNone/>
            </a:pPr>
            <a:r>
              <a:rPr lang="en-US" sz="1100" dirty="0">
                <a:solidFill>
                  <a:srgbClr val="212121"/>
                </a:solidFill>
                <a:latin typeface="Calibri" pitchFamily="34" charset="0"/>
                <a:ea typeface="Calibri" pitchFamily="34" charset="-122"/>
                <a:cs typeface="Calibri" pitchFamily="34" charset="-120"/>
              </a:rPr>
              <a:t>Add Nepali, Hindi, Bengali, and Urdu so users can choose their preferred language — important for the target markets.</a:t>
            </a:r>
            <a:endParaRPr lang="en-US" sz="1100" dirty="0"/>
          </a:p>
        </p:txBody>
      </p:sp>
      <p:sp>
        <p:nvSpPr>
          <p:cNvPr id="34" name="Text 32"/>
          <p:cNvSpPr/>
          <p:nvPr/>
        </p:nvSpPr>
        <p:spPr>
          <a:xfrm>
            <a:off x="365760" y="4892040"/>
            <a:ext cx="8412480" cy="201168"/>
          </a:xfrm>
          <a:prstGeom prst="rect">
            <a:avLst/>
          </a:prstGeom>
          <a:noFill/>
          <a:ln/>
        </p:spPr>
        <p:txBody>
          <a:bodyPr wrap="square" lIns="0" tIns="0" rIns="0" bIns="0" rtlCol="0" anchor="ctr"/>
          <a:lstStyle/>
          <a:p>
            <a:pPr marL="0" indent="0" algn="r">
              <a:buNone/>
            </a:pPr>
            <a:r>
              <a:rPr lang="en-US" sz="900" i="1" dirty="0">
                <a:solidFill>
                  <a:srgbClr val="AAAAAA"/>
                </a:solidFill>
                <a:latin typeface="Calibri" pitchFamily="34" charset="0"/>
                <a:ea typeface="Calibri" pitchFamily="34" charset="-122"/>
                <a:cs typeface="Calibri" pitchFamily="34" charset="-120"/>
              </a:rPr>
              <a:t>Avishek Pandey  |  IT Project Management  |  IT Student Management System</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3C1A"/>
        </a:solidFill>
        <a:effectLst/>
      </p:bgPr>
    </p:bg>
    <p:spTree>
      <p:nvGrpSpPr>
        <p:cNvPr id="1" name=""/>
        <p:cNvGrpSpPr/>
        <p:nvPr/>
      </p:nvGrpSpPr>
      <p:grpSpPr>
        <a:xfrm>
          <a:off x="0" y="0"/>
          <a:ext cx="0" cy="0"/>
          <a:chOff x="0" y="0"/>
          <a:chExt cx="0" cy="0"/>
        </a:xfrm>
      </p:grpSpPr>
      <p:sp>
        <p:nvSpPr>
          <p:cNvPr id="2" name="Text 0"/>
          <p:cNvSpPr/>
          <p:nvPr/>
        </p:nvSpPr>
        <p:spPr>
          <a:xfrm>
            <a:off x="457200" y="347472"/>
            <a:ext cx="8229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Section 8  |  Conclusion</a:t>
            </a:r>
            <a:endParaRPr lang="en-US" sz="2400" dirty="0"/>
          </a:p>
        </p:txBody>
      </p:sp>
      <p:sp>
        <p:nvSpPr>
          <p:cNvPr id="3" name="Shape 1"/>
          <p:cNvSpPr/>
          <p:nvPr/>
        </p:nvSpPr>
        <p:spPr>
          <a:xfrm>
            <a:off x="2286000" y="969264"/>
            <a:ext cx="4572000" cy="45720"/>
          </a:xfrm>
          <a:prstGeom prst="rect">
            <a:avLst/>
          </a:prstGeom>
          <a:solidFill>
            <a:srgbClr val="2E7D32"/>
          </a:solidFill>
          <a:ln w="12700">
            <a:solidFill>
              <a:srgbClr val="2E7D32"/>
            </a:solidFill>
            <a:prstDash val="solid"/>
          </a:ln>
        </p:spPr>
      </p:sp>
      <p:sp>
        <p:nvSpPr>
          <p:cNvPr id="4" name="Shape 2"/>
          <p:cNvSpPr/>
          <p:nvPr/>
        </p:nvSpPr>
        <p:spPr>
          <a:xfrm>
            <a:off x="365760" y="1115568"/>
            <a:ext cx="54864" cy="438912"/>
          </a:xfrm>
          <a:prstGeom prst="rect">
            <a:avLst/>
          </a:prstGeom>
          <a:solidFill>
            <a:srgbClr val="2E7D32"/>
          </a:solidFill>
          <a:ln w="12700">
            <a:solidFill>
              <a:srgbClr val="2E7D32"/>
            </a:solidFill>
            <a:prstDash val="solid"/>
          </a:ln>
        </p:spPr>
      </p:sp>
      <p:sp>
        <p:nvSpPr>
          <p:cNvPr id="5" name="Text 3"/>
          <p:cNvSpPr/>
          <p:nvPr/>
        </p:nvSpPr>
        <p:spPr>
          <a:xfrm>
            <a:off x="548640" y="1115568"/>
            <a:ext cx="8229600" cy="228600"/>
          </a:xfrm>
          <a:prstGeom prst="rect">
            <a:avLst/>
          </a:prstGeom>
          <a:noFill/>
          <a:ln/>
        </p:spPr>
        <p:txBody>
          <a:bodyPr wrap="square" lIns="0" tIns="0" rIns="0" bIns="0" rtlCol="0" anchor="ctr"/>
          <a:lstStyle/>
          <a:p>
            <a:pPr marL="0" indent="0">
              <a:buNone/>
            </a:pPr>
            <a:r>
              <a:rPr lang="en-US" sz="1250" b="1" dirty="0">
                <a:solidFill>
                  <a:srgbClr val="A5D6A7"/>
                </a:solidFill>
                <a:latin typeface="Calibri" pitchFamily="34" charset="0"/>
                <a:ea typeface="Calibri" pitchFamily="34" charset="-122"/>
                <a:cs typeface="Calibri" pitchFamily="34" charset="-120"/>
              </a:rPr>
              <a:t>Complete working system delivered</a:t>
            </a:r>
            <a:endParaRPr lang="en-US" sz="1250" dirty="0"/>
          </a:p>
        </p:txBody>
      </p:sp>
      <p:sp>
        <p:nvSpPr>
          <p:cNvPr id="6" name="Text 4"/>
          <p:cNvSpPr/>
          <p:nvPr/>
        </p:nvSpPr>
        <p:spPr>
          <a:xfrm>
            <a:off x="548640" y="1344168"/>
            <a:ext cx="8229600" cy="219456"/>
          </a:xfrm>
          <a:prstGeom prst="rect">
            <a:avLst/>
          </a:prstGeom>
          <a:noFill/>
          <a:ln/>
        </p:spPr>
        <p:txBody>
          <a:bodyPr wrap="square" lIns="0" tIns="0" rIns="0" bIns="0" rtlCol="0" anchor="ctr"/>
          <a:lstStyle/>
          <a:p>
            <a:pPr marL="0" indent="0">
              <a:buNone/>
            </a:pPr>
            <a:r>
              <a:rPr lang="en-US" sz="1100" dirty="0">
                <a:solidFill>
                  <a:srgbClr val="E0E0E0"/>
                </a:solidFill>
                <a:latin typeface="Calibri" pitchFamily="34" charset="0"/>
                <a:ea typeface="Calibri" pitchFamily="34" charset="-122"/>
                <a:cs typeface="Calibri" pitchFamily="34" charset="-120"/>
              </a:rPr>
              <a:t>All four modules (Admin, Teacher, Student, Parent) were built, integrated, and delivered in 13 weeks.</a:t>
            </a:r>
            <a:endParaRPr lang="en-US" sz="1100" dirty="0"/>
          </a:p>
        </p:txBody>
      </p:sp>
      <p:sp>
        <p:nvSpPr>
          <p:cNvPr id="7" name="Shape 5"/>
          <p:cNvSpPr/>
          <p:nvPr/>
        </p:nvSpPr>
        <p:spPr>
          <a:xfrm>
            <a:off x="365760" y="1719072"/>
            <a:ext cx="54864" cy="438912"/>
          </a:xfrm>
          <a:prstGeom prst="rect">
            <a:avLst/>
          </a:prstGeom>
          <a:solidFill>
            <a:srgbClr val="2E7D32"/>
          </a:solidFill>
          <a:ln w="12700">
            <a:solidFill>
              <a:srgbClr val="2E7D32"/>
            </a:solidFill>
            <a:prstDash val="solid"/>
          </a:ln>
        </p:spPr>
      </p:sp>
      <p:sp>
        <p:nvSpPr>
          <p:cNvPr id="8" name="Text 6"/>
          <p:cNvSpPr/>
          <p:nvPr/>
        </p:nvSpPr>
        <p:spPr>
          <a:xfrm>
            <a:off x="548640" y="1719072"/>
            <a:ext cx="8229600" cy="228600"/>
          </a:xfrm>
          <a:prstGeom prst="rect">
            <a:avLst/>
          </a:prstGeom>
          <a:noFill/>
          <a:ln/>
        </p:spPr>
        <p:txBody>
          <a:bodyPr wrap="square" lIns="0" tIns="0" rIns="0" bIns="0" rtlCol="0" anchor="ctr"/>
          <a:lstStyle/>
          <a:p>
            <a:pPr marL="0" indent="0">
              <a:buNone/>
            </a:pPr>
            <a:r>
              <a:rPr lang="en-US" sz="1250" b="1" dirty="0">
                <a:solidFill>
                  <a:srgbClr val="A5D6A7"/>
                </a:solidFill>
                <a:latin typeface="Calibri" pitchFamily="34" charset="0"/>
                <a:ea typeface="Calibri" pitchFamily="34" charset="-122"/>
                <a:cs typeface="Calibri" pitchFamily="34" charset="-120"/>
              </a:rPr>
              <a:t>Problem solved</a:t>
            </a:r>
            <a:endParaRPr lang="en-US" sz="1250" dirty="0"/>
          </a:p>
        </p:txBody>
      </p:sp>
      <p:sp>
        <p:nvSpPr>
          <p:cNvPr id="9" name="Text 7"/>
          <p:cNvSpPr/>
          <p:nvPr/>
        </p:nvSpPr>
        <p:spPr>
          <a:xfrm>
            <a:off x="548640" y="1947672"/>
            <a:ext cx="8229600" cy="219456"/>
          </a:xfrm>
          <a:prstGeom prst="rect">
            <a:avLst/>
          </a:prstGeom>
          <a:noFill/>
          <a:ln/>
        </p:spPr>
        <p:txBody>
          <a:bodyPr wrap="square" lIns="0" tIns="0" rIns="0" bIns="0" rtlCol="0" anchor="ctr"/>
          <a:lstStyle/>
          <a:p>
            <a:pPr marL="0" indent="0">
              <a:buNone/>
            </a:pPr>
            <a:r>
              <a:rPr lang="en-US" sz="1100" dirty="0">
                <a:solidFill>
                  <a:srgbClr val="E0E0E0"/>
                </a:solidFill>
                <a:latin typeface="Calibri" pitchFamily="34" charset="0"/>
                <a:ea typeface="Calibri" pitchFamily="34" charset="-122"/>
                <a:cs typeface="Calibri" pitchFamily="34" charset="-120"/>
              </a:rPr>
              <a:t>Schools now have one place to manage accounts, materials, attendance, grades, and parent visibility.</a:t>
            </a:r>
            <a:endParaRPr lang="en-US" sz="1100" dirty="0"/>
          </a:p>
        </p:txBody>
      </p:sp>
      <p:sp>
        <p:nvSpPr>
          <p:cNvPr id="10" name="Shape 8"/>
          <p:cNvSpPr/>
          <p:nvPr/>
        </p:nvSpPr>
        <p:spPr>
          <a:xfrm>
            <a:off x="365760" y="2322576"/>
            <a:ext cx="54864" cy="438912"/>
          </a:xfrm>
          <a:prstGeom prst="rect">
            <a:avLst/>
          </a:prstGeom>
          <a:solidFill>
            <a:srgbClr val="2E7D32"/>
          </a:solidFill>
          <a:ln w="12700">
            <a:solidFill>
              <a:srgbClr val="2E7D32"/>
            </a:solidFill>
            <a:prstDash val="solid"/>
          </a:ln>
        </p:spPr>
      </p:sp>
      <p:sp>
        <p:nvSpPr>
          <p:cNvPr id="11" name="Text 9"/>
          <p:cNvSpPr/>
          <p:nvPr/>
        </p:nvSpPr>
        <p:spPr>
          <a:xfrm>
            <a:off x="548640" y="2322576"/>
            <a:ext cx="8229600" cy="228600"/>
          </a:xfrm>
          <a:prstGeom prst="rect">
            <a:avLst/>
          </a:prstGeom>
          <a:noFill/>
          <a:ln/>
        </p:spPr>
        <p:txBody>
          <a:bodyPr wrap="square" lIns="0" tIns="0" rIns="0" bIns="0" rtlCol="0" anchor="ctr"/>
          <a:lstStyle/>
          <a:p>
            <a:pPr marL="0" indent="0">
              <a:buNone/>
            </a:pPr>
            <a:r>
              <a:rPr lang="en-US" sz="1250" b="1" dirty="0">
                <a:solidFill>
                  <a:srgbClr val="A5D6A7"/>
                </a:solidFill>
                <a:latin typeface="Calibri" pitchFamily="34" charset="0"/>
                <a:ea typeface="Calibri" pitchFamily="34" charset="-122"/>
                <a:cs typeface="Calibri" pitchFamily="34" charset="-120"/>
              </a:rPr>
              <a:t>All testing passed</a:t>
            </a:r>
            <a:endParaRPr lang="en-US" sz="1250" dirty="0"/>
          </a:p>
        </p:txBody>
      </p:sp>
      <p:sp>
        <p:nvSpPr>
          <p:cNvPr id="12" name="Text 10"/>
          <p:cNvSpPr/>
          <p:nvPr/>
        </p:nvSpPr>
        <p:spPr>
          <a:xfrm>
            <a:off x="548640" y="2551176"/>
            <a:ext cx="8229600" cy="219456"/>
          </a:xfrm>
          <a:prstGeom prst="rect">
            <a:avLst/>
          </a:prstGeom>
          <a:noFill/>
          <a:ln/>
        </p:spPr>
        <p:txBody>
          <a:bodyPr wrap="square" lIns="0" tIns="0" rIns="0" bIns="0" rtlCol="0" anchor="ctr"/>
          <a:lstStyle/>
          <a:p>
            <a:pPr marL="0" indent="0">
              <a:buNone/>
            </a:pPr>
            <a:r>
              <a:rPr lang="en-US" sz="1100" dirty="0">
                <a:solidFill>
                  <a:srgbClr val="E0E0E0"/>
                </a:solidFill>
                <a:latin typeface="Calibri" pitchFamily="34" charset="0"/>
                <a:ea typeface="Calibri" pitchFamily="34" charset="-122"/>
                <a:cs typeface="Calibri" pitchFamily="34" charset="-120"/>
              </a:rPr>
              <a:t>Functional, integration, security, and user acceptance tests all passed with no critical issues.</a:t>
            </a:r>
            <a:endParaRPr lang="en-US" sz="1100" dirty="0"/>
          </a:p>
        </p:txBody>
      </p:sp>
      <p:sp>
        <p:nvSpPr>
          <p:cNvPr id="13" name="Shape 11"/>
          <p:cNvSpPr/>
          <p:nvPr/>
        </p:nvSpPr>
        <p:spPr>
          <a:xfrm>
            <a:off x="365760" y="2926080"/>
            <a:ext cx="54864" cy="438912"/>
          </a:xfrm>
          <a:prstGeom prst="rect">
            <a:avLst/>
          </a:prstGeom>
          <a:solidFill>
            <a:srgbClr val="2E7D32"/>
          </a:solidFill>
          <a:ln w="12700">
            <a:solidFill>
              <a:srgbClr val="2E7D32"/>
            </a:solidFill>
            <a:prstDash val="solid"/>
          </a:ln>
        </p:spPr>
      </p:sp>
      <p:sp>
        <p:nvSpPr>
          <p:cNvPr id="14" name="Text 12"/>
          <p:cNvSpPr/>
          <p:nvPr/>
        </p:nvSpPr>
        <p:spPr>
          <a:xfrm>
            <a:off x="548640" y="2926080"/>
            <a:ext cx="8229600" cy="228600"/>
          </a:xfrm>
          <a:prstGeom prst="rect">
            <a:avLst/>
          </a:prstGeom>
          <a:noFill/>
          <a:ln/>
        </p:spPr>
        <p:txBody>
          <a:bodyPr wrap="square" lIns="0" tIns="0" rIns="0" bIns="0" rtlCol="0" anchor="ctr"/>
          <a:lstStyle/>
          <a:p>
            <a:pPr marL="0" indent="0">
              <a:buNone/>
            </a:pPr>
            <a:r>
              <a:rPr lang="en-US" sz="1250" b="1" dirty="0">
                <a:solidFill>
                  <a:srgbClr val="A5D6A7"/>
                </a:solidFill>
                <a:latin typeface="Calibri" pitchFamily="34" charset="0"/>
                <a:ea typeface="Calibri" pitchFamily="34" charset="-122"/>
                <a:cs typeface="Calibri" pitchFamily="34" charset="-120"/>
              </a:rPr>
              <a:t>Peer feedback acted on</a:t>
            </a:r>
            <a:endParaRPr lang="en-US" sz="1250" dirty="0"/>
          </a:p>
        </p:txBody>
      </p:sp>
      <p:sp>
        <p:nvSpPr>
          <p:cNvPr id="15" name="Text 13"/>
          <p:cNvSpPr/>
          <p:nvPr/>
        </p:nvSpPr>
        <p:spPr>
          <a:xfrm>
            <a:off x="548640" y="3154680"/>
            <a:ext cx="8229600" cy="219456"/>
          </a:xfrm>
          <a:prstGeom prst="rect">
            <a:avLst/>
          </a:prstGeom>
          <a:noFill/>
          <a:ln/>
        </p:spPr>
        <p:txBody>
          <a:bodyPr wrap="square" lIns="0" tIns="0" rIns="0" bIns="0" rtlCol="0" anchor="ctr"/>
          <a:lstStyle/>
          <a:p>
            <a:pPr marL="0" indent="0">
              <a:buNone/>
            </a:pPr>
            <a:r>
              <a:rPr lang="en-US" sz="1100" dirty="0">
                <a:solidFill>
                  <a:srgbClr val="E0E0E0"/>
                </a:solidFill>
                <a:latin typeface="Calibri" pitchFamily="34" charset="0"/>
                <a:ea typeface="Calibri" pitchFamily="34" charset="-122"/>
                <a:cs typeface="Calibri" pitchFamily="34" charset="-120"/>
              </a:rPr>
              <a:t>UI concerns from the pitch led to role-based dashboards and simpler navigation — confirmed in final UAT.</a:t>
            </a:r>
            <a:endParaRPr lang="en-US" sz="1100" dirty="0"/>
          </a:p>
        </p:txBody>
      </p:sp>
      <p:sp>
        <p:nvSpPr>
          <p:cNvPr id="16" name="Shape 14"/>
          <p:cNvSpPr/>
          <p:nvPr/>
        </p:nvSpPr>
        <p:spPr>
          <a:xfrm>
            <a:off x="365760" y="3529584"/>
            <a:ext cx="54864" cy="438912"/>
          </a:xfrm>
          <a:prstGeom prst="rect">
            <a:avLst/>
          </a:prstGeom>
          <a:solidFill>
            <a:srgbClr val="2E7D32"/>
          </a:solidFill>
          <a:ln w="12700">
            <a:solidFill>
              <a:srgbClr val="2E7D32"/>
            </a:solidFill>
            <a:prstDash val="solid"/>
          </a:ln>
        </p:spPr>
      </p:sp>
      <p:sp>
        <p:nvSpPr>
          <p:cNvPr id="17" name="Text 15"/>
          <p:cNvSpPr/>
          <p:nvPr/>
        </p:nvSpPr>
        <p:spPr>
          <a:xfrm>
            <a:off x="548640" y="3529584"/>
            <a:ext cx="8229600" cy="228600"/>
          </a:xfrm>
          <a:prstGeom prst="rect">
            <a:avLst/>
          </a:prstGeom>
          <a:noFill/>
          <a:ln/>
        </p:spPr>
        <p:txBody>
          <a:bodyPr wrap="square" lIns="0" tIns="0" rIns="0" bIns="0" rtlCol="0" anchor="ctr"/>
          <a:lstStyle/>
          <a:p>
            <a:pPr marL="0" indent="0">
              <a:buNone/>
            </a:pPr>
            <a:r>
              <a:rPr lang="en-US" sz="1250" b="1" dirty="0">
                <a:solidFill>
                  <a:srgbClr val="A5D6A7"/>
                </a:solidFill>
                <a:latin typeface="Calibri" pitchFamily="34" charset="0"/>
                <a:ea typeface="Calibri" pitchFamily="34" charset="-122"/>
                <a:cs typeface="Calibri" pitchFamily="34" charset="-120"/>
              </a:rPr>
              <a:t>Very affordable</a:t>
            </a:r>
            <a:endParaRPr lang="en-US" sz="1250" dirty="0"/>
          </a:p>
        </p:txBody>
      </p:sp>
      <p:sp>
        <p:nvSpPr>
          <p:cNvPr id="18" name="Text 16"/>
          <p:cNvSpPr/>
          <p:nvPr/>
        </p:nvSpPr>
        <p:spPr>
          <a:xfrm>
            <a:off x="548640" y="3758184"/>
            <a:ext cx="8229600" cy="219456"/>
          </a:xfrm>
          <a:prstGeom prst="rect">
            <a:avLst/>
          </a:prstGeom>
          <a:noFill/>
          <a:ln/>
        </p:spPr>
        <p:txBody>
          <a:bodyPr wrap="square" lIns="0" tIns="0" rIns="0" bIns="0" rtlCol="0" anchor="ctr"/>
          <a:lstStyle/>
          <a:p>
            <a:pPr marL="0" indent="0">
              <a:buNone/>
            </a:pPr>
            <a:r>
              <a:rPr lang="en-US" sz="1100" dirty="0">
                <a:solidFill>
                  <a:srgbClr val="E0E0E0"/>
                </a:solidFill>
                <a:latin typeface="Calibri" pitchFamily="34" charset="0"/>
                <a:ea typeface="Calibri" pitchFamily="34" charset="-122"/>
                <a:cs typeface="Calibri" pitchFamily="34" charset="-120"/>
              </a:rPr>
              <a:t>Built entirely with free tools. Total cost ~$1,400 AUD, making it realistic for low-budget institutions.</a:t>
            </a:r>
            <a:endParaRPr lang="en-US" sz="1100" dirty="0"/>
          </a:p>
        </p:txBody>
      </p:sp>
      <p:sp>
        <p:nvSpPr>
          <p:cNvPr id="19" name="Shape 17"/>
          <p:cNvSpPr/>
          <p:nvPr/>
        </p:nvSpPr>
        <p:spPr>
          <a:xfrm>
            <a:off x="365760" y="4133088"/>
            <a:ext cx="54864" cy="438912"/>
          </a:xfrm>
          <a:prstGeom prst="rect">
            <a:avLst/>
          </a:prstGeom>
          <a:solidFill>
            <a:srgbClr val="2E7D32"/>
          </a:solidFill>
          <a:ln w="12700">
            <a:solidFill>
              <a:srgbClr val="2E7D32"/>
            </a:solidFill>
            <a:prstDash val="solid"/>
          </a:ln>
        </p:spPr>
      </p:sp>
      <p:sp>
        <p:nvSpPr>
          <p:cNvPr id="20" name="Text 18"/>
          <p:cNvSpPr/>
          <p:nvPr/>
        </p:nvSpPr>
        <p:spPr>
          <a:xfrm>
            <a:off x="548640" y="4133088"/>
            <a:ext cx="8229600" cy="228600"/>
          </a:xfrm>
          <a:prstGeom prst="rect">
            <a:avLst/>
          </a:prstGeom>
          <a:noFill/>
          <a:ln/>
        </p:spPr>
        <p:txBody>
          <a:bodyPr wrap="square" lIns="0" tIns="0" rIns="0" bIns="0" rtlCol="0" anchor="ctr"/>
          <a:lstStyle/>
          <a:p>
            <a:pPr marL="0" indent="0">
              <a:buNone/>
            </a:pPr>
            <a:r>
              <a:rPr lang="en-US" sz="1250" b="1" dirty="0">
                <a:solidFill>
                  <a:srgbClr val="A5D6A7"/>
                </a:solidFill>
                <a:latin typeface="Calibri" pitchFamily="34" charset="0"/>
                <a:ea typeface="Calibri" pitchFamily="34" charset="-122"/>
                <a:cs typeface="Calibri" pitchFamily="34" charset="-120"/>
              </a:rPr>
              <a:t>Ready for the next stage</a:t>
            </a:r>
            <a:endParaRPr lang="en-US" sz="1250" dirty="0"/>
          </a:p>
        </p:txBody>
      </p:sp>
      <p:sp>
        <p:nvSpPr>
          <p:cNvPr id="21" name="Text 19"/>
          <p:cNvSpPr/>
          <p:nvPr/>
        </p:nvSpPr>
        <p:spPr>
          <a:xfrm>
            <a:off x="548640" y="4361688"/>
            <a:ext cx="8229600" cy="219456"/>
          </a:xfrm>
          <a:prstGeom prst="rect">
            <a:avLst/>
          </a:prstGeom>
          <a:noFill/>
          <a:ln/>
        </p:spPr>
        <p:txBody>
          <a:bodyPr wrap="square" lIns="0" tIns="0" rIns="0" bIns="0" rtlCol="0" anchor="ctr"/>
          <a:lstStyle/>
          <a:p>
            <a:pPr marL="0" indent="0">
              <a:buNone/>
            </a:pPr>
            <a:r>
              <a:rPr lang="en-US" sz="1100" dirty="0">
                <a:solidFill>
                  <a:srgbClr val="E0E0E0"/>
                </a:solidFill>
                <a:latin typeface="Calibri" pitchFamily="34" charset="0"/>
                <a:ea typeface="Calibri" pitchFamily="34" charset="-122"/>
                <a:cs typeface="Calibri" pitchFamily="34" charset="-120"/>
              </a:rPr>
              <a:t>The system is stable and ready for mobile design, cloud hosting, notifications, and multi-language support.</a:t>
            </a:r>
            <a:endParaRPr lang="en-US" sz="1100" dirty="0"/>
          </a:p>
        </p:txBody>
      </p:sp>
      <p:sp>
        <p:nvSpPr>
          <p:cNvPr id="22" name="Text 20"/>
          <p:cNvSpPr/>
          <p:nvPr/>
        </p:nvSpPr>
        <p:spPr>
          <a:xfrm>
            <a:off x="457200" y="4754880"/>
            <a:ext cx="8229600" cy="256032"/>
          </a:xfrm>
          <a:prstGeom prst="rect">
            <a:avLst/>
          </a:prstGeom>
          <a:noFill/>
          <a:ln/>
        </p:spPr>
        <p:txBody>
          <a:bodyPr wrap="square" rtlCol="0" anchor="ctr"/>
          <a:lstStyle/>
          <a:p>
            <a:pPr marL="0" indent="0" algn="ctr">
              <a:buNone/>
            </a:pPr>
            <a:r>
              <a:rPr lang="en-US" sz="1500" b="1" i="1" dirty="0">
                <a:solidFill>
                  <a:srgbClr val="2E7D32"/>
                </a:solidFill>
                <a:latin typeface="Calibri" pitchFamily="34" charset="0"/>
                <a:ea typeface="Calibri" pitchFamily="34" charset="-122"/>
                <a:cs typeface="Calibri" pitchFamily="34" charset="-120"/>
              </a:rPr>
              <a:t>Thank you for listening.</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3C1A"/>
        </a:solidFill>
        <a:effectLst/>
      </p:bgPr>
    </p:bg>
    <p:spTree>
      <p:nvGrpSpPr>
        <p:cNvPr id="1" name=""/>
        <p:cNvGrpSpPr/>
        <p:nvPr/>
      </p:nvGrpSpPr>
      <p:grpSpPr>
        <a:xfrm>
          <a:off x="0" y="0"/>
          <a:ext cx="0" cy="0"/>
          <a:chOff x="0" y="0"/>
          <a:chExt cx="0" cy="0"/>
        </a:xfrm>
      </p:grpSpPr>
      <p:sp>
        <p:nvSpPr>
          <p:cNvPr id="2" name="Text 0"/>
          <p:cNvSpPr/>
          <p:nvPr/>
        </p:nvSpPr>
        <p:spPr>
          <a:xfrm>
            <a:off x="457200" y="548640"/>
            <a:ext cx="8229600" cy="411480"/>
          </a:xfrm>
          <a:prstGeom prst="rect">
            <a:avLst/>
          </a:prstGeom>
          <a:noFill/>
          <a:ln/>
        </p:spPr>
        <p:txBody>
          <a:bodyPr wrap="square" rtlCol="0" anchor="ctr"/>
          <a:lstStyle/>
          <a:p>
            <a:pPr marL="0" indent="0" algn="ctr">
              <a:buNone/>
            </a:pPr>
            <a:r>
              <a:rPr lang="en-US" sz="1800" dirty="0">
                <a:solidFill>
                  <a:srgbClr val="A5D6A7"/>
                </a:solidFill>
                <a:latin typeface="Calibri" pitchFamily="34" charset="0"/>
                <a:ea typeface="Calibri" pitchFamily="34" charset="-122"/>
                <a:cs typeface="Calibri" pitchFamily="34" charset="-120"/>
              </a:rPr>
              <a:t>Section 9</a:t>
            </a:r>
            <a:endParaRPr lang="en-US" sz="1800" dirty="0"/>
          </a:p>
        </p:txBody>
      </p:sp>
      <p:sp>
        <p:nvSpPr>
          <p:cNvPr id="3" name="Text 1"/>
          <p:cNvSpPr/>
          <p:nvPr/>
        </p:nvSpPr>
        <p:spPr>
          <a:xfrm>
            <a:off x="457200" y="1051560"/>
            <a:ext cx="8229600" cy="100584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Questions &amp; Discussion</a:t>
            </a:r>
            <a:endParaRPr lang="en-US" sz="4000" dirty="0"/>
          </a:p>
        </p:txBody>
      </p:sp>
      <p:sp>
        <p:nvSpPr>
          <p:cNvPr id="4" name="Shape 2"/>
          <p:cNvSpPr/>
          <p:nvPr/>
        </p:nvSpPr>
        <p:spPr>
          <a:xfrm>
            <a:off x="2286000" y="2212848"/>
            <a:ext cx="4572000" cy="54864"/>
          </a:xfrm>
          <a:prstGeom prst="rect">
            <a:avLst/>
          </a:prstGeom>
          <a:solidFill>
            <a:srgbClr val="2E7D32"/>
          </a:solidFill>
          <a:ln w="12700">
            <a:solidFill>
              <a:srgbClr val="2E7D32"/>
            </a:solidFill>
            <a:prstDash val="solid"/>
          </a:ln>
        </p:spPr>
      </p:sp>
      <p:sp>
        <p:nvSpPr>
          <p:cNvPr id="5" name="Text 3"/>
          <p:cNvSpPr/>
          <p:nvPr/>
        </p:nvSpPr>
        <p:spPr>
          <a:xfrm>
            <a:off x="457200" y="2359152"/>
            <a:ext cx="8229600" cy="365760"/>
          </a:xfrm>
          <a:prstGeom prst="rect">
            <a:avLst/>
          </a:prstGeom>
          <a:noFill/>
          <a:ln/>
        </p:spPr>
        <p:txBody>
          <a:bodyPr wrap="square" rtlCol="0" anchor="ctr"/>
          <a:lstStyle/>
          <a:p>
            <a:pPr marL="0" indent="0" algn="ctr">
              <a:buNone/>
            </a:pPr>
            <a:r>
              <a:rPr lang="en-US" sz="1500" i="1" dirty="0">
                <a:solidFill>
                  <a:srgbClr val="A5D6A7"/>
                </a:solidFill>
                <a:latin typeface="Calibri" pitchFamily="34" charset="0"/>
                <a:ea typeface="Calibri" pitchFamily="34" charset="-122"/>
                <a:cs typeface="Calibri" pitchFamily="34" charset="-120"/>
              </a:rPr>
              <a:t>The floor is open for questions, comments, and discussion.</a:t>
            </a:r>
            <a:endParaRPr lang="en-US" sz="1500" dirty="0"/>
          </a:p>
        </p:txBody>
      </p:sp>
      <p:sp>
        <p:nvSpPr>
          <p:cNvPr id="15" name="Text 13"/>
          <p:cNvSpPr/>
          <p:nvPr/>
        </p:nvSpPr>
        <p:spPr>
          <a:xfrm>
            <a:off x="457200" y="4828032"/>
            <a:ext cx="8229600" cy="201168"/>
          </a:xfrm>
          <a:prstGeom prst="rect">
            <a:avLst/>
          </a:prstGeom>
          <a:noFill/>
          <a:ln/>
        </p:spPr>
        <p:txBody>
          <a:bodyPr wrap="square" rtlCol="0" anchor="ctr"/>
          <a:lstStyle/>
          <a:p>
            <a:pPr marL="0" indent="0" algn="ctr">
              <a:buNone/>
            </a:pPr>
            <a:r>
              <a:rPr lang="en-US" sz="900" i="1" dirty="0">
                <a:solidFill>
                  <a:srgbClr val="AAAAAA"/>
                </a:solidFill>
                <a:latin typeface="Calibri" pitchFamily="34" charset="0"/>
                <a:ea typeface="Calibri" pitchFamily="34" charset="-122"/>
                <a:cs typeface="Calibri" pitchFamily="34" charset="-120"/>
              </a:rPr>
              <a:t>Avishek Pandey  |  IT Project Management  |  Prof. Deevya Seengal</a:t>
            </a:r>
            <a:endParaRPr lang="en-US" sz="900" dirty="0"/>
          </a:p>
        </p:txBody>
      </p:sp>
    </p:spTree>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9</TotalTime>
  <Words>2309</Words>
  <Application>Microsoft Office PowerPoint</Application>
  <PresentationFormat>On-screen Show (16:9)</PresentationFormat>
  <Paragraphs>326</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Calibri</vt:lpstr>
      <vt:lpstr>Century Gothic</vt:lpstr>
      <vt:lpstr>Wingdings 3</vt:lpstr>
      <vt:lpstr>Slice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Student Management System – Final Presentation</dc:title>
  <dc:subject>PptxGenJS Presentation</dc:subject>
  <dc:creator>Avishek Pandey</dc:creator>
  <cp:lastModifiedBy>suprima rimal</cp:lastModifiedBy>
  <cp:revision>2</cp:revision>
  <dcterms:created xsi:type="dcterms:W3CDTF">2026-04-26T07:54:28Z</dcterms:created>
  <dcterms:modified xsi:type="dcterms:W3CDTF">2026-04-26T08:06:03Z</dcterms:modified>
</cp:coreProperties>
</file>